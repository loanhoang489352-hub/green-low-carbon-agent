
<file path=[Content_Types].xml><?xml version="1.0" encoding="utf-8"?>
<Types xmlns="http://schemas.openxmlformats.org/package/2006/content-types">
  <Default Extension="jpeg" ContentType="image/jpeg"/>
  <Default Extension="JPG" ContentType="image/.jpg"/>
  <Default Extension="png" ContentType="image/png"/>
  <Default Extension="wdp" ContentType="image/vnd.ms-photo"/>
  <Default Extension="mp4" ContentType="video/mp4"/>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30.svg" ContentType="image/svg+xml"/>
  <Override PartName="/ppt/media/image3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5"/>
  </p:notesMasterIdLst>
  <p:sldIdLst>
    <p:sldId id="314" r:id="rId3"/>
    <p:sldId id="317" r:id="rId4"/>
    <p:sldId id="318" r:id="rId6"/>
    <p:sldId id="320" r:id="rId7"/>
    <p:sldId id="323" r:id="rId8"/>
    <p:sldId id="321" r:id="rId9"/>
    <p:sldId id="324" r:id="rId10"/>
    <p:sldId id="322" r:id="rId11"/>
    <p:sldId id="347" r:id="rId12"/>
    <p:sldId id="348" r:id="rId13"/>
    <p:sldId id="354" r:id="rId14"/>
    <p:sldId id="356" r:id="rId15"/>
    <p:sldId id="349" r:id="rId16"/>
    <p:sldId id="350" r:id="rId17"/>
    <p:sldId id="355" r:id="rId18"/>
    <p:sldId id="361" r:id="rId19"/>
    <p:sldId id="359" r:id="rId20"/>
    <p:sldId id="358" r:id="rId21"/>
    <p:sldId id="363" r:id="rId22"/>
    <p:sldId id="364" r:id="rId23"/>
    <p:sldId id="294" r:id="rId24"/>
  </p:sldIdLst>
  <p:sldSz cx="18288000" cy="10287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7" userDrawn="1">
          <p15:clr>
            <a:srgbClr val="A4A3A4"/>
          </p15:clr>
        </p15:guide>
        <p15:guide id="2" pos="288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伟洲" initials="杨" lastIdx="1" clrIdx="0"/>
  <p:cmAuthor id="2" name="Fish Zheng" initials="FZ" lastIdx="1"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1B11"/>
    <a:srgbClr val="FFFFFF"/>
    <a:srgbClr val="000000"/>
    <a:srgbClr val="D67878"/>
    <a:srgbClr val="FBE0DD"/>
    <a:srgbClr val="FCEAE8"/>
    <a:srgbClr val="013690"/>
    <a:srgbClr val="789AD2"/>
    <a:srgbClr val="F7FAFF"/>
    <a:srgbClr val="A4C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showGuides="1">
      <p:cViewPr varScale="1">
        <p:scale>
          <a:sx n="57" d="100"/>
          <a:sy n="57" d="100"/>
        </p:scale>
        <p:origin x="1128" y="44"/>
      </p:cViewPr>
      <p:guideLst>
        <p:guide orient="horz" pos="2207"/>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commentAuthors" Target="commentAuthors.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C2A75D99-2AE7-49F1-BB03-59E2BF5579C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tags" Target="../tags/tag5.xml"/><Relationship Id="rId7" Type="http://schemas.openxmlformats.org/officeDocument/2006/relationships/tags" Target="../tags/tag4.xml"/><Relationship Id="rId6" Type="http://schemas.openxmlformats.org/officeDocument/2006/relationships/tags" Target="../tags/tag3.xml"/><Relationship Id="rId5" Type="http://schemas.openxmlformats.org/officeDocument/2006/relationships/image" Target="../media/image2.png"/><Relationship Id="rId4" Type="http://schemas.openxmlformats.org/officeDocument/2006/relationships/tags" Target="../tags/tag2.xml"/><Relationship Id="rId3" Type="http://schemas.openxmlformats.org/officeDocument/2006/relationships/image" Target="../media/image1.jpeg"/><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目录-4部分">
    <p:spTree>
      <p:nvGrpSpPr>
        <p:cNvPr id="1" name=""/>
        <p:cNvGrpSpPr/>
        <p:nvPr/>
      </p:nvGrpSpPr>
      <p:grpSpPr>
        <a:xfrm>
          <a:off x="0" y="0"/>
          <a:ext cx="0" cy="0"/>
          <a:chOff x="0" y="0"/>
          <a:chExt cx="0" cy="0"/>
        </a:xfrm>
      </p:grpSpPr>
      <p:sp>
        <p:nvSpPr>
          <p:cNvPr id="55" name="矩形 54"/>
          <p:cNvSpPr/>
          <p:nvPr userDrawn="1"/>
        </p:nvSpPr>
        <p:spPr>
          <a:xfrm>
            <a:off x="-1" y="0"/>
            <a:ext cx="9144002" cy="10287000"/>
          </a:xfrm>
          <a:prstGeom prst="rect">
            <a:avLst/>
          </a:prstGeom>
          <a:solidFill>
            <a:srgbClr val="861B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a:ln>
                <a:noFill/>
              </a:ln>
              <a:solidFill>
                <a:prstClr val="white"/>
              </a:solidFill>
              <a:effectLst/>
              <a:uLnTx/>
              <a:uFillTx/>
              <a:latin typeface="Arial" panose="020B0604020202090204"/>
              <a:ea typeface="微软雅黑" charset="-122"/>
              <a:cs typeface="+mn-ea"/>
              <a:sym typeface="+mn-lt"/>
            </a:endParaRPr>
          </a:p>
        </p:txBody>
      </p:sp>
      <p:sp>
        <p:nvSpPr>
          <p:cNvPr id="16" name="Freeform 3"/>
          <p:cNvSpPr/>
          <p:nvPr userDrawn="1">
            <p:custDataLst>
              <p:tags r:id="rId2"/>
            </p:custDataLst>
          </p:nvPr>
        </p:nvSpPr>
        <p:spPr>
          <a:xfrm>
            <a:off x="0" y="-55880"/>
            <a:ext cx="9114155" cy="10342880"/>
          </a:xfrm>
          <a:custGeom>
            <a:avLst/>
            <a:gdLst/>
            <a:ahLst/>
            <a:cxnLst/>
            <a:rect l="l" t="t" r="r" b="b"/>
            <a:pathLst>
              <a:path w="22727910" h="1730375">
                <a:moveTo>
                  <a:pt x="0" y="0"/>
                </a:moveTo>
                <a:lnTo>
                  <a:pt x="22727910" y="0"/>
                </a:lnTo>
                <a:lnTo>
                  <a:pt x="22727910" y="1730375"/>
                </a:lnTo>
                <a:lnTo>
                  <a:pt x="0" y="1730375"/>
                </a:lnTo>
                <a:close/>
              </a:path>
            </a:pathLst>
          </a:custGeom>
          <a:blipFill>
            <a:blip r:embed="rId3">
              <a:alphaModFix amt="16000"/>
            </a:blip>
            <a:tile tx="0" ty="0" sx="100000" sy="100000" flip="none" algn="tl"/>
          </a:blipFill>
          <a:ln>
            <a:noFill/>
          </a:ln>
        </p:spPr>
        <p:txBody>
          <a:bodyPr/>
          <a:p>
            <a:endParaRPr lang="zh-CN" altLang="en-US" dirty="0">
              <a:solidFill>
                <a:srgbClr val="013690"/>
              </a:solidFill>
            </a:endParaRPr>
          </a:p>
        </p:txBody>
      </p:sp>
      <p:sp>
        <p:nvSpPr>
          <p:cNvPr id="7" name="矩形 6"/>
          <p:cNvSpPr/>
          <p:nvPr userDrawn="1"/>
        </p:nvSpPr>
        <p:spPr>
          <a:xfrm>
            <a:off x="883920" y="765000"/>
            <a:ext cx="16520160" cy="885825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700" b="0" i="0" u="none" strike="noStrike" kern="1200" cap="none" spc="0" normalizeH="0" baseline="0" noProof="0">
              <a:ln>
                <a:noFill/>
              </a:ln>
              <a:solidFill>
                <a:prstClr val="white"/>
              </a:solidFill>
              <a:effectLst/>
              <a:uLnTx/>
              <a:uFillTx/>
              <a:latin typeface="Arial" panose="020B0604020202090204"/>
              <a:ea typeface="微软雅黑" charset="-122"/>
              <a:cs typeface="+mn-ea"/>
              <a:sym typeface="+mn-lt"/>
            </a:endParaRPr>
          </a:p>
        </p:txBody>
      </p:sp>
      <p:sp>
        <p:nvSpPr>
          <p:cNvPr id="17" name="Freeform 5"/>
          <p:cNvSpPr/>
          <p:nvPr userDrawn="1">
            <p:custDataLst>
              <p:tags r:id="rId4"/>
            </p:custDataLst>
          </p:nvPr>
        </p:nvSpPr>
        <p:spPr>
          <a:xfrm rot="862994">
            <a:off x="-8112194" y="7634155"/>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5">
              <a:alphaModFix amt="19999"/>
              <a:duotone>
                <a:schemeClr val="accent2">
                  <a:shade val="45000"/>
                  <a:satMod val="135000"/>
                </a:schemeClr>
                <a:prstClr val="white"/>
              </a:duotone>
            </a:blip>
            <a:stretch>
              <a:fillRect/>
            </a:stretch>
          </a:blipFill>
          <a:ln cap="sq">
            <a:noFill/>
            <a:prstDash val="solid"/>
            <a:miter/>
          </a:ln>
        </p:spPr>
        <p:txBody>
          <a:bodyPr/>
          <a:p>
            <a:r>
              <a:rPr lang="en-US" altLang="zh-CN"/>
              <a:t>uu</a:t>
            </a:r>
            <a:endParaRPr lang="en-US" altLang="zh-CN"/>
          </a:p>
        </p:txBody>
      </p:sp>
      <p:grpSp>
        <p:nvGrpSpPr>
          <p:cNvPr id="8" name="组合 7"/>
          <p:cNvGrpSpPr/>
          <p:nvPr userDrawn="1"/>
        </p:nvGrpSpPr>
        <p:grpSpPr>
          <a:xfrm>
            <a:off x="3444319" y="1549831"/>
            <a:ext cx="3532343" cy="2766991"/>
            <a:chOff x="2202591" y="1033221"/>
            <a:chExt cx="2354895" cy="1844661"/>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8100" b="1" i="0" u="none" strike="noStrike" kern="2200" cap="none" spc="0" normalizeH="0" baseline="0" noProof="0" dirty="0">
                  <a:ln>
                    <a:noFill/>
                  </a:ln>
                  <a:solidFill>
                    <a:srgbClr val="861B11"/>
                  </a:solidFill>
                  <a:effectLst/>
                  <a:uLnTx/>
                  <a:uFillTx/>
                  <a:latin typeface="Arial" panose="020B0604020202090204"/>
                  <a:ea typeface="微软雅黑" charset="-122"/>
                  <a:cs typeface="+mn-ea"/>
                  <a:sym typeface="+mn-lt"/>
                </a:rPr>
                <a:t>目  录</a:t>
              </a:r>
              <a:endParaRPr kumimoji="0" lang="zh-CN" altLang="en-US" sz="8100" b="1" i="0" u="none" strike="noStrike" kern="2200" cap="none" spc="0" normalizeH="0" baseline="0" noProof="0" dirty="0">
                <a:ln>
                  <a:noFill/>
                </a:ln>
                <a:solidFill>
                  <a:srgbClr val="861B11"/>
                </a:solidFill>
                <a:effectLst/>
                <a:uLnTx/>
                <a:uFillTx/>
                <a:latin typeface="Arial" panose="020B0604020202090204"/>
                <a:ea typeface="微软雅黑" charset="-122"/>
                <a:cs typeface="+mn-ea"/>
                <a:sym typeface="+mn-lt"/>
              </a:endParaRPr>
            </a:p>
          </p:txBody>
        </p:sp>
        <p:sp>
          <p:nvSpPr>
            <p:cNvPr id="10" name="文本框 9"/>
            <p:cNvSpPr txBox="1"/>
            <p:nvPr/>
          </p:nvSpPr>
          <p:spPr>
            <a:xfrm>
              <a:off x="2389402" y="2078629"/>
              <a:ext cx="2168084" cy="79925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2200" cap="none" spc="-20" normalizeH="0" baseline="0" noProof="0" dirty="0">
                  <a:ln>
                    <a:noFill/>
                  </a:ln>
                  <a:solidFill>
                    <a:srgbClr val="861B11"/>
                  </a:solidFill>
                  <a:effectLst/>
                  <a:uLnTx/>
                  <a:uFillTx/>
                  <a:latin typeface="Arial" panose="020B0604020202090204"/>
                  <a:ea typeface="微软雅黑" charset="-122"/>
                  <a:cs typeface="+mn-ea"/>
                  <a:sym typeface="+mn-lt"/>
                </a:rPr>
                <a:t>CONTENTS</a:t>
              </a:r>
              <a:endParaRPr kumimoji="0" lang="zh-CN" altLang="en-US" sz="3600" b="0" i="0" u="none" strike="noStrike" kern="2200" cap="none" spc="-20" normalizeH="0" baseline="0" noProof="0" dirty="0">
                <a:ln>
                  <a:noFill/>
                </a:ln>
                <a:solidFill>
                  <a:srgbClr val="861B11"/>
                </a:solidFill>
                <a:effectLst/>
                <a:uLnTx/>
                <a:uFillTx/>
                <a:latin typeface="Arial" panose="020B0604020202090204"/>
                <a:ea typeface="微软雅黑"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3600" b="0" i="0" u="none" strike="noStrike" kern="2200" cap="none" spc="-20" normalizeH="0" baseline="0" noProof="0" dirty="0">
                <a:ln>
                  <a:noFill/>
                </a:ln>
                <a:solidFill>
                  <a:srgbClr val="861B11"/>
                </a:solidFill>
                <a:effectLst/>
                <a:uLnTx/>
                <a:uFillTx/>
                <a:latin typeface="Arial" panose="020B0604020202090204"/>
                <a:ea typeface="微软雅黑" charset="-122"/>
                <a:cs typeface="+mn-ea"/>
                <a:sym typeface="+mn-lt"/>
              </a:endParaRPr>
            </a:p>
          </p:txBody>
        </p:sp>
      </p:grpSp>
      <p:sp>
        <p:nvSpPr>
          <p:cNvPr id="45" name="文本占位符 40"/>
          <p:cNvSpPr>
            <a:spLocks noGrp="1"/>
          </p:cNvSpPr>
          <p:nvPr>
            <p:ph type="body" sz="quarter" idx="10" hasCustomPrompt="1"/>
          </p:nvPr>
        </p:nvSpPr>
        <p:spPr>
          <a:xfrm>
            <a:off x="11281071" y="1511783"/>
            <a:ext cx="4583768" cy="731520"/>
          </a:xfrm>
        </p:spPr>
        <p:txBody>
          <a:bodyPr>
            <a:normAutofit/>
          </a:bodyPr>
          <a:lstStyle>
            <a:lvl1pPr marL="0" indent="0" algn="l" defTabSz="914400" rtl="0" eaLnBrk="1" latinLnBrk="0" hangingPunct="1">
              <a:buNone/>
              <a:defRPr lang="zh-CN" altLang="en-US" sz="4200" kern="1200" dirty="0" smtClean="0">
                <a:solidFill>
                  <a:srgbClr val="000000">
                    <a:lumMod val="85000"/>
                    <a:lumOff val="15000"/>
                  </a:srgbClr>
                </a:solidFill>
                <a:latin typeface="微软雅黑" charset="-122"/>
                <a:ea typeface="+mn-ea"/>
                <a:cs typeface="+mn-cs"/>
              </a:defRPr>
            </a:lvl1pPr>
            <a:lvl2pPr marL="685800" indent="0">
              <a:buNone/>
              <a:defRPr/>
            </a:lvl2pPr>
          </a:lstStyle>
          <a:p>
            <a:pPr lvl="0"/>
            <a:r>
              <a:rPr lang="zh-CN" altLang="en-US" dirty="0"/>
              <a:t>输入目录标题</a:t>
            </a:r>
            <a:endParaRPr lang="zh-CN" altLang="en-US" dirty="0"/>
          </a:p>
        </p:txBody>
      </p:sp>
      <p:sp>
        <p:nvSpPr>
          <p:cNvPr id="46" name="文本占位符 40"/>
          <p:cNvSpPr>
            <a:spLocks noGrp="1"/>
          </p:cNvSpPr>
          <p:nvPr>
            <p:ph type="body" sz="quarter" idx="11" hasCustomPrompt="1"/>
          </p:nvPr>
        </p:nvSpPr>
        <p:spPr>
          <a:xfrm>
            <a:off x="11281071" y="3139923"/>
            <a:ext cx="4583768" cy="730885"/>
          </a:xfrm>
        </p:spPr>
        <p:txBody>
          <a:bodyPr>
            <a:normAutofit/>
          </a:bodyPr>
          <a:lstStyle>
            <a:lvl1pPr marL="0" indent="0" algn="l" defTabSz="914400" rtl="0" eaLnBrk="1" latinLnBrk="0" hangingPunct="1">
              <a:buNone/>
              <a:defRPr lang="zh-CN" altLang="en-US" sz="4200" kern="1200" dirty="0" smtClean="0">
                <a:solidFill>
                  <a:srgbClr val="000000">
                    <a:lumMod val="85000"/>
                    <a:lumOff val="15000"/>
                  </a:srgbClr>
                </a:solidFill>
                <a:latin typeface="微软雅黑" charset="-122"/>
                <a:ea typeface="+mn-ea"/>
                <a:cs typeface="+mn-cs"/>
              </a:defRPr>
            </a:lvl1pPr>
            <a:lvl2pPr marL="685800" indent="0">
              <a:buNone/>
              <a:defRPr/>
            </a:lvl2pPr>
          </a:lstStyle>
          <a:p>
            <a:pPr lvl="0"/>
            <a:r>
              <a:rPr lang="zh-CN" altLang="en-US" dirty="0"/>
              <a:t>输入目录标题</a:t>
            </a:r>
            <a:endParaRPr lang="zh-CN" altLang="en-US" dirty="0"/>
          </a:p>
        </p:txBody>
      </p:sp>
      <p:sp>
        <p:nvSpPr>
          <p:cNvPr id="47" name="文本占位符 40"/>
          <p:cNvSpPr>
            <a:spLocks noGrp="1"/>
          </p:cNvSpPr>
          <p:nvPr>
            <p:ph type="body" sz="quarter" idx="12" hasCustomPrompt="1"/>
          </p:nvPr>
        </p:nvSpPr>
        <p:spPr>
          <a:xfrm>
            <a:off x="11281071" y="4767428"/>
            <a:ext cx="4583768" cy="730885"/>
          </a:xfrm>
        </p:spPr>
        <p:txBody>
          <a:bodyPr>
            <a:normAutofit/>
          </a:bodyPr>
          <a:lstStyle>
            <a:lvl1pPr marL="0" indent="0" algn="l" defTabSz="914400" rtl="0" eaLnBrk="1" latinLnBrk="0" hangingPunct="1">
              <a:buNone/>
              <a:defRPr lang="zh-CN" altLang="en-US" sz="4200" kern="1200" dirty="0" smtClean="0">
                <a:solidFill>
                  <a:srgbClr val="000000">
                    <a:lumMod val="85000"/>
                    <a:lumOff val="15000"/>
                  </a:srgbClr>
                </a:solidFill>
                <a:latin typeface="微软雅黑" charset="-122"/>
                <a:ea typeface="+mn-ea"/>
                <a:cs typeface="+mn-cs"/>
              </a:defRPr>
            </a:lvl1pPr>
            <a:lvl2pPr marL="685800" indent="0">
              <a:buNone/>
              <a:defRPr/>
            </a:lvl2pPr>
          </a:lstStyle>
          <a:p>
            <a:pPr lvl="0"/>
            <a:r>
              <a:rPr lang="zh-CN" altLang="en-US" dirty="0"/>
              <a:t>输入目录标题</a:t>
            </a:r>
            <a:endParaRPr lang="zh-CN" altLang="en-US" dirty="0"/>
          </a:p>
        </p:txBody>
      </p:sp>
      <p:sp>
        <p:nvSpPr>
          <p:cNvPr id="49" name="文本占位符 40"/>
          <p:cNvSpPr>
            <a:spLocks noGrp="1"/>
          </p:cNvSpPr>
          <p:nvPr>
            <p:ph type="body" sz="quarter" idx="14" hasCustomPrompt="1"/>
          </p:nvPr>
        </p:nvSpPr>
        <p:spPr>
          <a:xfrm>
            <a:off x="11281071" y="6394933"/>
            <a:ext cx="4583768" cy="730885"/>
          </a:xfrm>
        </p:spPr>
        <p:txBody>
          <a:bodyPr>
            <a:normAutofit/>
          </a:bodyPr>
          <a:lstStyle>
            <a:lvl1pPr marL="0" indent="0" algn="l" defTabSz="914400" rtl="0" eaLnBrk="1" latinLnBrk="0" hangingPunct="1">
              <a:buNone/>
              <a:defRPr lang="zh-CN" altLang="en-US" sz="4200" kern="1200" dirty="0" smtClean="0">
                <a:solidFill>
                  <a:srgbClr val="000000">
                    <a:lumMod val="85000"/>
                    <a:lumOff val="15000"/>
                  </a:srgbClr>
                </a:solidFill>
                <a:latin typeface="微软雅黑" charset="-122"/>
                <a:ea typeface="+mn-ea"/>
                <a:cs typeface="+mn-cs"/>
              </a:defRPr>
            </a:lvl1pPr>
            <a:lvl2pPr marL="685800" indent="0">
              <a:buNone/>
              <a:defRPr/>
            </a:lvl2pPr>
          </a:lstStyle>
          <a:p>
            <a:pPr lvl="0"/>
            <a:r>
              <a:rPr lang="zh-CN" altLang="en-US" dirty="0"/>
              <a:t>输入目录标题</a:t>
            </a:r>
            <a:endParaRPr lang="zh-CN" altLang="en-US" dirty="0"/>
          </a:p>
        </p:txBody>
      </p:sp>
      <p:sp>
        <p:nvSpPr>
          <p:cNvPr id="50" name="文本框 49"/>
          <p:cNvSpPr txBox="1"/>
          <p:nvPr userDrawn="1"/>
        </p:nvSpPr>
        <p:spPr>
          <a:xfrm>
            <a:off x="9763467" y="1438961"/>
            <a:ext cx="1013460" cy="829945"/>
          </a:xfrm>
          <a:prstGeom prst="rect">
            <a:avLst/>
          </a:prstGeom>
          <a:noFill/>
        </p:spPr>
        <p:txBody>
          <a:bodyPr wrap="square" rtlCol="0">
            <a:spAutoFit/>
          </a:bodyPr>
          <a:lstStyle/>
          <a:p>
            <a:r>
              <a:rPr lang="en-US" altLang="zh-CN" sz="4800" b="1" dirty="0">
                <a:solidFill>
                  <a:srgbClr val="861B11"/>
                </a:solidFill>
              </a:rPr>
              <a:t>01.</a:t>
            </a:r>
            <a:endParaRPr lang="en-US" altLang="zh-CN" sz="4800" b="1" dirty="0">
              <a:solidFill>
                <a:srgbClr val="861B11"/>
              </a:solidFill>
            </a:endParaRPr>
          </a:p>
        </p:txBody>
      </p:sp>
      <p:sp>
        <p:nvSpPr>
          <p:cNvPr id="51" name="文本框 50"/>
          <p:cNvSpPr txBox="1"/>
          <p:nvPr userDrawn="1"/>
        </p:nvSpPr>
        <p:spPr>
          <a:xfrm>
            <a:off x="9764737" y="3058846"/>
            <a:ext cx="1013460" cy="829945"/>
          </a:xfrm>
          <a:prstGeom prst="rect">
            <a:avLst/>
          </a:prstGeom>
          <a:noFill/>
        </p:spPr>
        <p:txBody>
          <a:bodyPr wrap="square" rtlCol="0">
            <a:spAutoFit/>
          </a:bodyPr>
          <a:lstStyle/>
          <a:p>
            <a:r>
              <a:rPr lang="en-US" altLang="zh-CN" sz="4800" b="1" dirty="0">
                <a:solidFill>
                  <a:srgbClr val="861B11"/>
                </a:solidFill>
              </a:rPr>
              <a:t>02.</a:t>
            </a:r>
            <a:endParaRPr lang="en-US" altLang="zh-CN" sz="4800" b="1" dirty="0">
              <a:solidFill>
                <a:srgbClr val="861B11"/>
              </a:solidFill>
            </a:endParaRPr>
          </a:p>
        </p:txBody>
      </p:sp>
      <p:sp>
        <p:nvSpPr>
          <p:cNvPr id="52" name="文本框 51"/>
          <p:cNvSpPr txBox="1"/>
          <p:nvPr userDrawn="1"/>
        </p:nvSpPr>
        <p:spPr>
          <a:xfrm>
            <a:off x="9767277" y="4678731"/>
            <a:ext cx="1013460" cy="829945"/>
          </a:xfrm>
          <a:prstGeom prst="rect">
            <a:avLst/>
          </a:prstGeom>
          <a:noFill/>
        </p:spPr>
        <p:txBody>
          <a:bodyPr wrap="square" rtlCol="0">
            <a:spAutoFit/>
          </a:bodyPr>
          <a:lstStyle/>
          <a:p>
            <a:r>
              <a:rPr lang="en-US" altLang="zh-CN" sz="4800" b="1" dirty="0">
                <a:solidFill>
                  <a:srgbClr val="861B11"/>
                </a:solidFill>
              </a:rPr>
              <a:t>03.</a:t>
            </a:r>
            <a:endParaRPr lang="en-US" altLang="zh-CN" sz="4800" b="1" dirty="0">
              <a:solidFill>
                <a:srgbClr val="861B11"/>
              </a:solidFill>
            </a:endParaRPr>
          </a:p>
        </p:txBody>
      </p:sp>
      <p:sp>
        <p:nvSpPr>
          <p:cNvPr id="53" name="文本框 52"/>
          <p:cNvSpPr txBox="1"/>
          <p:nvPr userDrawn="1"/>
        </p:nvSpPr>
        <p:spPr>
          <a:xfrm>
            <a:off x="9766007" y="6298616"/>
            <a:ext cx="1013460" cy="829945"/>
          </a:xfrm>
          <a:prstGeom prst="rect">
            <a:avLst/>
          </a:prstGeom>
          <a:noFill/>
        </p:spPr>
        <p:txBody>
          <a:bodyPr wrap="square" rtlCol="0">
            <a:spAutoFit/>
          </a:bodyPr>
          <a:lstStyle/>
          <a:p>
            <a:r>
              <a:rPr lang="en-US" altLang="zh-CN" sz="4800" b="1" dirty="0">
                <a:solidFill>
                  <a:srgbClr val="861B11"/>
                </a:solidFill>
              </a:rPr>
              <a:t>04.</a:t>
            </a:r>
            <a:endParaRPr lang="en-US" altLang="zh-CN" sz="4800" b="1" dirty="0">
              <a:solidFill>
                <a:srgbClr val="861B11"/>
              </a:solidFill>
            </a:endParaRPr>
          </a:p>
        </p:txBody>
      </p:sp>
      <p:sp>
        <p:nvSpPr>
          <p:cNvPr id="4" name="文本框 3"/>
          <p:cNvSpPr txBox="1"/>
          <p:nvPr userDrawn="1"/>
        </p:nvSpPr>
        <p:spPr>
          <a:xfrm>
            <a:off x="13583920" y="12673965"/>
            <a:ext cx="6096000" cy="368300"/>
          </a:xfrm>
          <a:prstGeom prst="rect">
            <a:avLst/>
          </a:prstGeom>
          <a:noFill/>
        </p:spPr>
        <p:txBody>
          <a:bodyPr wrap="square" rtlCol="0">
            <a:spAutoFit/>
          </a:bodyPr>
          <a:p>
            <a:endParaRPr lang="zh-CN" altLang="en-US"/>
          </a:p>
        </p:txBody>
      </p:sp>
      <p:sp>
        <p:nvSpPr>
          <p:cNvPr id="5" name="文本占位符 40"/>
          <p:cNvSpPr>
            <a:spLocks noGrp="1"/>
          </p:cNvSpPr>
          <p:nvPr>
            <p:ph type="body" sz="quarter" idx="13" hasCustomPrompt="1"/>
            <p:custDataLst>
              <p:tags r:id="rId6"/>
            </p:custDataLst>
          </p:nvPr>
        </p:nvSpPr>
        <p:spPr>
          <a:xfrm>
            <a:off x="11277896" y="8022438"/>
            <a:ext cx="4583768" cy="730885"/>
          </a:xfrm>
        </p:spPr>
        <p:txBody>
          <a:bodyPr>
            <a:normAutofit/>
          </a:bodyPr>
          <a:lstStyle>
            <a:lvl1pPr marL="0" indent="0" algn="l" defTabSz="914400" rtl="0" eaLnBrk="1" latinLnBrk="0" hangingPunct="1">
              <a:buNone/>
              <a:defRPr lang="zh-CN" altLang="en-US" sz="4200" kern="1200" dirty="0" smtClean="0">
                <a:solidFill>
                  <a:srgbClr val="000000">
                    <a:lumMod val="85000"/>
                    <a:lumOff val="15000"/>
                  </a:srgbClr>
                </a:solidFill>
                <a:latin typeface="微软雅黑" charset="-122"/>
                <a:ea typeface="+mn-ea"/>
                <a:cs typeface="+mn-cs"/>
              </a:defRPr>
            </a:lvl1pPr>
            <a:lvl2pPr marL="685800" indent="0">
              <a:buNone/>
              <a:defRPr/>
            </a:lvl2pPr>
          </a:lstStyle>
          <a:p>
            <a:pPr lvl="0"/>
            <a:r>
              <a:rPr lang="zh-CN" altLang="en-US" dirty="0"/>
              <a:t>输入目录标题</a:t>
            </a:r>
            <a:endParaRPr lang="zh-CN" altLang="en-US" dirty="0"/>
          </a:p>
        </p:txBody>
      </p:sp>
      <p:sp>
        <p:nvSpPr>
          <p:cNvPr id="6" name="文本框 5"/>
          <p:cNvSpPr txBox="1"/>
          <p:nvPr userDrawn="1">
            <p:custDataLst>
              <p:tags r:id="rId7"/>
            </p:custDataLst>
          </p:nvPr>
        </p:nvSpPr>
        <p:spPr>
          <a:xfrm>
            <a:off x="9761924" y="7918501"/>
            <a:ext cx="1013733" cy="829945"/>
          </a:xfrm>
          <a:prstGeom prst="rect">
            <a:avLst/>
          </a:prstGeom>
          <a:noFill/>
        </p:spPr>
        <p:txBody>
          <a:bodyPr wrap="square" rtlCol="0">
            <a:spAutoFit/>
          </a:bodyPr>
          <a:lstStyle/>
          <a:p>
            <a:r>
              <a:rPr lang="en-US" altLang="zh-CN" sz="4800" b="1" dirty="0">
                <a:solidFill>
                  <a:srgbClr val="861B11"/>
                </a:solidFill>
              </a:rPr>
              <a:t>05.</a:t>
            </a:r>
            <a:endParaRPr lang="en-US" altLang="zh-CN" sz="4800" b="1" dirty="0">
              <a:solidFill>
                <a:srgbClr val="861B11"/>
              </a:solidFill>
            </a:endParaRPr>
          </a:p>
        </p:txBody>
      </p:sp>
      <p:sp>
        <p:nvSpPr>
          <p:cNvPr id="18" name="Freeform 4"/>
          <p:cNvSpPr/>
          <p:nvPr userDrawn="1">
            <p:custDataLst>
              <p:tags r:id="rId8"/>
            </p:custDataLst>
          </p:nvPr>
        </p:nvSpPr>
        <p:spPr>
          <a:xfrm rot="-1204851" flipV="1">
            <a:off x="5745427" y="8194128"/>
            <a:ext cx="13996660" cy="4723021"/>
          </a:xfrm>
          <a:custGeom>
            <a:avLst/>
            <a:gdLst/>
            <a:ahLst/>
            <a:cxnLst/>
            <a:rect l="l" t="t" r="r" b="b"/>
            <a:pathLst>
              <a:path w="13996660" h="4723021">
                <a:moveTo>
                  <a:pt x="0" y="4723021"/>
                </a:moveTo>
                <a:lnTo>
                  <a:pt x="13996660" y="4723021"/>
                </a:lnTo>
                <a:lnTo>
                  <a:pt x="13996660" y="0"/>
                </a:lnTo>
                <a:lnTo>
                  <a:pt x="0" y="0"/>
                </a:lnTo>
                <a:lnTo>
                  <a:pt x="0" y="4723021"/>
                </a:lnTo>
                <a:close/>
              </a:path>
            </a:pathLst>
          </a:custGeom>
          <a:blipFill>
            <a:blip r:embed="rId5">
              <a:alphaModFix amt="18000"/>
              <a:duotone>
                <a:schemeClr val="accent2">
                  <a:shade val="45000"/>
                  <a:satMod val="135000"/>
                </a:schemeClr>
                <a:prstClr val="white"/>
              </a:duotone>
            </a:blip>
            <a:stretch>
              <a:fillRect r="-24401"/>
            </a:stretch>
          </a:blipFill>
          <a:ln cap="sq">
            <a:noFill/>
            <a:prstDash val="solid"/>
            <a:miter/>
          </a:ln>
        </p:spPr>
        <p:txBody>
          <a:bodyPr/>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内容页-标题">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内容页-标题&amp;副标题">
    <p:spTree>
      <p:nvGrpSpPr>
        <p:cNvPr id="1" name=""/>
        <p:cNvGrpSpPr/>
        <p:nvPr/>
      </p:nvGrpSpPr>
      <p:grpSpPr>
        <a:xfrm>
          <a:off x="0" y="0"/>
          <a:ext cx="0" cy="0"/>
          <a:chOff x="0" y="0"/>
          <a:chExt cx="0" cy="0"/>
        </a:xfrm>
      </p:grpSpPr>
      <p:grpSp>
        <p:nvGrpSpPr>
          <p:cNvPr id="177" name="组合 176"/>
          <p:cNvGrpSpPr/>
          <p:nvPr userDrawn="1"/>
        </p:nvGrpSpPr>
        <p:grpSpPr>
          <a:xfrm>
            <a:off x="793059" y="1301985"/>
            <a:ext cx="3649541" cy="0"/>
            <a:chOff x="7460343" y="1311756"/>
            <a:chExt cx="2433027" cy="0"/>
          </a:xfrm>
        </p:grpSpPr>
        <p:cxnSp>
          <p:nvCxnSpPr>
            <p:cNvPr id="178" name="直接连接符 177"/>
            <p:cNvCxnSpPr/>
            <p:nvPr/>
          </p:nvCxnSpPr>
          <p:spPr>
            <a:xfrm>
              <a:off x="7460343" y="1311756"/>
              <a:ext cx="2433027" cy="0"/>
            </a:xfrm>
            <a:prstGeom prst="line">
              <a:avLst/>
            </a:prstGeom>
            <a:ln>
              <a:solidFill>
                <a:srgbClr val="9A0001"/>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rgbClr val="9A000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13508687" y="9591530"/>
            <a:ext cx="4114800" cy="438294"/>
          </a:xfrm>
          <a:prstGeom prst="rect">
            <a:avLst/>
          </a:prstGeom>
        </p:spPr>
        <p:txBody>
          <a:bodyPr vert="horz" lIns="91440" tIns="45720" rIns="91440" bIns="45720" rtlCol="0" anchor="ctr"/>
          <a:lstStyle>
            <a:lvl1pPr algn="r">
              <a:defRPr sz="18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793274" y="343129"/>
            <a:ext cx="13585277" cy="926277"/>
          </a:xfrm>
        </p:spPr>
        <p:txBody>
          <a:bodyPr>
            <a:normAutofit/>
          </a:bodyPr>
          <a:lstStyle>
            <a:lvl1pPr algn="l" defTabSz="914400" rtl="0" eaLnBrk="1" latinLnBrk="0" hangingPunct="1">
              <a:lnSpc>
                <a:spcPct val="90000"/>
              </a:lnSpc>
              <a:spcBef>
                <a:spcPct val="0"/>
              </a:spcBef>
              <a:buNone/>
              <a:defRPr lang="zh-CN" altLang="en-US" sz="3600" b="1" kern="1200" baseline="0" dirty="0">
                <a:solidFill>
                  <a:srgbClr val="861B11"/>
                </a:solidFill>
                <a:latin typeface="Arial" panose="020B0604020202090204" pitchFamily="34" charset="0"/>
                <a:ea typeface="微软雅黑"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762159" y="1416915"/>
            <a:ext cx="13585031" cy="572444"/>
          </a:xfrm>
        </p:spPr>
        <p:txBody>
          <a:bodyPr vert="horz" lIns="91440" tIns="45720" rIns="91440" bIns="45720" rtlCol="0" anchor="ctr">
            <a:normAutofit/>
          </a:bodyPr>
          <a:lstStyle>
            <a:lvl1pPr>
              <a:defRPr lang="zh-CN" altLang="en-US" sz="3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grpSp>
        <p:nvGrpSpPr>
          <p:cNvPr id="177" name="组合 176"/>
          <p:cNvGrpSpPr/>
          <p:nvPr userDrawn="1"/>
        </p:nvGrpSpPr>
        <p:grpSpPr>
          <a:xfrm>
            <a:off x="793059" y="1301985"/>
            <a:ext cx="3649541" cy="0"/>
            <a:chOff x="7460343" y="1311756"/>
            <a:chExt cx="2433027" cy="0"/>
          </a:xfrm>
        </p:grpSpPr>
        <p:cxnSp>
          <p:nvCxnSpPr>
            <p:cNvPr id="178"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a:off x="7460343" y="1311756"/>
              <a:ext cx="589713" cy="0"/>
            </a:xfrm>
            <a:prstGeom prst="line">
              <a:avLst/>
            </a:prstGeom>
            <a:ln w="38100">
              <a:solidFill>
                <a:srgbClr val="861B11"/>
              </a:solidFill>
            </a:ln>
          </p:spPr>
          <p:style>
            <a:lnRef idx="1">
              <a:schemeClr val="accent1"/>
            </a:lnRef>
            <a:fillRef idx="0">
              <a:schemeClr val="accent1"/>
            </a:fillRef>
            <a:effectRef idx="0">
              <a:schemeClr val="accent1"/>
            </a:effectRef>
            <a:fontRef idx="minor">
              <a:schemeClr val="tx1"/>
            </a:fontRef>
          </p:style>
        </p:cxnSp>
      </p:grpSp>
      <p:sp>
        <p:nvSpPr>
          <p:cNvPr id="61" name="灯片编号占位符 8"/>
          <p:cNvSpPr>
            <a:spLocks noGrp="1"/>
          </p:cNvSpPr>
          <p:nvPr>
            <p:ph type="sldNum" sz="quarter" idx="4"/>
          </p:nvPr>
        </p:nvSpPr>
        <p:spPr>
          <a:xfrm>
            <a:off x="13508687" y="9591530"/>
            <a:ext cx="4114800" cy="438294"/>
          </a:xfrm>
          <a:prstGeom prst="rect">
            <a:avLst/>
          </a:prstGeom>
        </p:spPr>
        <p:txBody>
          <a:bodyPr vert="horz" lIns="91440" tIns="45720" rIns="91440" bIns="45720" rtlCol="0" anchor="ctr"/>
          <a:lstStyle>
            <a:lvl1pPr algn="r">
              <a:defRPr sz="1800">
                <a:solidFill>
                  <a:schemeClr val="tx1">
                    <a:lumMod val="50000"/>
                    <a:lumOff val="50000"/>
                  </a:schemeClr>
                </a:solidFill>
              </a:defRPr>
            </a:lvl1pPr>
          </a:lstStyle>
          <a:p>
            <a:r>
              <a:rPr lang="en-US" altLang="zh-CN"/>
              <a:t>&lt; </a:t>
            </a:r>
            <a:fld id="{A548B57D-AE10-4CF7-A9DF-59FEFA91B28E}" type="slidenum">
              <a:rPr lang="zh-CN" altLang="en-US" smtClean="0"/>
            </a:fld>
            <a:r>
              <a:rPr lang="zh-CN" altLang="en-US"/>
              <a:t> </a:t>
            </a:r>
            <a:r>
              <a:rPr lang="en-US" altLang="zh-CN"/>
              <a:t>&gt;</a:t>
            </a:r>
            <a:endParaRPr lang="zh-CN" altLang="en-US" dirty="0"/>
          </a:p>
        </p:txBody>
      </p:sp>
      <p:sp>
        <p:nvSpPr>
          <p:cNvPr id="63" name="标题 1"/>
          <p:cNvSpPr>
            <a:spLocks noGrp="1"/>
          </p:cNvSpPr>
          <p:nvPr>
            <p:ph type="title" hasCustomPrompt="1"/>
          </p:nvPr>
        </p:nvSpPr>
        <p:spPr>
          <a:xfrm>
            <a:off x="664369" y="266929"/>
            <a:ext cx="13585277" cy="926277"/>
          </a:xfrm>
        </p:spPr>
        <p:txBody>
          <a:bodyPr>
            <a:normAutofit/>
          </a:bodyPr>
          <a:lstStyle>
            <a:lvl1pPr algn="l" defTabSz="914400" rtl="0" eaLnBrk="1" latinLnBrk="0" hangingPunct="1">
              <a:lnSpc>
                <a:spcPct val="90000"/>
              </a:lnSpc>
              <a:spcBef>
                <a:spcPct val="0"/>
              </a:spcBef>
              <a:buNone/>
              <a:defRPr lang="zh-CN" altLang="en-US" sz="3600" b="1" kern="1200" baseline="0" dirty="0">
                <a:solidFill>
                  <a:srgbClr val="861B11"/>
                </a:solidFill>
                <a:latin typeface="Arial" panose="020B0604020202090204" pitchFamily="34" charset="0"/>
                <a:ea typeface="微软雅黑"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664370" y="1416915"/>
            <a:ext cx="13585031" cy="572444"/>
          </a:xfrm>
        </p:spPr>
        <p:txBody>
          <a:bodyPr vert="horz" lIns="91440" tIns="45720" rIns="91440" bIns="45720" rtlCol="0" anchor="ctr">
            <a:normAutofit/>
          </a:bodyPr>
          <a:lstStyle>
            <a:lvl1pPr>
              <a:defRPr lang="zh-CN" altLang="en-US" sz="3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6"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9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6.xml"/><Relationship Id="rId7" Type="http://schemas.microsoft.com/office/2007/relationships/hdphoto" Target="../media/image8.wdp"/><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tags" Target="../tags/tag8.xml"/><Relationship Id="rId1" Type="http://schemas.openxmlformats.org/officeDocument/2006/relationships/tags" Target="../tags/tag7.xml"/></Relationships>
</file>

<file path=ppt/slides/_rels/slide3.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3.xml"/><Relationship Id="rId6" Type="http://schemas.openxmlformats.org/officeDocument/2006/relationships/tags" Target="../tags/tag11.xml"/><Relationship Id="rId5" Type="http://schemas.openxmlformats.org/officeDocument/2006/relationships/image" Target="../media/image2.png"/><Relationship Id="rId4" Type="http://schemas.openxmlformats.org/officeDocument/2006/relationships/tags" Target="../tags/tag10.xml"/><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tags" Target="../tags/tag9.xml"/></Relationships>
</file>

<file path=ppt/slides/_rels/slide4.xml.rels><?xml version="1.0" encoding="UTF-8" standalone="yes"?>
<Relationships xmlns="http://schemas.openxmlformats.org/package/2006/relationships"><Relationship Id="rId9" Type="http://schemas.openxmlformats.org/officeDocument/2006/relationships/image" Target="../media/image13.jpeg"/><Relationship Id="rId8" Type="http://schemas.openxmlformats.org/officeDocument/2006/relationships/tags" Target="../tags/tag16.xml"/><Relationship Id="rId7" Type="http://schemas.openxmlformats.org/officeDocument/2006/relationships/image" Target="../media/image12.jpeg"/><Relationship Id="rId6" Type="http://schemas.openxmlformats.org/officeDocument/2006/relationships/tags" Target="../tags/tag15.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tags" Target="../tags/tag14.xml"/><Relationship Id="rId2" Type="http://schemas.openxmlformats.org/officeDocument/2006/relationships/tags" Target="../tags/tag13.xml"/><Relationship Id="rId11" Type="http://schemas.openxmlformats.org/officeDocument/2006/relationships/notesSlide" Target="../notesSlides/notesSlide3.xml"/><Relationship Id="rId10" Type="http://schemas.openxmlformats.org/officeDocument/2006/relationships/slideLayout" Target="../slideLayouts/slideLayout14.xml"/><Relationship Id="rId1" Type="http://schemas.openxmlformats.org/officeDocument/2006/relationships/tags" Target="../tags/tag12.xml"/></Relationships>
</file>

<file path=ppt/slides/_rels/slide5.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image" Target="../media/image15.png"/><Relationship Id="rId6" Type="http://schemas.openxmlformats.org/officeDocument/2006/relationships/tags" Target="../tags/tag21.xml"/><Relationship Id="rId5" Type="http://schemas.openxmlformats.org/officeDocument/2006/relationships/tags" Target="../tags/tag20.xml"/><Relationship Id="rId4" Type="http://schemas.openxmlformats.org/officeDocument/2006/relationships/image" Target="../media/image14.png"/><Relationship Id="rId3" Type="http://schemas.openxmlformats.org/officeDocument/2006/relationships/tags" Target="../tags/tag19.xml"/><Relationship Id="rId2" Type="http://schemas.openxmlformats.org/officeDocument/2006/relationships/tags" Target="../tags/tag18.xml"/><Relationship Id="rId11" Type="http://schemas.openxmlformats.org/officeDocument/2006/relationships/notesSlide" Target="../notesSlides/notesSlide4.xml"/><Relationship Id="rId10" Type="http://schemas.openxmlformats.org/officeDocument/2006/relationships/slideLayout" Target="../slideLayouts/slideLayout14.xml"/><Relationship Id="rId1" Type="http://schemas.openxmlformats.org/officeDocument/2006/relationships/tags" Target="../tags/tag17.xml"/></Relationships>
</file>

<file path=ppt/slides/_rels/slide6.xml.rels><?xml version="1.0" encoding="UTF-8" standalone="yes"?>
<Relationships xmlns="http://schemas.openxmlformats.org/package/2006/relationships"><Relationship Id="rId9" Type="http://schemas.openxmlformats.org/officeDocument/2006/relationships/tags" Target="../tags/tag32.xml"/><Relationship Id="rId8" Type="http://schemas.openxmlformats.org/officeDocument/2006/relationships/tags" Target="../tags/tag31.xml"/><Relationship Id="rId7" Type="http://schemas.openxmlformats.org/officeDocument/2006/relationships/tags" Target="../tags/tag30.xml"/><Relationship Id="rId6" Type="http://schemas.openxmlformats.org/officeDocument/2006/relationships/tags" Target="../tags/tag29.xml"/><Relationship Id="rId5" Type="http://schemas.openxmlformats.org/officeDocument/2006/relationships/tags" Target="../tags/tag28.xml"/><Relationship Id="rId4" Type="http://schemas.openxmlformats.org/officeDocument/2006/relationships/tags" Target="../tags/tag27.xml"/><Relationship Id="rId3" Type="http://schemas.openxmlformats.org/officeDocument/2006/relationships/tags" Target="../tags/tag26.xml"/><Relationship Id="rId2" Type="http://schemas.openxmlformats.org/officeDocument/2006/relationships/tags" Target="../tags/tag25.xml"/><Relationship Id="rId17" Type="http://schemas.openxmlformats.org/officeDocument/2006/relationships/notesSlide" Target="../notesSlides/notesSlide5.xml"/><Relationship Id="rId16" Type="http://schemas.openxmlformats.org/officeDocument/2006/relationships/slideLayout" Target="../slideLayouts/slideLayout14.xml"/><Relationship Id="rId15" Type="http://schemas.openxmlformats.org/officeDocument/2006/relationships/tags" Target="../tags/tag38.xml"/><Relationship Id="rId14" Type="http://schemas.openxmlformats.org/officeDocument/2006/relationships/tags" Target="../tags/tag37.xml"/><Relationship Id="rId13" Type="http://schemas.openxmlformats.org/officeDocument/2006/relationships/tags" Target="../tags/tag36.xml"/><Relationship Id="rId12" Type="http://schemas.openxmlformats.org/officeDocument/2006/relationships/tags" Target="../tags/tag35.xml"/><Relationship Id="rId11" Type="http://schemas.openxmlformats.org/officeDocument/2006/relationships/tags" Target="../tags/tag34.xml"/><Relationship Id="rId10" Type="http://schemas.openxmlformats.org/officeDocument/2006/relationships/tags" Target="../tags/tag33.xml"/><Relationship Id="rId1" Type="http://schemas.openxmlformats.org/officeDocument/2006/relationships/tags" Target="../tags/tag24.xml"/></Relationships>
</file>

<file path=ppt/slides/_rels/slide7.xml.rels><?xml version="1.0" encoding="UTF-8" standalone="yes"?>
<Relationships xmlns="http://schemas.openxmlformats.org/package/2006/relationships"><Relationship Id="rId9" Type="http://schemas.openxmlformats.org/officeDocument/2006/relationships/tags" Target="../tags/tag43.xml"/><Relationship Id="rId8" Type="http://schemas.openxmlformats.org/officeDocument/2006/relationships/image" Target="../media/image19.png"/><Relationship Id="rId7" Type="http://schemas.openxmlformats.org/officeDocument/2006/relationships/tags" Target="../tags/tag42.xml"/><Relationship Id="rId6" Type="http://schemas.openxmlformats.org/officeDocument/2006/relationships/image" Target="../media/image18.png"/><Relationship Id="rId5" Type="http://schemas.openxmlformats.org/officeDocument/2006/relationships/tags" Target="../tags/tag41.xml"/><Relationship Id="rId4" Type="http://schemas.openxmlformats.org/officeDocument/2006/relationships/image" Target="../media/image17.png"/><Relationship Id="rId3" Type="http://schemas.openxmlformats.org/officeDocument/2006/relationships/tags" Target="../tags/tag40.xml"/><Relationship Id="rId2" Type="http://schemas.openxmlformats.org/officeDocument/2006/relationships/image" Target="../media/image16.png"/><Relationship Id="rId15" Type="http://schemas.openxmlformats.org/officeDocument/2006/relationships/notesSlide" Target="../notesSlides/notesSlide6.xml"/><Relationship Id="rId14" Type="http://schemas.openxmlformats.org/officeDocument/2006/relationships/slideLayout" Target="../slideLayouts/slideLayout14.xml"/><Relationship Id="rId13" Type="http://schemas.openxmlformats.org/officeDocument/2006/relationships/tags" Target="../tags/tag46.xml"/><Relationship Id="rId12" Type="http://schemas.openxmlformats.org/officeDocument/2006/relationships/tags" Target="../tags/tag45.xml"/><Relationship Id="rId11" Type="http://schemas.openxmlformats.org/officeDocument/2006/relationships/tags" Target="../tags/tag44.xml"/><Relationship Id="rId10" Type="http://schemas.openxmlformats.org/officeDocument/2006/relationships/image" Target="../media/image20.png"/><Relationship Id="rId1" Type="http://schemas.openxmlformats.org/officeDocument/2006/relationships/tags" Target="../tags/tag39.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3.xml"/><Relationship Id="rId6" Type="http://schemas.openxmlformats.org/officeDocument/2006/relationships/tags" Target="../tags/tag49.xml"/><Relationship Id="rId5" Type="http://schemas.openxmlformats.org/officeDocument/2006/relationships/image" Target="../media/image2.png"/><Relationship Id="rId4" Type="http://schemas.openxmlformats.org/officeDocument/2006/relationships/tags" Target="../tags/tag48.xml"/><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tags" Target="../tags/tag47.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8.xml"/><Relationship Id="rId4" Type="http://schemas.openxmlformats.org/officeDocument/2006/relationships/slideLayout" Target="../slideLayouts/slideLayout14.xml"/><Relationship Id="rId3" Type="http://schemas.openxmlformats.org/officeDocument/2006/relationships/tags" Target="../tags/tag52.xml"/><Relationship Id="rId2" Type="http://schemas.openxmlformats.org/officeDocument/2006/relationships/tags" Target="../tags/tag51.xml"/><Relationship Id="rId1" Type="http://schemas.openxmlformats.org/officeDocument/2006/relationships/tags" Target="../tags/tag50.xml"/></Relationships>
</file>

<file path=ppt/slides/_rels/slide10.xml.rels><?xml version="1.0" encoding="UTF-8" standalone="yes"?>
<Relationships xmlns="http://schemas.openxmlformats.org/package/2006/relationships"><Relationship Id="rId9" Type="http://schemas.openxmlformats.org/officeDocument/2006/relationships/slideLayout" Target="../slideLayouts/slideLayout14.xml"/><Relationship Id="rId8" Type="http://schemas.openxmlformats.org/officeDocument/2006/relationships/image" Target="../media/image24.jpeg"/><Relationship Id="rId7" Type="http://schemas.openxmlformats.org/officeDocument/2006/relationships/tags" Target="../tags/tag56.xml"/><Relationship Id="rId6" Type="http://schemas.openxmlformats.org/officeDocument/2006/relationships/image" Target="../media/image23.png"/><Relationship Id="rId5" Type="http://schemas.openxmlformats.org/officeDocument/2006/relationships/tags" Target="../tags/tag55.xml"/><Relationship Id="rId4" Type="http://schemas.openxmlformats.org/officeDocument/2006/relationships/image" Target="../media/image22.jpeg"/><Relationship Id="rId3" Type="http://schemas.openxmlformats.org/officeDocument/2006/relationships/tags" Target="../tags/tag54.xml"/><Relationship Id="rId2" Type="http://schemas.openxmlformats.org/officeDocument/2006/relationships/image" Target="../media/image21.png"/><Relationship Id="rId10" Type="http://schemas.openxmlformats.org/officeDocument/2006/relationships/notesSlide" Target="../notesSlides/notesSlide9.xml"/><Relationship Id="rId1" Type="http://schemas.openxmlformats.org/officeDocument/2006/relationships/tags" Target="../tags/tag53.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4.xml"/><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1.xml"/><Relationship Id="rId7" Type="http://schemas.openxmlformats.org/officeDocument/2006/relationships/slideLayout" Target="../slideLayouts/slideLayout13.xml"/><Relationship Id="rId6" Type="http://schemas.openxmlformats.org/officeDocument/2006/relationships/tags" Target="../tags/tag59.xml"/><Relationship Id="rId5" Type="http://schemas.openxmlformats.org/officeDocument/2006/relationships/image" Target="../media/image2.png"/><Relationship Id="rId4" Type="http://schemas.openxmlformats.org/officeDocument/2006/relationships/tags" Target="../tags/tag58.xml"/><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tags" Target="../tags/tag57.xml"/></Relationships>
</file>

<file path=ppt/slides/_rels/slide13.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image" Target="../media/image30.svg"/><Relationship Id="rId7" Type="http://schemas.openxmlformats.org/officeDocument/2006/relationships/image" Target="../media/image29.png"/><Relationship Id="rId6" Type="http://schemas.openxmlformats.org/officeDocument/2006/relationships/tags" Target="../tags/tag62.xml"/><Relationship Id="rId5" Type="http://schemas.microsoft.com/office/2007/relationships/hdphoto" Target="../media/image28.wdp"/><Relationship Id="rId4" Type="http://schemas.openxmlformats.org/officeDocument/2006/relationships/image" Target="../media/image27.png"/><Relationship Id="rId3" Type="http://schemas.openxmlformats.org/officeDocument/2006/relationships/tags" Target="../tags/tag61.xml"/><Relationship Id="rId25" Type="http://schemas.openxmlformats.org/officeDocument/2006/relationships/notesSlide" Target="../notesSlides/notesSlide12.xml"/><Relationship Id="rId24" Type="http://schemas.openxmlformats.org/officeDocument/2006/relationships/slideLayout" Target="../slideLayouts/slideLayout14.xml"/><Relationship Id="rId23" Type="http://schemas.openxmlformats.org/officeDocument/2006/relationships/image" Target="../media/image33.jpeg"/><Relationship Id="rId22" Type="http://schemas.openxmlformats.org/officeDocument/2006/relationships/tags" Target="../tags/tag74.xml"/><Relationship Id="rId21" Type="http://schemas.openxmlformats.org/officeDocument/2006/relationships/tags" Target="../tags/tag73.xml"/><Relationship Id="rId20" Type="http://schemas.openxmlformats.org/officeDocument/2006/relationships/tags" Target="../tags/tag72.xml"/><Relationship Id="rId2" Type="http://schemas.openxmlformats.org/officeDocument/2006/relationships/image" Target="../media/image26.png"/><Relationship Id="rId19" Type="http://schemas.openxmlformats.org/officeDocument/2006/relationships/tags" Target="../tags/tag71.xml"/><Relationship Id="rId18" Type="http://schemas.openxmlformats.org/officeDocument/2006/relationships/tags" Target="../tags/tag70.xml"/><Relationship Id="rId17" Type="http://schemas.openxmlformats.org/officeDocument/2006/relationships/tags" Target="../tags/tag69.xml"/><Relationship Id="rId16" Type="http://schemas.openxmlformats.org/officeDocument/2006/relationships/tags" Target="../tags/tag68.xml"/><Relationship Id="rId15" Type="http://schemas.openxmlformats.org/officeDocument/2006/relationships/image" Target="../media/image32.svg"/><Relationship Id="rId14" Type="http://schemas.openxmlformats.org/officeDocument/2006/relationships/image" Target="../media/image31.png"/><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60.xml"/></Relationships>
</file>

<file path=ppt/slides/_rels/slide14.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4.xml"/><Relationship Id="rId6" Type="http://schemas.openxmlformats.org/officeDocument/2006/relationships/tags" Target="../tags/tag79.xml"/><Relationship Id="rId5" Type="http://schemas.openxmlformats.org/officeDocument/2006/relationships/tags" Target="../tags/tag78.xml"/><Relationship Id="rId4" Type="http://schemas.openxmlformats.org/officeDocument/2006/relationships/tags" Target="../tags/tag77.xml"/><Relationship Id="rId3" Type="http://schemas.openxmlformats.org/officeDocument/2006/relationships/tags" Target="../tags/tag76.xml"/><Relationship Id="rId2" Type="http://schemas.openxmlformats.org/officeDocument/2006/relationships/image" Target="../media/image34.png"/><Relationship Id="rId1" Type="http://schemas.openxmlformats.org/officeDocument/2006/relationships/tags" Target="../tags/tag75.xml"/></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4.xml"/><Relationship Id="rId7" Type="http://schemas.openxmlformats.org/officeDocument/2006/relationships/slideLayout" Target="../slideLayouts/slideLayout13.xml"/><Relationship Id="rId6" Type="http://schemas.openxmlformats.org/officeDocument/2006/relationships/tags" Target="../tags/tag82.xml"/><Relationship Id="rId5" Type="http://schemas.openxmlformats.org/officeDocument/2006/relationships/image" Target="../media/image2.png"/><Relationship Id="rId4" Type="http://schemas.openxmlformats.org/officeDocument/2006/relationships/tags" Target="../tags/tag81.xml"/><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tags" Target="../tags/tag80.xml"/></Relationships>
</file>

<file path=ppt/slides/_rels/slide16.xml.rels><?xml version="1.0" encoding="UTF-8" standalone="yes"?>
<Relationships xmlns="http://schemas.openxmlformats.org/package/2006/relationships"><Relationship Id="rId9" Type="http://schemas.openxmlformats.org/officeDocument/2006/relationships/tags" Target="../tags/tag88.xml"/><Relationship Id="rId8" Type="http://schemas.microsoft.com/office/2007/relationships/media" Target="../media/media1.mp4"/><Relationship Id="rId7" Type="http://schemas.openxmlformats.org/officeDocument/2006/relationships/video" Target="../media/media1.mp4"/><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image" Target="../media/image35.png"/><Relationship Id="rId2" Type="http://schemas.openxmlformats.org/officeDocument/2006/relationships/tags" Target="../tags/tag84.xml"/><Relationship Id="rId12" Type="http://schemas.openxmlformats.org/officeDocument/2006/relationships/notesSlide" Target="../notesSlides/notesSlide15.xml"/><Relationship Id="rId11" Type="http://schemas.openxmlformats.org/officeDocument/2006/relationships/slideLayout" Target="../slideLayouts/slideLayout14.xml"/><Relationship Id="rId10" Type="http://schemas.openxmlformats.org/officeDocument/2006/relationships/image" Target="../media/image36.png"/><Relationship Id="rId1" Type="http://schemas.openxmlformats.org/officeDocument/2006/relationships/tags" Target="../tags/tag83.xml"/></Relationships>
</file>

<file path=ppt/slides/_rels/slide17.xml.rels><?xml version="1.0" encoding="UTF-8" standalone="yes"?>
<Relationships xmlns="http://schemas.openxmlformats.org/package/2006/relationships"><Relationship Id="rId9" Type="http://schemas.openxmlformats.org/officeDocument/2006/relationships/image" Target="../media/image39.png"/><Relationship Id="rId8" Type="http://schemas.openxmlformats.org/officeDocument/2006/relationships/tags" Target="../tags/tag92.xml"/><Relationship Id="rId7" Type="http://schemas.microsoft.com/office/2007/relationships/media" Target="../media/media2.mp4"/><Relationship Id="rId6" Type="http://schemas.openxmlformats.org/officeDocument/2006/relationships/video" Target="../media/media2.mp4"/><Relationship Id="rId5" Type="http://schemas.openxmlformats.org/officeDocument/2006/relationships/tags" Target="../tags/tag91.xml"/><Relationship Id="rId4" Type="http://schemas.openxmlformats.org/officeDocument/2006/relationships/tags" Target="../tags/tag90.xml"/><Relationship Id="rId3" Type="http://schemas.openxmlformats.org/officeDocument/2006/relationships/image" Target="../media/image38.png"/><Relationship Id="rId2" Type="http://schemas.openxmlformats.org/officeDocument/2006/relationships/image" Target="../media/image37.png"/><Relationship Id="rId13" Type="http://schemas.openxmlformats.org/officeDocument/2006/relationships/notesSlide" Target="../notesSlides/notesSlide16.xml"/><Relationship Id="rId12" Type="http://schemas.openxmlformats.org/officeDocument/2006/relationships/slideLayout" Target="../slideLayouts/slideLayout14.xml"/><Relationship Id="rId11" Type="http://schemas.openxmlformats.org/officeDocument/2006/relationships/tags" Target="../tags/tag94.xml"/><Relationship Id="rId10" Type="http://schemas.openxmlformats.org/officeDocument/2006/relationships/tags" Target="../tags/tag93.xml"/><Relationship Id="rId1" Type="http://schemas.openxmlformats.org/officeDocument/2006/relationships/tags" Target="../tags/tag89.xml"/></Relationships>
</file>

<file path=ppt/slides/_rels/slide18.xml.rels><?xml version="1.0" encoding="UTF-8" standalone="yes"?>
<Relationships xmlns="http://schemas.openxmlformats.org/package/2006/relationships"><Relationship Id="rId9" Type="http://schemas.openxmlformats.org/officeDocument/2006/relationships/image" Target="../media/image30.svg"/><Relationship Id="rId8" Type="http://schemas.openxmlformats.org/officeDocument/2006/relationships/image" Target="../media/image29.png"/><Relationship Id="rId7" Type="http://schemas.openxmlformats.org/officeDocument/2006/relationships/tags" Target="../tags/tag98.xml"/><Relationship Id="rId6" Type="http://schemas.openxmlformats.org/officeDocument/2006/relationships/image" Target="../media/image26.png"/><Relationship Id="rId5" Type="http://schemas.openxmlformats.org/officeDocument/2006/relationships/tags" Target="../tags/tag97.xml"/><Relationship Id="rId4" Type="http://schemas.openxmlformats.org/officeDocument/2006/relationships/tags" Target="../tags/tag96.xml"/><Relationship Id="rId3" Type="http://schemas.microsoft.com/office/2007/relationships/hdphoto" Target="../media/image28.wdp"/><Relationship Id="rId26" Type="http://schemas.openxmlformats.org/officeDocument/2006/relationships/notesSlide" Target="../notesSlides/notesSlide17.xml"/><Relationship Id="rId25" Type="http://schemas.openxmlformats.org/officeDocument/2006/relationships/slideLayout" Target="../slideLayouts/slideLayout14.xml"/><Relationship Id="rId24" Type="http://schemas.openxmlformats.org/officeDocument/2006/relationships/image" Target="../media/image33.jpeg"/><Relationship Id="rId23" Type="http://schemas.openxmlformats.org/officeDocument/2006/relationships/tags" Target="../tags/tag110.xml"/><Relationship Id="rId22" Type="http://schemas.openxmlformats.org/officeDocument/2006/relationships/tags" Target="../tags/tag109.xml"/><Relationship Id="rId21" Type="http://schemas.openxmlformats.org/officeDocument/2006/relationships/tags" Target="../tags/tag108.xml"/><Relationship Id="rId20" Type="http://schemas.openxmlformats.org/officeDocument/2006/relationships/tags" Target="../tags/tag107.xml"/><Relationship Id="rId2" Type="http://schemas.openxmlformats.org/officeDocument/2006/relationships/image" Target="../media/image27.png"/><Relationship Id="rId19" Type="http://schemas.openxmlformats.org/officeDocument/2006/relationships/tags" Target="../tags/tag106.xml"/><Relationship Id="rId18" Type="http://schemas.openxmlformats.org/officeDocument/2006/relationships/tags" Target="../tags/tag105.xml"/><Relationship Id="rId17" Type="http://schemas.openxmlformats.org/officeDocument/2006/relationships/tags" Target="../tags/tag104.xml"/><Relationship Id="rId16" Type="http://schemas.openxmlformats.org/officeDocument/2006/relationships/image" Target="../media/image32.svg"/><Relationship Id="rId15" Type="http://schemas.openxmlformats.org/officeDocument/2006/relationships/image" Target="../media/image31.png"/><Relationship Id="rId14" Type="http://schemas.openxmlformats.org/officeDocument/2006/relationships/tags" Target="../tags/tag103.xml"/><Relationship Id="rId13" Type="http://schemas.openxmlformats.org/officeDocument/2006/relationships/tags" Target="../tags/tag102.xml"/><Relationship Id="rId12" Type="http://schemas.openxmlformats.org/officeDocument/2006/relationships/tags" Target="../tags/tag101.xml"/><Relationship Id="rId11" Type="http://schemas.openxmlformats.org/officeDocument/2006/relationships/tags" Target="../tags/tag100.xml"/><Relationship Id="rId10" Type="http://schemas.openxmlformats.org/officeDocument/2006/relationships/tags" Target="../tags/tag99.xml"/><Relationship Id="rId1" Type="http://schemas.openxmlformats.org/officeDocument/2006/relationships/tags" Target="../tags/tag95.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8.xml"/><Relationship Id="rId7" Type="http://schemas.openxmlformats.org/officeDocument/2006/relationships/slideLayout" Target="../slideLayouts/slideLayout13.xml"/><Relationship Id="rId6" Type="http://schemas.openxmlformats.org/officeDocument/2006/relationships/tags" Target="../tags/tag113.xml"/><Relationship Id="rId5" Type="http://schemas.openxmlformats.org/officeDocument/2006/relationships/image" Target="../media/image2.png"/><Relationship Id="rId4" Type="http://schemas.openxmlformats.org/officeDocument/2006/relationships/tags" Target="../tags/tag112.xml"/><Relationship Id="rId3" Type="http://schemas.microsoft.com/office/2007/relationships/hdphoto" Target="../media/image8.wdp"/><Relationship Id="rId2" Type="http://schemas.openxmlformats.org/officeDocument/2006/relationships/image" Target="../media/image7.png"/><Relationship Id="rId1" Type="http://schemas.openxmlformats.org/officeDocument/2006/relationships/tags" Target="../tags/tag111.xml"/></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19.xml"/><Relationship Id="rId3" Type="http://schemas.openxmlformats.org/officeDocument/2006/relationships/slideLayout" Target="../slideLayouts/slideLayout14.xml"/><Relationship Id="rId2" Type="http://schemas.openxmlformats.org/officeDocument/2006/relationships/tags" Target="../tags/tag115.xml"/><Relationship Id="rId1" Type="http://schemas.openxmlformats.org/officeDocument/2006/relationships/tags" Target="../tags/tag114.xml"/></Relationships>
</file>

<file path=ppt/slides/_rels/slide21.xml.rels><?xml version="1.0" encoding="UTF-8" standalone="yes"?>
<Relationships xmlns="http://schemas.openxmlformats.org/package/2006/relationships"><Relationship Id="rId9" Type="http://schemas.openxmlformats.org/officeDocument/2006/relationships/image" Target="../media/image5.png"/><Relationship Id="rId8" Type="http://schemas.openxmlformats.org/officeDocument/2006/relationships/tags" Target="../tags/tag118.xml"/><Relationship Id="rId7" Type="http://schemas.openxmlformats.org/officeDocument/2006/relationships/image" Target="../media/image3.png"/><Relationship Id="rId6" Type="http://schemas.openxmlformats.org/officeDocument/2006/relationships/tags" Target="../tags/tag117.xml"/><Relationship Id="rId5" Type="http://schemas.openxmlformats.org/officeDocument/2006/relationships/tags" Target="../tags/tag116.xml"/><Relationship Id="rId4" Type="http://schemas.microsoft.com/office/2007/relationships/hdphoto" Target="../media/image8.wdp"/><Relationship Id="rId3" Type="http://schemas.openxmlformats.org/officeDocument/2006/relationships/image" Target="../media/image7.png"/><Relationship Id="rId2" Type="http://schemas.openxmlformats.org/officeDocument/2006/relationships/image" Target="../media/image1.jpeg"/><Relationship Id="rId15" Type="http://schemas.openxmlformats.org/officeDocument/2006/relationships/slideLayout" Target="../slideLayouts/slideLayout7.xml"/><Relationship Id="rId14" Type="http://schemas.openxmlformats.org/officeDocument/2006/relationships/tags" Target="../tags/tag123.xml"/><Relationship Id="rId13" Type="http://schemas.openxmlformats.org/officeDocument/2006/relationships/tags" Target="../tags/tag122.xml"/><Relationship Id="rId12" Type="http://schemas.openxmlformats.org/officeDocument/2006/relationships/tags" Target="../tags/tag121.xml"/><Relationship Id="rId11" Type="http://schemas.openxmlformats.org/officeDocument/2006/relationships/tags" Target="../tags/tag120.xml"/><Relationship Id="rId10" Type="http://schemas.openxmlformats.org/officeDocument/2006/relationships/tags" Target="../tags/tag119.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2"/>
          <p:cNvSpPr txBox="1"/>
          <p:nvPr/>
        </p:nvSpPr>
        <p:spPr>
          <a:xfrm>
            <a:off x="3434283" y="8133038"/>
            <a:ext cx="1364751" cy="512445"/>
          </a:xfrm>
          <a:prstGeom prst="rect">
            <a:avLst/>
          </a:prstGeom>
        </p:spPr>
        <p:txBody>
          <a:bodyPr lIns="0" tIns="0" rIns="0" bIns="0" rtlCol="0" anchor="t">
            <a:spAutoFit/>
          </a:bodyPr>
          <a:lstStyle/>
          <a:p>
            <a:pPr marL="0" lvl="0" indent="0" algn="l">
              <a:lnSpc>
                <a:spcPts val="4000"/>
              </a:lnSpc>
              <a:spcBef>
                <a:spcPct val="0"/>
              </a:spcBef>
            </a:pPr>
            <a:r>
              <a:rPr lang="zh-CN" altLang="en-US" sz="2500" dirty="0">
                <a:solidFill>
                  <a:srgbClr val="861B11"/>
                </a:solidFill>
                <a:latin typeface="思源宋体 2 Bold" panose="02010600030101010101" charset="-122"/>
                <a:ea typeface="思源宋体 2 Bold" panose="02010600030101010101" charset="-122"/>
                <a:cs typeface="思源黑体 1"/>
                <a:sym typeface="思源黑体 1"/>
              </a:rPr>
              <a:t>黄文</a:t>
            </a:r>
            <a:r>
              <a:rPr lang="zh-CN" altLang="en-US" sz="2500" dirty="0">
                <a:solidFill>
                  <a:srgbClr val="861B11"/>
                </a:solidFill>
                <a:latin typeface="思源宋体 2 Bold" panose="02010600030101010101" charset="-122"/>
                <a:ea typeface="思源宋体 2 Bold" panose="02010600030101010101" charset="-122"/>
                <a:cs typeface="思源黑体 1"/>
                <a:sym typeface="思源黑体 1"/>
              </a:rPr>
              <a:t>佳</a:t>
            </a:r>
            <a:endParaRPr lang="zh-CN" altLang="en-US" sz="2500" dirty="0">
              <a:solidFill>
                <a:srgbClr val="861B11"/>
              </a:solidFill>
              <a:latin typeface="思源宋体 2 Bold" panose="02010600030101010101" charset="-122"/>
              <a:ea typeface="思源宋体 2 Bold" panose="02010600030101010101" charset="-122"/>
              <a:cs typeface="思源黑体 1"/>
              <a:sym typeface="思源黑体 1"/>
            </a:endParaRPr>
          </a:p>
        </p:txBody>
      </p:sp>
      <p:sp>
        <p:nvSpPr>
          <p:cNvPr id="55" name="Freeform 3"/>
          <p:cNvSpPr/>
          <p:nvPr/>
        </p:nvSpPr>
        <p:spPr>
          <a:xfrm>
            <a:off x="-1" y="1658663"/>
            <a:ext cx="18273038" cy="5633330"/>
          </a:xfrm>
          <a:custGeom>
            <a:avLst/>
            <a:gdLst/>
            <a:ahLst/>
            <a:cxnLst/>
            <a:rect l="l" t="t" r="r" b="b"/>
            <a:pathLst>
              <a:path w="22727910" h="1730375">
                <a:moveTo>
                  <a:pt x="0" y="0"/>
                </a:moveTo>
                <a:lnTo>
                  <a:pt x="22727910" y="0"/>
                </a:lnTo>
                <a:lnTo>
                  <a:pt x="22727910" y="1730375"/>
                </a:lnTo>
                <a:lnTo>
                  <a:pt x="0" y="1730375"/>
                </a:lnTo>
                <a:close/>
              </a:path>
            </a:pathLst>
          </a:custGeom>
          <a:solidFill>
            <a:srgbClr val="861B11"/>
          </a:solidFill>
          <a:ln>
            <a:solidFill>
              <a:srgbClr val="C00000"/>
            </a:solidFill>
          </a:ln>
        </p:spPr>
        <p:txBody>
          <a:bodyPr/>
          <a:lstStyle/>
          <a:p>
            <a:endParaRPr lang="zh-CN" altLang="en-US" dirty="0">
              <a:solidFill>
                <a:srgbClr val="013690"/>
              </a:solidFill>
            </a:endParaRPr>
          </a:p>
        </p:txBody>
      </p:sp>
      <p:sp>
        <p:nvSpPr>
          <p:cNvPr id="6" name="Freeform 3"/>
          <p:cNvSpPr/>
          <p:nvPr/>
        </p:nvSpPr>
        <p:spPr>
          <a:xfrm>
            <a:off x="14963" y="1643771"/>
            <a:ext cx="18273038" cy="5633330"/>
          </a:xfrm>
          <a:custGeom>
            <a:avLst/>
            <a:gdLst/>
            <a:ahLst/>
            <a:cxnLst/>
            <a:rect l="l" t="t" r="r" b="b"/>
            <a:pathLst>
              <a:path w="22727910" h="1730375">
                <a:moveTo>
                  <a:pt x="0" y="0"/>
                </a:moveTo>
                <a:lnTo>
                  <a:pt x="22727910" y="0"/>
                </a:lnTo>
                <a:lnTo>
                  <a:pt x="22727910" y="1730375"/>
                </a:lnTo>
                <a:lnTo>
                  <a:pt x="0" y="1730375"/>
                </a:lnTo>
                <a:close/>
              </a:path>
            </a:pathLst>
          </a:custGeom>
          <a:blipFill>
            <a:blip r:embed="rId1">
              <a:alphaModFix amt="16000"/>
            </a:blip>
            <a:tile tx="0" ty="0" sx="100000" sy="100000" flip="none" algn="tl"/>
          </a:blipFill>
          <a:ln>
            <a:noFill/>
          </a:ln>
        </p:spPr>
        <p:txBody>
          <a:bodyPr/>
          <a:lstStyle/>
          <a:p>
            <a:endParaRPr lang="zh-CN" altLang="en-US" dirty="0">
              <a:solidFill>
                <a:srgbClr val="013690"/>
              </a:solidFill>
            </a:endParaRPr>
          </a:p>
        </p:txBody>
      </p:sp>
      <p:sp>
        <p:nvSpPr>
          <p:cNvPr id="14" name="Freeform 14"/>
          <p:cNvSpPr/>
          <p:nvPr/>
        </p:nvSpPr>
        <p:spPr>
          <a:xfrm>
            <a:off x="5768042" y="8133038"/>
            <a:ext cx="495300" cy="495300"/>
          </a:xfrm>
          <a:custGeom>
            <a:avLst/>
            <a:gdLst/>
            <a:ahLst/>
            <a:cxnLst/>
            <a:rect l="l" t="t" r="r" b="b"/>
            <a:pathLst>
              <a:path w="495300" h="495300">
                <a:moveTo>
                  <a:pt x="0" y="0"/>
                </a:moveTo>
                <a:lnTo>
                  <a:pt x="495300" y="0"/>
                </a:lnTo>
                <a:lnTo>
                  <a:pt x="495300" y="495300"/>
                </a:lnTo>
                <a:lnTo>
                  <a:pt x="0" y="4953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zh-CN" altLang="en-US"/>
          </a:p>
        </p:txBody>
      </p:sp>
      <p:sp>
        <p:nvSpPr>
          <p:cNvPr id="13" name="Freeform 13"/>
          <p:cNvSpPr/>
          <p:nvPr/>
        </p:nvSpPr>
        <p:spPr>
          <a:xfrm>
            <a:off x="1293983" y="8133038"/>
            <a:ext cx="495300" cy="495300"/>
          </a:xfrm>
          <a:custGeom>
            <a:avLst/>
            <a:gdLst/>
            <a:ahLst/>
            <a:cxnLst/>
            <a:rect l="l" t="t" r="r" b="b"/>
            <a:pathLst>
              <a:path w="495300" h="495300">
                <a:moveTo>
                  <a:pt x="0" y="0"/>
                </a:moveTo>
                <a:lnTo>
                  <a:pt x="495300" y="0"/>
                </a:lnTo>
                <a:lnTo>
                  <a:pt x="495300" y="495300"/>
                </a:lnTo>
                <a:lnTo>
                  <a:pt x="0" y="49530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zh-CN" altLang="en-US"/>
          </a:p>
        </p:txBody>
      </p:sp>
      <p:sp>
        <p:nvSpPr>
          <p:cNvPr id="16" name="Freeform 16"/>
          <p:cNvSpPr/>
          <p:nvPr/>
        </p:nvSpPr>
        <p:spPr>
          <a:xfrm>
            <a:off x="584541" y="2990948"/>
            <a:ext cx="208565" cy="3113543"/>
          </a:xfrm>
          <a:custGeom>
            <a:avLst/>
            <a:gdLst/>
            <a:ahLst/>
            <a:cxnLst/>
            <a:rect l="l" t="t" r="r" b="b"/>
            <a:pathLst>
              <a:path w="54931" h="820027">
                <a:moveTo>
                  <a:pt x="27465" y="0"/>
                </a:moveTo>
                <a:lnTo>
                  <a:pt x="27465" y="0"/>
                </a:lnTo>
                <a:cubicBezTo>
                  <a:pt x="34750" y="0"/>
                  <a:pt x="41736" y="2894"/>
                  <a:pt x="46886" y="8044"/>
                </a:cubicBezTo>
                <a:cubicBezTo>
                  <a:pt x="52037" y="13195"/>
                  <a:pt x="54931" y="20181"/>
                  <a:pt x="54931" y="27465"/>
                </a:cubicBezTo>
                <a:lnTo>
                  <a:pt x="54931" y="792562"/>
                </a:lnTo>
                <a:cubicBezTo>
                  <a:pt x="54931" y="799846"/>
                  <a:pt x="52037" y="806832"/>
                  <a:pt x="46886" y="811983"/>
                </a:cubicBezTo>
                <a:cubicBezTo>
                  <a:pt x="41736" y="817134"/>
                  <a:pt x="34750" y="820027"/>
                  <a:pt x="27465" y="820027"/>
                </a:cubicBezTo>
                <a:lnTo>
                  <a:pt x="27465" y="820027"/>
                </a:lnTo>
                <a:cubicBezTo>
                  <a:pt x="20181" y="820027"/>
                  <a:pt x="13195" y="817134"/>
                  <a:pt x="8044" y="811983"/>
                </a:cubicBezTo>
                <a:cubicBezTo>
                  <a:pt x="2894" y="806832"/>
                  <a:pt x="0" y="799846"/>
                  <a:pt x="0" y="792562"/>
                </a:cubicBezTo>
                <a:lnTo>
                  <a:pt x="0" y="27465"/>
                </a:lnTo>
                <a:cubicBezTo>
                  <a:pt x="0" y="20181"/>
                  <a:pt x="2894" y="13195"/>
                  <a:pt x="8044" y="8044"/>
                </a:cubicBezTo>
                <a:cubicBezTo>
                  <a:pt x="13195" y="2894"/>
                  <a:pt x="20181" y="0"/>
                  <a:pt x="27465" y="0"/>
                </a:cubicBezTo>
                <a:close/>
              </a:path>
            </a:pathLst>
          </a:custGeom>
          <a:solidFill>
            <a:schemeClr val="bg1"/>
          </a:solidFill>
        </p:spPr>
        <p:txBody>
          <a:bodyPr/>
          <a:lstStyle/>
          <a:p>
            <a:endParaRPr lang="zh-CN" altLang="en-US" dirty="0"/>
          </a:p>
        </p:txBody>
      </p:sp>
      <p:sp>
        <p:nvSpPr>
          <p:cNvPr id="17" name="TextBox 17"/>
          <p:cNvSpPr txBox="1"/>
          <p:nvPr/>
        </p:nvSpPr>
        <p:spPr>
          <a:xfrm>
            <a:off x="584541" y="2810121"/>
            <a:ext cx="208565" cy="3294368"/>
          </a:xfrm>
          <a:prstGeom prst="rect">
            <a:avLst/>
          </a:prstGeom>
        </p:spPr>
        <p:txBody>
          <a:bodyPr lIns="50799" tIns="50799" rIns="50799" bIns="50799" rtlCol="0" anchor="ctr"/>
          <a:lstStyle/>
          <a:p>
            <a:pPr algn="ctr">
              <a:lnSpc>
                <a:spcPts val="2660"/>
              </a:lnSpc>
            </a:pPr>
            <a:endParaRPr dirty="0"/>
          </a:p>
        </p:txBody>
      </p:sp>
      <p:sp>
        <p:nvSpPr>
          <p:cNvPr id="20" name="TextBox 20"/>
          <p:cNvSpPr txBox="1"/>
          <p:nvPr/>
        </p:nvSpPr>
        <p:spPr>
          <a:xfrm>
            <a:off x="1132523" y="2739390"/>
            <a:ext cx="16342995" cy="3114675"/>
          </a:xfrm>
          <a:prstGeom prst="rect">
            <a:avLst/>
          </a:prstGeom>
        </p:spPr>
        <p:txBody>
          <a:bodyPr wrap="square" lIns="0" tIns="0" rIns="0" bIns="0" rtlCol="0" anchor="t">
            <a:noAutofit/>
          </a:bodyPr>
          <a:lstStyle/>
          <a:p>
            <a:pPr algn="l">
              <a:lnSpc>
                <a:spcPct val="150000"/>
              </a:lnSpc>
            </a:pPr>
            <a:r>
              <a:rPr lang="zh-CN" altLang="en-US" sz="6600" spc="200" noProof="0" dirty="0">
                <a:ln>
                  <a:noFill/>
                </a:ln>
                <a:solidFill>
                  <a:schemeClr val="bg1"/>
                </a:solidFill>
                <a:effectLst/>
                <a:uLnTx/>
                <a:uFillTx/>
                <a:latin typeface="Arial" panose="020B0604020202090204" pitchFamily="34" charset="0"/>
                <a:ea typeface="微软雅黑" charset="-122"/>
                <a:cs typeface="+mn-ea"/>
                <a:sym typeface="Arial" panose="020B0604020202090204" pitchFamily="34" charset="0"/>
              </a:rPr>
              <a:t>地铁火灾场景中的</a:t>
            </a:r>
            <a:endParaRPr lang="zh-CN" altLang="en-US" sz="6600" spc="200" noProof="0" dirty="0">
              <a:ln>
                <a:noFill/>
              </a:ln>
              <a:solidFill>
                <a:schemeClr val="bg1"/>
              </a:solidFill>
              <a:effectLst/>
              <a:uLnTx/>
              <a:uFillTx/>
              <a:latin typeface="Arial" panose="020B0604020202090204" pitchFamily="34" charset="0"/>
              <a:ea typeface="微软雅黑" charset="-122"/>
              <a:cs typeface="+mn-ea"/>
              <a:sym typeface="Arial" panose="020B0604020202090204" pitchFamily="34" charset="0"/>
            </a:endParaRPr>
          </a:p>
          <a:p>
            <a:pPr algn="l">
              <a:lnSpc>
                <a:spcPct val="150000"/>
              </a:lnSpc>
            </a:pPr>
            <a:r>
              <a:rPr lang="zh-CN" altLang="en-US" sz="6600" spc="200" noProof="0" dirty="0">
                <a:ln>
                  <a:noFill/>
                </a:ln>
                <a:solidFill>
                  <a:schemeClr val="bg1"/>
                </a:solidFill>
                <a:effectLst/>
                <a:uLnTx/>
                <a:uFillTx/>
                <a:latin typeface="Arial" panose="020B0604020202090204" pitchFamily="34" charset="0"/>
                <a:ea typeface="微软雅黑" charset="-122"/>
                <a:cs typeface="+mn-ea"/>
                <a:sym typeface="Arial" panose="020B0604020202090204" pitchFamily="34" charset="0"/>
              </a:rPr>
              <a:t>人员疏散路径动态优化及仿真研究</a:t>
            </a:r>
            <a:endParaRPr kumimoji="0" lang="zh-CN" altLang="en-US" sz="6600" i="0" u="none" strike="noStrike" kern="1200" cap="none" spc="200" normalizeH="0" baseline="0" noProof="0" dirty="0">
              <a:ln>
                <a:noFill/>
              </a:ln>
              <a:solidFill>
                <a:srgbClr val="003690"/>
              </a:solidFill>
              <a:effectLst/>
              <a:uLnTx/>
              <a:uFillTx/>
              <a:latin typeface="Arial" panose="020B0604020202090204" pitchFamily="34" charset="0"/>
              <a:ea typeface="微软雅黑" charset="-122"/>
              <a:cs typeface="+mn-ea"/>
              <a:sym typeface="Arial" panose="020B0604020202090204" pitchFamily="34" charset="0"/>
            </a:endParaRPr>
          </a:p>
          <a:p>
            <a:pPr algn="l">
              <a:lnSpc>
                <a:spcPts val="16000"/>
              </a:lnSpc>
            </a:pPr>
            <a:endParaRPr lang="en-US" sz="6600" spc="349" dirty="0">
              <a:solidFill>
                <a:schemeClr val="bg1"/>
              </a:solidFill>
              <a:latin typeface="思源宋体-超粗体" panose="02010600030101010101" charset="-122"/>
              <a:ea typeface="思源宋体-超粗体" panose="02010600030101010101" charset="-122"/>
              <a:cs typeface="字由点字倔强黑"/>
              <a:sym typeface="字由点字倔强黑"/>
            </a:endParaRPr>
          </a:p>
        </p:txBody>
      </p:sp>
      <p:sp>
        <p:nvSpPr>
          <p:cNvPr id="21" name="TextBox 21"/>
          <p:cNvSpPr txBox="1"/>
          <p:nvPr/>
        </p:nvSpPr>
        <p:spPr>
          <a:xfrm>
            <a:off x="2069531" y="8133038"/>
            <a:ext cx="1364751" cy="512445"/>
          </a:xfrm>
          <a:prstGeom prst="rect">
            <a:avLst/>
          </a:prstGeom>
        </p:spPr>
        <p:txBody>
          <a:bodyPr lIns="0" tIns="0" rIns="0" bIns="0" rtlCol="0" anchor="t">
            <a:spAutoFit/>
          </a:bodyPr>
          <a:lstStyle/>
          <a:p>
            <a:pPr marL="0" lvl="0" indent="0" algn="l">
              <a:lnSpc>
                <a:spcPts val="4000"/>
              </a:lnSpc>
              <a:spcBef>
                <a:spcPct val="0"/>
              </a:spcBef>
            </a:pPr>
            <a:r>
              <a:rPr lang="en-US" sz="2500" u="none" strike="noStrike" dirty="0">
                <a:solidFill>
                  <a:srgbClr val="861B11"/>
                </a:solidFill>
                <a:latin typeface="思源宋体 2 Bold" panose="02010600030101010101" charset="-122"/>
                <a:ea typeface="思源宋体 2 Bold" panose="02010600030101010101" charset="-122"/>
                <a:cs typeface="思源黑体 1"/>
                <a:sym typeface="思源黑体 1"/>
              </a:rPr>
              <a:t>汇报人：</a:t>
            </a:r>
            <a:endParaRPr lang="en-US" sz="2500" u="none" strike="noStrike" dirty="0">
              <a:solidFill>
                <a:srgbClr val="861B11"/>
              </a:solidFill>
              <a:latin typeface="思源宋体 2 Bold" panose="02010600030101010101" charset="-122"/>
              <a:ea typeface="思源宋体 2 Bold" panose="02010600030101010101" charset="-122"/>
              <a:cs typeface="思源黑体 1"/>
              <a:sym typeface="思源黑体 1"/>
            </a:endParaRPr>
          </a:p>
        </p:txBody>
      </p:sp>
      <p:sp>
        <p:nvSpPr>
          <p:cNvPr id="24" name="TextBox 24"/>
          <p:cNvSpPr txBox="1"/>
          <p:nvPr/>
        </p:nvSpPr>
        <p:spPr>
          <a:xfrm>
            <a:off x="6539567" y="8133038"/>
            <a:ext cx="1364751" cy="512445"/>
          </a:xfrm>
          <a:prstGeom prst="rect">
            <a:avLst/>
          </a:prstGeom>
        </p:spPr>
        <p:txBody>
          <a:bodyPr lIns="0" tIns="0" rIns="0" bIns="0" rtlCol="0" anchor="t">
            <a:spAutoFit/>
          </a:bodyPr>
          <a:lstStyle/>
          <a:p>
            <a:pPr marL="0" lvl="0" indent="0" algn="l">
              <a:lnSpc>
                <a:spcPts val="4000"/>
              </a:lnSpc>
              <a:spcBef>
                <a:spcPct val="0"/>
              </a:spcBef>
            </a:pPr>
            <a:r>
              <a:rPr lang="en-US" sz="2500" dirty="0">
                <a:solidFill>
                  <a:srgbClr val="861B11"/>
                </a:solidFill>
                <a:latin typeface="思源宋体 2 Bold" panose="02010600030101010101" charset="-122"/>
                <a:ea typeface="思源宋体 2 Bold" panose="02010600030101010101" charset="-122"/>
                <a:cs typeface="思源黑体 1"/>
                <a:sym typeface="思源黑体 1"/>
              </a:rPr>
              <a:t>时    间</a:t>
            </a:r>
            <a:r>
              <a:rPr lang="en-US" sz="2500" u="none" strike="noStrike" dirty="0">
                <a:solidFill>
                  <a:srgbClr val="861B11"/>
                </a:solidFill>
                <a:latin typeface="思源宋体 2 Bold" panose="02010600030101010101" charset="-122"/>
                <a:ea typeface="思源宋体 2 Bold" panose="02010600030101010101" charset="-122"/>
                <a:cs typeface="思源黑体 1"/>
                <a:sym typeface="思源黑体 1"/>
              </a:rPr>
              <a:t>：</a:t>
            </a:r>
            <a:endParaRPr lang="en-US" sz="2500" u="none" strike="noStrike" dirty="0">
              <a:solidFill>
                <a:srgbClr val="861B11"/>
              </a:solidFill>
              <a:latin typeface="思源宋体 2 Bold" panose="02010600030101010101" charset="-122"/>
              <a:ea typeface="思源宋体 2 Bold" panose="02010600030101010101" charset="-122"/>
              <a:cs typeface="思源黑体 1"/>
              <a:sym typeface="思源黑体 1"/>
            </a:endParaRPr>
          </a:p>
        </p:txBody>
      </p:sp>
      <p:sp>
        <p:nvSpPr>
          <p:cNvPr id="25" name="TextBox 25"/>
          <p:cNvSpPr txBox="1"/>
          <p:nvPr/>
        </p:nvSpPr>
        <p:spPr>
          <a:xfrm>
            <a:off x="7904480" y="8133080"/>
            <a:ext cx="1933575" cy="512445"/>
          </a:xfrm>
          <a:prstGeom prst="rect">
            <a:avLst/>
          </a:prstGeom>
        </p:spPr>
        <p:txBody>
          <a:bodyPr wrap="square" lIns="0" tIns="0" rIns="0" bIns="0" rtlCol="0" anchor="t">
            <a:spAutoFit/>
          </a:bodyPr>
          <a:lstStyle/>
          <a:p>
            <a:pPr marL="0" lvl="0" indent="0" algn="l">
              <a:lnSpc>
                <a:spcPts val="4000"/>
              </a:lnSpc>
              <a:spcBef>
                <a:spcPct val="0"/>
              </a:spcBef>
            </a:pPr>
            <a:r>
              <a:rPr lang="en-US" sz="2500" dirty="0">
                <a:solidFill>
                  <a:srgbClr val="861B11"/>
                </a:solidFill>
                <a:latin typeface="思源宋体 2 Bold" panose="02010600030101010101" charset="-122"/>
                <a:ea typeface="思源宋体 2 Bold" panose="02010600030101010101" charset="-122"/>
                <a:cs typeface="思源黑体 1"/>
                <a:sym typeface="思源黑体 1"/>
              </a:rPr>
              <a:t>2025.09.21</a:t>
            </a:r>
            <a:endParaRPr lang="en-US" sz="2500" dirty="0">
              <a:solidFill>
                <a:srgbClr val="861B11"/>
              </a:solidFill>
              <a:latin typeface="思源宋体 2 Bold" panose="02010600030101010101" charset="-122"/>
              <a:ea typeface="思源宋体 2 Bold" panose="02010600030101010101" charset="-122"/>
              <a:cs typeface="思源黑体 1"/>
              <a:sym typeface="思源黑体 1"/>
            </a:endParaRPr>
          </a:p>
        </p:txBody>
      </p:sp>
      <p:sp>
        <p:nvSpPr>
          <p:cNvPr id="34" name="TextBox 23"/>
          <p:cNvSpPr txBox="1"/>
          <p:nvPr/>
        </p:nvSpPr>
        <p:spPr>
          <a:xfrm>
            <a:off x="1294130" y="9408795"/>
            <a:ext cx="3720465" cy="512445"/>
          </a:xfrm>
          <a:prstGeom prst="rect">
            <a:avLst/>
          </a:prstGeom>
        </p:spPr>
        <p:txBody>
          <a:bodyPr wrap="square" lIns="0" tIns="0" rIns="0" bIns="0" rtlCol="0" anchor="t">
            <a:noAutofit/>
          </a:bodyPr>
          <a:lstStyle/>
          <a:p>
            <a:pPr algn="just">
              <a:lnSpc>
                <a:spcPts val="4200"/>
              </a:lnSpc>
              <a:spcBef>
                <a:spcPct val="0"/>
              </a:spcBef>
            </a:pPr>
            <a:r>
              <a:rPr lang="zh-CN" altLang="en-US" sz="2500" spc="300" dirty="0">
                <a:solidFill>
                  <a:srgbClr val="861B11"/>
                </a:solidFill>
                <a:latin typeface="思源宋体-超粗体" panose="02010600030101010101" charset="-122"/>
                <a:ea typeface="思源宋体-超粗体" panose="02010600030101010101" charset="-122"/>
                <a:cs typeface="ABeeZee Bold"/>
                <a:sym typeface="ABeeZee Bold"/>
              </a:rPr>
              <a:t>经济管理学院</a:t>
            </a:r>
            <a:endParaRPr lang="zh-CN" altLang="en-US" sz="2500" spc="300" dirty="0">
              <a:solidFill>
                <a:srgbClr val="861B11"/>
              </a:solidFill>
              <a:latin typeface="思源宋体-超粗体" panose="02010600030101010101" charset="-122"/>
              <a:ea typeface="思源宋体-超粗体" panose="02010600030101010101" charset="-122"/>
              <a:cs typeface="ABeeZee Bold"/>
              <a:sym typeface="ABeeZee Bold"/>
            </a:endParaRPr>
          </a:p>
        </p:txBody>
      </p:sp>
      <p:sp>
        <p:nvSpPr>
          <p:cNvPr id="35" name="AutoShape 14"/>
          <p:cNvSpPr/>
          <p:nvPr/>
        </p:nvSpPr>
        <p:spPr>
          <a:xfrm>
            <a:off x="5334000" y="9355382"/>
            <a:ext cx="9525" cy="719943"/>
          </a:xfrm>
          <a:prstGeom prst="line">
            <a:avLst/>
          </a:prstGeom>
          <a:ln w="9525" cap="rnd">
            <a:solidFill>
              <a:srgbClr val="0B0B0B"/>
            </a:solidFill>
            <a:prstDash val="solid"/>
            <a:headEnd type="none" w="sm" len="sm"/>
            <a:tailEnd type="none" w="sm" len="sm"/>
          </a:ln>
        </p:spPr>
        <p:txBody>
          <a:bodyPr/>
          <a:lstStyle/>
          <a:p>
            <a:endParaRPr lang="zh-CN" altLang="en-US"/>
          </a:p>
        </p:txBody>
      </p:sp>
      <p:sp>
        <p:nvSpPr>
          <p:cNvPr id="36" name="TextBox 23"/>
          <p:cNvSpPr txBox="1"/>
          <p:nvPr/>
        </p:nvSpPr>
        <p:spPr>
          <a:xfrm>
            <a:off x="5781675" y="9408795"/>
            <a:ext cx="6983095" cy="720725"/>
          </a:xfrm>
          <a:prstGeom prst="rect">
            <a:avLst/>
          </a:prstGeom>
        </p:spPr>
        <p:txBody>
          <a:bodyPr wrap="square" lIns="0" tIns="0" rIns="0" bIns="0" rtlCol="0" anchor="t">
            <a:noAutofit/>
          </a:bodyPr>
          <a:lstStyle/>
          <a:p>
            <a:pPr algn="just">
              <a:lnSpc>
                <a:spcPts val="4200"/>
              </a:lnSpc>
              <a:spcBef>
                <a:spcPct val="0"/>
              </a:spcBef>
            </a:pPr>
            <a:r>
              <a:rPr lang="zh-CN" altLang="en-US" sz="2500" spc="300" dirty="0">
                <a:solidFill>
                  <a:srgbClr val="861B11"/>
                </a:solidFill>
                <a:latin typeface="思源宋体-超粗体" panose="02010600030101010101" charset="-122"/>
                <a:ea typeface="思源宋体-超粗体" panose="02010600030101010101" charset="-122"/>
                <a:cs typeface="ABeeZee Bold"/>
                <a:sym typeface="ABeeZee Bold"/>
              </a:rPr>
              <a:t>工程管理专业</a:t>
            </a:r>
            <a:r>
              <a:rPr lang="en-US" altLang="zh-CN" sz="2500" spc="300" dirty="0">
                <a:solidFill>
                  <a:srgbClr val="861B11"/>
                </a:solidFill>
                <a:latin typeface="思源宋体-超粗体" panose="02010600030101010101" charset="-122"/>
                <a:ea typeface="思源宋体-超粗体" panose="02010600030101010101" charset="-122"/>
                <a:cs typeface="ABeeZee Bold"/>
                <a:sym typeface="ABeeZee Bold"/>
              </a:rPr>
              <a:t>（MEM）</a:t>
            </a:r>
            <a:endParaRPr lang="en-US" altLang="zh-CN" sz="2500" spc="300" dirty="0">
              <a:solidFill>
                <a:srgbClr val="861B11"/>
              </a:solidFill>
              <a:latin typeface="思源宋体-超粗体" panose="02010600030101010101" charset="-122"/>
              <a:ea typeface="思源宋体-超粗体" panose="02010600030101010101" charset="-122"/>
              <a:cs typeface="ABeeZee Bold"/>
              <a:sym typeface="ABeeZee Bold"/>
            </a:endParaRPr>
          </a:p>
          <a:p>
            <a:pPr algn="just">
              <a:lnSpc>
                <a:spcPts val="4200"/>
              </a:lnSpc>
              <a:spcBef>
                <a:spcPct val="0"/>
              </a:spcBef>
            </a:pPr>
            <a:endParaRPr lang="en-US" sz="2500" spc="300" dirty="0">
              <a:solidFill>
                <a:srgbClr val="861B11"/>
              </a:solidFill>
              <a:latin typeface="思源宋体-超粗体" panose="02010600030101010101" charset="-122"/>
              <a:ea typeface="思源宋体-超粗体" panose="02010600030101010101" charset="-122"/>
              <a:cs typeface="ABeeZee Bold"/>
              <a:sym typeface="ABeeZee Bold"/>
            </a:endParaRPr>
          </a:p>
        </p:txBody>
      </p:sp>
      <p:pic>
        <p:nvPicPr>
          <p:cNvPr id="39" name="图片 38"/>
          <p:cNvPicPr>
            <a:picLocks noChangeAspect="1"/>
          </p:cNvPicPr>
          <p:nvPr/>
        </p:nvPicPr>
        <p:blipFill>
          <a:blip r:embed="rId6" cstate="print">
            <a:duotone>
              <a:schemeClr val="accent2">
                <a:shade val="45000"/>
                <a:satMod val="135000"/>
              </a:schemeClr>
              <a:prstClr val="white"/>
            </a:duotone>
            <a:extLst>
              <a:ext uri="{BEBA8EAE-BF5A-486C-A8C5-ECC9F3942E4B}">
                <a14:imgProps xmlns:a14="http://schemas.microsoft.com/office/drawing/2010/main">
                  <a14:imgLayer r:embed="rId7">
                    <a14:imgEffect>
                      <a14:saturation sat="66000"/>
                    </a14:imgEffect>
                  </a14:imgLayer>
                </a14:imgProps>
              </a:ext>
              <a:ext uri="{28A0092B-C50C-407E-A947-70E740481C1C}">
                <a14:useLocalDpi xmlns:a14="http://schemas.microsoft.com/office/drawing/2010/main" val="0"/>
              </a:ext>
            </a:extLst>
          </a:blip>
          <a:stretch>
            <a:fillRect/>
          </a:stretch>
        </p:blipFill>
        <p:spPr>
          <a:xfrm>
            <a:off x="15144165" y="-388527"/>
            <a:ext cx="2618234" cy="2618816"/>
          </a:xfrm>
          <a:prstGeom prst="rect">
            <a:avLst/>
          </a:prstGeom>
        </p:spPr>
      </p:pic>
      <p:sp>
        <p:nvSpPr>
          <p:cNvPr id="2" name="TextBox 23"/>
          <p:cNvSpPr txBox="1"/>
          <p:nvPr>
            <p:custDataLst>
              <p:tags r:id="rId8"/>
            </p:custDataLst>
          </p:nvPr>
        </p:nvSpPr>
        <p:spPr>
          <a:xfrm>
            <a:off x="1219200" y="5676900"/>
            <a:ext cx="14131925" cy="993775"/>
          </a:xfrm>
          <a:prstGeom prst="rect">
            <a:avLst/>
          </a:prstGeom>
        </p:spPr>
        <p:txBody>
          <a:bodyPr wrap="square" lIns="0" tIns="0" rIns="0" bIns="0" rtlCol="0" anchor="t">
            <a:noAutofit/>
          </a:bodyPr>
          <a:p>
            <a:pPr algn="just">
              <a:lnSpc>
                <a:spcPts val="4200"/>
              </a:lnSpc>
              <a:spcBef>
                <a:spcPct val="0"/>
              </a:spcBef>
            </a:pPr>
            <a:r>
              <a:rPr lang="en-US" altLang="zh-CN" sz="2400" spc="300" dirty="0">
                <a:solidFill>
                  <a:schemeClr val="bg1"/>
                </a:solidFill>
                <a:uFillTx/>
                <a:latin typeface="Times New Roman Regular" panose="02020503050405090304" charset="0"/>
                <a:ea typeface="思源宋体-超粗体" panose="02010600030101010101" charset="-122"/>
                <a:cs typeface="Times New Roman Regular" panose="02020503050405090304" charset="0"/>
                <a:sym typeface="ABeeZee Bold"/>
              </a:rPr>
              <a:t>Dynamic optimisation and simulation of evacuation routes in metro fire scenarios</a:t>
            </a:r>
            <a:endParaRPr lang="en-US" altLang="zh-CN" sz="2400" spc="300" dirty="0">
              <a:solidFill>
                <a:schemeClr val="bg1"/>
              </a:solidFill>
              <a:uFillTx/>
              <a:latin typeface="Times New Roman Regular" panose="02020503050405090304" charset="0"/>
              <a:ea typeface="思源宋体-超粗体" panose="02010600030101010101" charset="-122"/>
              <a:cs typeface="Times New Roman Regular" panose="02020503050405090304" charset="0"/>
              <a:sym typeface="ABeeZee Bold"/>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advTm="16995">
        <p159:morph option="byObject"/>
      </p:transition>
    </mc:Choice>
    <mc:Fallback>
      <p:transition spd="slow" advTm="16995">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文本占位符 38"/>
          <p:cNvSpPr>
            <a:spLocks noGrp="1"/>
          </p:cNvSpPr>
          <p:nvPr>
            <p:ph type="body" sz="quarter" idx="10"/>
          </p:nvPr>
        </p:nvSpPr>
        <p:spPr>
          <a:xfrm>
            <a:off x="11052175" y="1511935"/>
            <a:ext cx="4584065" cy="946150"/>
          </a:xfrm>
        </p:spPr>
        <p:txBody>
          <a:bodyPr anchor="ctr" anchorCtr="0">
            <a:normAutofit lnSpcReduction="20000"/>
          </a:bodyPr>
          <a:lstStyle/>
          <a:p>
            <a:pPr fontAlgn="ctr"/>
            <a:r>
              <a:rPr lang="zh-CN" altLang="en-US" dirty="0">
                <a:sym typeface="Arial" panose="020B0604020202090204" pitchFamily="34" charset="0"/>
              </a:rPr>
              <a:t>选题背景及</a:t>
            </a:r>
            <a:r>
              <a:rPr lang="zh-CN" altLang="en-US" dirty="0">
                <a:sym typeface="Arial" panose="020B0604020202090204" pitchFamily="34" charset="0"/>
              </a:rPr>
              <a:t>现状</a:t>
            </a:r>
            <a:endParaRPr lang="zh-CN" altLang="en-US" dirty="0">
              <a:sym typeface="Arial" panose="020B0604020202090204" pitchFamily="34" charset="0"/>
            </a:endParaRPr>
          </a:p>
        </p:txBody>
      </p:sp>
      <p:sp>
        <p:nvSpPr>
          <p:cNvPr id="40" name="文本占位符 39"/>
          <p:cNvSpPr>
            <a:spLocks noGrp="1"/>
          </p:cNvSpPr>
          <p:nvPr>
            <p:ph type="body" sz="quarter" idx="11"/>
          </p:nvPr>
        </p:nvSpPr>
        <p:spPr>
          <a:xfrm>
            <a:off x="11052471" y="3139923"/>
            <a:ext cx="4583768" cy="730885"/>
          </a:xfrm>
        </p:spPr>
        <p:txBody>
          <a:bodyPr>
            <a:normAutofit lnSpcReduction="10000"/>
          </a:bodyPr>
          <a:lstStyle/>
          <a:p>
            <a:r>
              <a:rPr lang="zh-CN" altLang="en-US" dirty="0">
                <a:sym typeface="Arial" panose="020B0604020202090204" pitchFamily="34" charset="0"/>
              </a:rPr>
              <a:t>研究目标和内容</a:t>
            </a:r>
            <a:endParaRPr lang="zh-CN" altLang="en-US" dirty="0">
              <a:sym typeface="Arial" panose="020B0604020202090204" pitchFamily="34" charset="0"/>
            </a:endParaRPr>
          </a:p>
        </p:txBody>
      </p:sp>
      <p:sp>
        <p:nvSpPr>
          <p:cNvPr id="41" name="文本占位符 40"/>
          <p:cNvSpPr>
            <a:spLocks noGrp="1"/>
          </p:cNvSpPr>
          <p:nvPr>
            <p:ph type="body" sz="quarter" idx="12"/>
          </p:nvPr>
        </p:nvSpPr>
        <p:spPr>
          <a:xfrm>
            <a:off x="11052175" y="4767580"/>
            <a:ext cx="5438775" cy="730885"/>
          </a:xfrm>
        </p:spPr>
        <p:txBody>
          <a:bodyPr>
            <a:noAutofit/>
          </a:bodyPr>
          <a:lstStyle/>
          <a:p>
            <a:r>
              <a:rPr lang="zh-CN" altLang="en-US" sz="4100" dirty="0">
                <a:sym typeface="Arial" panose="020B0604020202090204" pitchFamily="34" charset="0"/>
              </a:rPr>
              <a:t>研究方法与技术路线</a:t>
            </a:r>
            <a:endParaRPr lang="zh-CN" altLang="en-US" sz="4100" dirty="0">
              <a:sym typeface="Arial" panose="020B0604020202090204" pitchFamily="34" charset="0"/>
            </a:endParaRPr>
          </a:p>
        </p:txBody>
      </p:sp>
      <p:sp>
        <p:nvSpPr>
          <p:cNvPr id="42" name="文本占位符 41"/>
          <p:cNvSpPr>
            <a:spLocks noGrp="1"/>
          </p:cNvSpPr>
          <p:nvPr>
            <p:ph type="body" sz="quarter" idx="14"/>
          </p:nvPr>
        </p:nvSpPr>
        <p:spPr>
          <a:xfrm>
            <a:off x="11052175" y="6395085"/>
            <a:ext cx="6505575" cy="730885"/>
          </a:xfrm>
        </p:spPr>
        <p:txBody>
          <a:bodyPr>
            <a:noAutofit/>
          </a:bodyPr>
          <a:lstStyle/>
          <a:p>
            <a:r>
              <a:rPr lang="zh-CN" altLang="en-US" sz="4100" dirty="0">
                <a:sym typeface="Arial" panose="020B0604020202090204" pitchFamily="34" charset="0"/>
              </a:rPr>
              <a:t>试验方案及其可行性研究</a:t>
            </a:r>
            <a:endParaRPr lang="zh-CN" altLang="en-US" sz="4100" dirty="0">
              <a:sym typeface="Arial" panose="020B0604020202090204" pitchFamily="34" charset="0"/>
            </a:endParaRPr>
          </a:p>
        </p:txBody>
      </p:sp>
      <p:sp>
        <p:nvSpPr>
          <p:cNvPr id="5" name="文本占位符 41"/>
          <p:cNvSpPr>
            <a:spLocks noGrp="1"/>
          </p:cNvSpPr>
          <p:nvPr>
            <p:custDataLst>
              <p:tags r:id="rId1"/>
            </p:custDataLst>
          </p:nvPr>
        </p:nvSpPr>
        <p:spPr>
          <a:xfrm>
            <a:off x="11125496" y="8038948"/>
            <a:ext cx="4583768" cy="730885"/>
          </a:xfrm>
          <a:prstGeom prst="rect">
            <a:avLst/>
          </a:prstGeom>
        </p:spPr>
        <p:txBody>
          <a:bodyPr vert="horz" lIns="91440" tIns="45720" rIns="91440" bIns="45720" rtlCol="0">
            <a:normAutofit fontScale="90000"/>
          </a:bodyPr>
          <a:lstStyle>
            <a:lvl1pPr marL="0" indent="0" algn="l" defTabSz="914400" rtl="0" eaLnBrk="1" latinLnBrk="0" hangingPunct="1">
              <a:spcBef>
                <a:spcPct val="20000"/>
              </a:spcBef>
              <a:buFont typeface="Arial" panose="020B0604020202090204" pitchFamily="34" charset="0"/>
              <a:buNone/>
              <a:defRPr lang="zh-CN" altLang="en-US" sz="4200" kern="1200" dirty="0" smtClean="0">
                <a:solidFill>
                  <a:srgbClr val="000000">
                    <a:lumMod val="85000"/>
                    <a:lumOff val="15000"/>
                  </a:srgbClr>
                </a:solidFill>
                <a:latin typeface="微软雅黑" charset="-122"/>
                <a:ea typeface="+mn-ea"/>
                <a:cs typeface="+mn-cs"/>
              </a:defRPr>
            </a:lvl1pPr>
            <a:lvl2pPr marL="685800" indent="0" algn="l" defTabSz="914400" rtl="0" eaLnBrk="1" latinLnBrk="0" hangingPunct="1">
              <a:spcBef>
                <a:spcPct val="20000"/>
              </a:spcBef>
              <a:buFont typeface="Arial" panose="020B0604020202090204" pitchFamily="34" charset="0"/>
              <a:buNone/>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r>
              <a:rPr lang="zh-CN" altLang="en-US" dirty="0">
                <a:sym typeface="Arial" panose="020B0604020202090204" pitchFamily="34" charset="0"/>
              </a:rPr>
              <a:t>论文结构框架</a:t>
            </a:r>
            <a:endParaRPr lang="zh-CN" altLang="en-US" dirty="0">
              <a:sym typeface="Arial" panose="020B0604020202090204" pitchFamily="34" charset="0"/>
            </a:endParaRPr>
          </a:p>
        </p:txBody>
      </p:sp>
      <p:sp>
        <p:nvSpPr>
          <p:cNvPr id="9" name="圆角矩形 8"/>
          <p:cNvSpPr/>
          <p:nvPr/>
        </p:nvSpPr>
        <p:spPr>
          <a:xfrm>
            <a:off x="3207385" y="2019300"/>
            <a:ext cx="202565" cy="1409065"/>
          </a:xfrm>
          <a:prstGeom prst="roundRect">
            <a:avLst>
              <a:gd name="adj" fmla="val 50000"/>
            </a:avLst>
          </a:prstGeom>
          <a:solidFill>
            <a:srgbClr val="861B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pic>
        <p:nvPicPr>
          <p:cNvPr id="12" name="图片 11"/>
          <p:cNvPicPr>
            <a:picLocks noChangeAspect="1"/>
          </p:cNvPicPr>
          <p:nvPr>
            <p:custDataLst>
              <p:tags r:id="rId2"/>
            </p:custDataLst>
          </p:nvPr>
        </p:nvPicPr>
        <p:blipFill>
          <a:blip r:embed="rId3"/>
          <a:stretch>
            <a:fillRect/>
          </a:stretch>
        </p:blipFill>
        <p:spPr>
          <a:xfrm>
            <a:off x="3200400" y="4381500"/>
            <a:ext cx="3687445" cy="3509010"/>
          </a:xfrm>
          <a:prstGeom prst="rect">
            <a:avLst/>
          </a:prstGeom>
        </p:spPr>
      </p:pic>
    </p:spTree>
  </p:cSld>
  <p:clrMapOvr>
    <a:masterClrMapping/>
  </p:clrMapOvr>
  <p:transition advTm="4816"/>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2317736" y="2910812"/>
            <a:ext cx="3673568" cy="922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150" normalizeH="0" baseline="0" noProof="0" dirty="0">
                <a:ln>
                  <a:noFill/>
                </a:ln>
                <a:solidFill>
                  <a:srgbClr val="595959"/>
                </a:solidFill>
                <a:effectLst/>
                <a:uLnTx/>
                <a:uFillTx/>
                <a:latin typeface="Arial" panose="020B0604020202090204" pitchFamily="34" charset="0"/>
                <a:ea typeface="微软雅黑" charset="-122"/>
                <a:cs typeface="+mn-ea"/>
                <a:sym typeface="Arial" panose="020B0604020202090204" pitchFamily="34" charset="0"/>
              </a:rPr>
              <a:t>PART 01</a:t>
            </a:r>
            <a:endParaRPr kumimoji="0" lang="zh-CN" altLang="en-US" sz="5400" b="0" i="0" u="none" strike="noStrike" kern="1200" cap="none" spc="150" normalizeH="0" baseline="0" noProof="0" dirty="0">
              <a:ln>
                <a:noFill/>
              </a:ln>
              <a:solidFill>
                <a:srgbClr val="595959"/>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24" name="文本框 23"/>
          <p:cNvSpPr txBox="1"/>
          <p:nvPr/>
        </p:nvSpPr>
        <p:spPr>
          <a:xfrm>
            <a:off x="2272665" y="4442460"/>
            <a:ext cx="8620125" cy="133794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8100" b="1" i="0" u="none" strike="noStrike" kern="1200" cap="none" spc="300" normalizeH="0" baseline="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rPr>
              <a:t>研究背景和</a:t>
            </a:r>
            <a:r>
              <a:rPr kumimoji="0" lang="zh-CN" altLang="en-US" sz="8100" b="1" i="0" u="none" strike="noStrike" kern="1200" cap="none" spc="300" normalizeH="0" baseline="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rPr>
              <a:t>意义</a:t>
            </a:r>
            <a:endParaRPr kumimoji="0" lang="zh-CN" altLang="en-US" sz="8100" b="1" i="0" u="none" strike="noStrike" kern="1200" cap="none" spc="300" normalizeH="0" baseline="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70" name="矩形 69"/>
          <p:cNvSpPr/>
          <p:nvPr/>
        </p:nvSpPr>
        <p:spPr>
          <a:xfrm>
            <a:off x="2450009" y="4169864"/>
            <a:ext cx="997917" cy="68580"/>
          </a:xfrm>
          <a:prstGeom prst="rect">
            <a:avLst/>
          </a:prstGeom>
          <a:solidFill>
            <a:srgbClr val="861B11"/>
          </a:solidFill>
          <a:ln>
            <a:noFill/>
          </a:ln>
        </p:spPr>
        <p:txBody>
          <a:bodyPr vert="horz" wrap="square" lIns="137160" tIns="68580" rIns="137160" bIns="68580" numCol="1" anchor="t" anchorCtr="0" compatLnSpc="1"/>
          <a:lstStyle/>
          <a:p>
            <a:endParaRPr lang="zh-CN" altLang="en-US" sz="2700">
              <a:solidFill>
                <a:srgbClr val="FF0000"/>
              </a:solidFill>
              <a:latin typeface="Arial" panose="020B0604020202090204" pitchFamily="34" charset="0"/>
              <a:ea typeface="微软雅黑" charset="-122"/>
              <a:cs typeface="+mn-ea"/>
              <a:sym typeface="Arial" panose="020B0604020202090204" pitchFamily="34" charset="0"/>
            </a:endParaRPr>
          </a:p>
        </p:txBody>
      </p:sp>
      <p:sp>
        <p:nvSpPr>
          <p:cNvPr id="72" name="矩形 71"/>
          <p:cNvSpPr/>
          <p:nvPr/>
        </p:nvSpPr>
        <p:spPr>
          <a:xfrm>
            <a:off x="2272665" y="5866130"/>
            <a:ext cx="10977245" cy="737235"/>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rPr>
              <a:t>Research </a:t>
            </a:r>
            <a:r>
              <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rPr>
              <a:t>background and significance</a:t>
            </a:r>
            <a:endPar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endParaRPr>
          </a:p>
        </p:txBody>
      </p:sp>
      <p:pic>
        <p:nvPicPr>
          <p:cNvPr id="2" name="图片 1"/>
          <p:cNvPicPr>
            <a:picLocks noChangeAspect="1"/>
          </p:cNvPicPr>
          <p:nvPr>
            <p:custDataLst>
              <p:tags r:id="rId1"/>
            </p:custDataLst>
          </p:nvPr>
        </p:nvPicPr>
        <p:blipFill>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14984145" y="-495207"/>
            <a:ext cx="2618234" cy="2618816"/>
          </a:xfrm>
          <a:prstGeom prst="rect">
            <a:avLst/>
          </a:prstGeom>
        </p:spPr>
      </p:pic>
      <p:sp>
        <p:nvSpPr>
          <p:cNvPr id="4" name="Freeform 5"/>
          <p:cNvSpPr/>
          <p:nvPr>
            <p:custDataLst>
              <p:tags r:id="rId4"/>
            </p:custDataLst>
          </p:nvPr>
        </p:nvSpPr>
        <p:spPr>
          <a:xfrm rot="862994">
            <a:off x="-8112194" y="7634155"/>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5">
              <a:alphaModFix amt="19999"/>
              <a:duotone>
                <a:schemeClr val="accent2">
                  <a:shade val="45000"/>
                  <a:satMod val="135000"/>
                </a:schemeClr>
                <a:prstClr val="white"/>
              </a:duotone>
            </a:blip>
            <a:stretch>
              <a:fillRect/>
            </a:stretch>
          </a:blipFill>
          <a:ln cap="sq">
            <a:noFill/>
            <a:prstDash val="solid"/>
            <a:miter/>
          </a:ln>
        </p:spPr>
        <p:txBody>
          <a:bodyPr/>
          <a:p>
            <a:endParaRPr lang="zh-CN" altLang="en-US"/>
          </a:p>
        </p:txBody>
      </p:sp>
      <p:sp>
        <p:nvSpPr>
          <p:cNvPr id="5" name="Freeform 4"/>
          <p:cNvSpPr/>
          <p:nvPr>
            <p:custDataLst>
              <p:tags r:id="rId6"/>
            </p:custDataLst>
          </p:nvPr>
        </p:nvSpPr>
        <p:spPr>
          <a:xfrm rot="-1204851" flipV="1">
            <a:off x="5745427" y="8194128"/>
            <a:ext cx="13996660" cy="4723021"/>
          </a:xfrm>
          <a:custGeom>
            <a:avLst/>
            <a:gdLst/>
            <a:ahLst/>
            <a:cxnLst/>
            <a:rect l="l" t="t" r="r" b="b"/>
            <a:pathLst>
              <a:path w="13996660" h="4723021">
                <a:moveTo>
                  <a:pt x="0" y="4723021"/>
                </a:moveTo>
                <a:lnTo>
                  <a:pt x="13996660" y="4723021"/>
                </a:lnTo>
                <a:lnTo>
                  <a:pt x="13996660" y="0"/>
                </a:lnTo>
                <a:lnTo>
                  <a:pt x="0" y="0"/>
                </a:lnTo>
                <a:lnTo>
                  <a:pt x="0" y="4723021"/>
                </a:lnTo>
                <a:close/>
              </a:path>
            </a:pathLst>
          </a:custGeom>
          <a:blipFill>
            <a:blip r:embed="rId5">
              <a:alphaModFix amt="18000"/>
              <a:duotone>
                <a:schemeClr val="accent2">
                  <a:shade val="45000"/>
                  <a:satMod val="135000"/>
                </a:schemeClr>
                <a:prstClr val="white"/>
              </a:duotone>
            </a:blip>
            <a:stretch>
              <a:fillRect r="-24401"/>
            </a:stretch>
          </a:blipFill>
          <a:ln cap="sq">
            <a:noFill/>
            <a:prstDash val="solid"/>
            <a:miter/>
          </a:ln>
        </p:spPr>
        <p:txBody>
          <a:bodyPr/>
          <a:p>
            <a:endParaRPr lang="zh-CN" altLang="en-US"/>
          </a:p>
        </p:txBody>
      </p:sp>
    </p:spTree>
  </p:cSld>
  <p:clrMapOvr>
    <a:masterClrMapping/>
  </p:clrMapOvr>
  <p:transition advTm="2152"/>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r>
              <a:rPr lang="en-US" altLang="zh-CN" sz="2700">
                <a:sym typeface="Arial" panose="020B0604020202090204" pitchFamily="34" charset="0"/>
              </a:rPr>
              <a:t>&lt; </a:t>
            </a:r>
            <a:fld id="{A548B57D-AE10-4CF7-A9DF-59FEFA91B28E}" type="slidenum">
              <a:rPr lang="zh-CN" altLang="en-US" sz="2700" smtClean="0">
                <a:sym typeface="Arial" panose="020B0604020202090204" pitchFamily="34" charset="0"/>
              </a:rPr>
            </a:fld>
            <a:r>
              <a:rPr lang="zh-CN" altLang="en-US" sz="2700">
                <a:sym typeface="Arial" panose="020B0604020202090204" pitchFamily="34" charset="0"/>
              </a:rPr>
              <a:t> </a:t>
            </a:r>
            <a:r>
              <a:rPr lang="en-US" altLang="zh-CN" sz="2700">
                <a:sym typeface="Arial" panose="020B0604020202090204" pitchFamily="34" charset="0"/>
              </a:rPr>
              <a:t>&gt;</a:t>
            </a:r>
            <a:endParaRPr lang="zh-CN" altLang="en-US" sz="2700" dirty="0">
              <a:sym typeface="Arial" panose="020B0604020202090204" pitchFamily="34" charset="0"/>
            </a:endParaRPr>
          </a:p>
        </p:txBody>
      </p:sp>
      <p:sp>
        <p:nvSpPr>
          <p:cNvPr id="2" name="标题 1"/>
          <p:cNvSpPr>
            <a:spLocks noGrp="1"/>
          </p:cNvSpPr>
          <p:nvPr>
            <p:ph type="title"/>
          </p:nvPr>
        </p:nvSpPr>
        <p:spPr/>
        <p:txBody>
          <a:bodyPr/>
          <a:lstStyle/>
          <a:p>
            <a:r>
              <a:rPr lang="en-US" altLang="zh-CN" dirty="0">
                <a:sym typeface="Arial" panose="020B0604020202090204" pitchFamily="34" charset="0"/>
              </a:rPr>
              <a:t>1.1 </a:t>
            </a:r>
            <a:r>
              <a:rPr lang="zh-CN" altLang="en-US" dirty="0">
                <a:sym typeface="Arial" panose="020B0604020202090204" pitchFamily="34" charset="0"/>
              </a:rPr>
              <a:t>研究</a:t>
            </a:r>
            <a:r>
              <a:rPr lang="zh-CN" altLang="en-US" dirty="0">
                <a:sym typeface="Arial" panose="020B0604020202090204" pitchFamily="34" charset="0"/>
              </a:rPr>
              <a:t>背景</a:t>
            </a:r>
            <a:endParaRPr lang="zh-CN" altLang="en-US" dirty="0">
              <a:sym typeface="Arial" panose="020B0604020202090204" pitchFamily="34" charset="0"/>
            </a:endParaRPr>
          </a:p>
        </p:txBody>
      </p:sp>
      <p:sp>
        <p:nvSpPr>
          <p:cNvPr id="3" name="文本占位符 2"/>
          <p:cNvSpPr>
            <a:spLocks noGrp="1"/>
          </p:cNvSpPr>
          <p:nvPr>
            <p:ph type="body" sz="quarter" idx="10"/>
          </p:nvPr>
        </p:nvSpPr>
        <p:spPr>
          <a:xfrm>
            <a:off x="762000" y="1416685"/>
            <a:ext cx="10744200" cy="926465"/>
          </a:xfrm>
        </p:spPr>
        <p:txBody>
          <a:bodyPr>
            <a:normAutofit/>
          </a:bodyPr>
          <a:lstStyle/>
          <a:p>
            <a:r>
              <a:rPr lang="zh-CN" altLang="en-US" dirty="0">
                <a:sym typeface="Arial" panose="020B0604020202090204" pitchFamily="34" charset="0"/>
              </a:rPr>
              <a:t>我国轨道交通运营里程居世界</a:t>
            </a:r>
            <a:r>
              <a:rPr lang="zh-CN" altLang="en-US" dirty="0">
                <a:sym typeface="Arial" panose="020B0604020202090204" pitchFamily="34" charset="0"/>
              </a:rPr>
              <a:t>第一</a:t>
            </a:r>
            <a:endParaRPr lang="zh-CN" altLang="en-US" dirty="0">
              <a:sym typeface="Arial" panose="020B0604020202090204" pitchFamily="34" charset="0"/>
            </a:endParaRPr>
          </a:p>
        </p:txBody>
      </p:sp>
      <p:sp>
        <p:nvSpPr>
          <p:cNvPr id="7" name="文本框 6"/>
          <p:cNvSpPr txBox="1"/>
          <p:nvPr/>
        </p:nvSpPr>
        <p:spPr>
          <a:xfrm>
            <a:off x="1097280" y="2251075"/>
            <a:ext cx="10197465" cy="1351915"/>
          </a:xfrm>
          <a:prstGeom prst="rect">
            <a:avLst/>
          </a:prstGeom>
          <a:noFill/>
        </p:spPr>
        <p:txBody>
          <a:bodyPr wrap="square" rtlCol="0">
            <a:noAutofit/>
          </a:bodyPr>
          <a:p>
            <a:r>
              <a:rPr lang="zh-CN" altLang="en-US" sz="2400"/>
              <a:t>2025年2月，31个省（自治区、直辖市）和新疆生产建设兵团共有54个城市开通运营城市轨道交通线路326条，运营里程10975.8公里，实际开行列车330万列次，完成客运量24.0亿人次，进站量14.4亿人次。</a:t>
            </a:r>
            <a:endParaRPr lang="zh-CN" altLang="en-US" sz="2400"/>
          </a:p>
        </p:txBody>
      </p:sp>
      <p:sp>
        <p:nvSpPr>
          <p:cNvPr id="8" name="文本占位符 2"/>
          <p:cNvSpPr>
            <a:spLocks noGrp="1"/>
          </p:cNvSpPr>
          <p:nvPr>
            <p:custDataLst>
              <p:tags r:id="rId1"/>
            </p:custDataLst>
          </p:nvPr>
        </p:nvSpPr>
        <p:spPr>
          <a:xfrm>
            <a:off x="762000" y="3679825"/>
            <a:ext cx="10744200" cy="926465"/>
          </a:xfrm>
          <a:prstGeom prst="rect">
            <a:avLst/>
          </a:prstGeom>
        </p:spPr>
        <p:txBody>
          <a:bodyPr vert="horz" lIns="91440" tIns="45720" rIns="91440" bIns="45720" rtlCol="0" anchor="ctr">
            <a:normAutofit/>
          </a:bodyPr>
          <a:lstStyle>
            <a:lvl1pPr marL="342900" indent="-342900" algn="l" defTabSz="914400" rtl="0" eaLnBrk="1" latinLnBrk="0" hangingPunct="1">
              <a:spcBef>
                <a:spcPct val="20000"/>
              </a:spcBef>
              <a:buFont typeface="Arial" panose="020B0604020202090204" pitchFamily="34" charset="0"/>
              <a:buChar char="•"/>
              <a:defRPr lang="zh-CN" altLang="en-US" sz="3000" b="1" kern="1200" dirty="0" smtClean="0">
                <a:solidFill>
                  <a:schemeClr val="tx1">
                    <a:lumMod val="75000"/>
                    <a:lumOff val="25000"/>
                  </a:schemeClr>
                </a:solidFill>
                <a:latin typeface="+mn-lt"/>
                <a:ea typeface="+mn-ea"/>
                <a:cs typeface="+mn-ea"/>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r>
              <a:rPr lang="zh-CN" altLang="en-US" dirty="0">
                <a:sym typeface="Arial" panose="020B0604020202090204" pitchFamily="34" charset="0"/>
              </a:rPr>
              <a:t>客运量屡创新高</a:t>
            </a:r>
            <a:endParaRPr lang="zh-CN" altLang="en-US" dirty="0">
              <a:sym typeface="Arial" panose="020B0604020202090204" pitchFamily="34" charset="0"/>
            </a:endParaRPr>
          </a:p>
        </p:txBody>
      </p:sp>
      <p:sp>
        <p:nvSpPr>
          <p:cNvPr id="9" name="文本框 8"/>
          <p:cNvSpPr txBox="1"/>
          <p:nvPr>
            <p:custDataLst>
              <p:tags r:id="rId2"/>
            </p:custDataLst>
          </p:nvPr>
        </p:nvSpPr>
        <p:spPr>
          <a:xfrm>
            <a:off x="1097280" y="4514215"/>
            <a:ext cx="10197465" cy="2688590"/>
          </a:xfrm>
          <a:prstGeom prst="rect">
            <a:avLst/>
          </a:prstGeom>
          <a:noFill/>
        </p:spPr>
        <p:txBody>
          <a:bodyPr wrap="square" rtlCol="0">
            <a:noAutofit/>
          </a:bodyPr>
          <a:p>
            <a:r>
              <a:rPr lang="zh-CN" altLang="en-US" sz="2400"/>
              <a:t>据北京轨道交通指挥中心公布的数据显示，2024年，北京轨道交通全路网客运量达到36.22亿人次，日均客运量989.61万人次，工作日日均客运量保持千万量级，达到1118.71万人次</a:t>
            </a:r>
            <a:r>
              <a:rPr lang="en-US" altLang="zh-CN" sz="2400"/>
              <a:t>。</a:t>
            </a:r>
            <a:endParaRPr lang="en-US" altLang="zh-CN" sz="2400"/>
          </a:p>
          <a:p>
            <a:endParaRPr lang="en-US" altLang="zh-CN" sz="2400"/>
          </a:p>
          <a:p>
            <a:r>
              <a:rPr lang="en-US" altLang="zh-CN" sz="2400"/>
              <a:t>车站进出站量排名靠前的车站多为交通枢纽类车站。北京南站以日均20.76万人次进出站量拿下第一名。北京西站、国贸站、</a:t>
            </a:r>
            <a:r>
              <a:rPr lang="en-US" altLang="zh-CN" sz="2400" b="1"/>
              <a:t>西直门站、</a:t>
            </a:r>
            <a:r>
              <a:rPr lang="en-US" altLang="zh-CN" sz="2400"/>
              <a:t>草桥站、丰台站排名靠前。</a:t>
            </a:r>
            <a:endParaRPr lang="en-US" altLang="zh-CN" sz="2400"/>
          </a:p>
          <a:p>
            <a:endParaRPr lang="en-US" altLang="zh-CN" sz="2400"/>
          </a:p>
        </p:txBody>
      </p:sp>
      <p:pic>
        <p:nvPicPr>
          <p:cNvPr id="13" name="图片 12"/>
          <p:cNvPicPr>
            <a:picLocks noChangeAspect="1"/>
          </p:cNvPicPr>
          <p:nvPr>
            <p:custDataLst>
              <p:tags r:id="rId3"/>
            </p:custDataLst>
          </p:nvPr>
        </p:nvPicPr>
        <p:blipFill>
          <a:blip r:embed="rId4"/>
          <a:stretch>
            <a:fillRect/>
          </a:stretch>
        </p:blipFill>
        <p:spPr>
          <a:xfrm>
            <a:off x="1207135" y="7481570"/>
            <a:ext cx="3793490" cy="2371090"/>
          </a:xfrm>
          <a:prstGeom prst="rect">
            <a:avLst/>
          </a:prstGeom>
        </p:spPr>
      </p:pic>
      <p:pic>
        <p:nvPicPr>
          <p:cNvPr id="5" name="图片 4" descr="W020250310539324959421"/>
          <p:cNvPicPr>
            <a:picLocks noChangeAspect="1"/>
          </p:cNvPicPr>
          <p:nvPr/>
        </p:nvPicPr>
        <p:blipFill>
          <a:blip r:embed="rId5"/>
          <a:srcRect b="12409"/>
          <a:stretch>
            <a:fillRect/>
          </a:stretch>
        </p:blipFill>
        <p:spPr>
          <a:xfrm>
            <a:off x="11658600" y="495300"/>
            <a:ext cx="5779135" cy="9495155"/>
          </a:xfrm>
          <a:prstGeom prst="rect">
            <a:avLst/>
          </a:prstGeom>
        </p:spPr>
      </p:pic>
      <p:pic>
        <p:nvPicPr>
          <p:cNvPr id="11" name="图片 10"/>
          <p:cNvPicPr/>
          <p:nvPr>
            <p:custDataLst>
              <p:tags r:id="rId6"/>
            </p:custDataLst>
          </p:nvPr>
        </p:nvPicPr>
        <p:blipFill>
          <a:blip r:embed="rId7"/>
          <a:stretch>
            <a:fillRect/>
          </a:stretch>
        </p:blipFill>
        <p:spPr>
          <a:xfrm>
            <a:off x="9514205" y="7452995"/>
            <a:ext cx="3857625" cy="2375535"/>
          </a:xfrm>
          <a:prstGeom prst="rect">
            <a:avLst/>
          </a:prstGeom>
        </p:spPr>
      </p:pic>
      <p:pic>
        <p:nvPicPr>
          <p:cNvPr id="12" name="图片 11"/>
          <p:cNvPicPr/>
          <p:nvPr>
            <p:custDataLst>
              <p:tags r:id="rId8"/>
            </p:custDataLst>
          </p:nvPr>
        </p:nvPicPr>
        <p:blipFill>
          <a:blip r:embed="rId9"/>
          <a:stretch>
            <a:fillRect/>
          </a:stretch>
        </p:blipFill>
        <p:spPr>
          <a:xfrm>
            <a:off x="5181600" y="7452995"/>
            <a:ext cx="4195445" cy="2399665"/>
          </a:xfrm>
          <a:prstGeom prst="rect">
            <a:avLst/>
          </a:prstGeom>
        </p:spPr>
      </p:pic>
    </p:spTree>
  </p:cSld>
  <p:clrMapOvr>
    <a:masterClrMapping/>
  </p:clrMapOvr>
  <p:transition advTm="5468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r>
              <a:rPr lang="en-US" altLang="zh-CN" sz="2700">
                <a:sym typeface="Arial" panose="020B0604020202090204" pitchFamily="34" charset="0"/>
              </a:rPr>
              <a:t>&lt; </a:t>
            </a:r>
            <a:fld id="{A548B57D-AE10-4CF7-A9DF-59FEFA91B28E}" type="slidenum">
              <a:rPr lang="zh-CN" altLang="en-US" sz="2700" smtClean="0">
                <a:sym typeface="Arial" panose="020B0604020202090204" pitchFamily="34" charset="0"/>
              </a:rPr>
            </a:fld>
            <a:r>
              <a:rPr lang="zh-CN" altLang="en-US" sz="2700">
                <a:sym typeface="Arial" panose="020B0604020202090204" pitchFamily="34" charset="0"/>
              </a:rPr>
              <a:t> </a:t>
            </a:r>
            <a:r>
              <a:rPr lang="en-US" altLang="zh-CN" sz="2700">
                <a:sym typeface="Arial" panose="020B0604020202090204" pitchFamily="34" charset="0"/>
              </a:rPr>
              <a:t>&gt;</a:t>
            </a:r>
            <a:endParaRPr lang="zh-CN" altLang="en-US" sz="2700" dirty="0">
              <a:sym typeface="Arial" panose="020B0604020202090204" pitchFamily="34" charset="0"/>
            </a:endParaRPr>
          </a:p>
        </p:txBody>
      </p:sp>
      <p:sp>
        <p:nvSpPr>
          <p:cNvPr id="2" name="标题 1"/>
          <p:cNvSpPr>
            <a:spLocks noGrp="1"/>
          </p:cNvSpPr>
          <p:nvPr>
            <p:ph type="title"/>
          </p:nvPr>
        </p:nvSpPr>
        <p:spPr/>
        <p:txBody>
          <a:bodyPr/>
          <a:lstStyle/>
          <a:p>
            <a:r>
              <a:rPr lang="en-US" altLang="zh-CN" dirty="0">
                <a:sym typeface="Arial" panose="020B0604020202090204" pitchFamily="34" charset="0"/>
              </a:rPr>
              <a:t>1.1 </a:t>
            </a:r>
            <a:r>
              <a:rPr dirty="0">
                <a:sym typeface="Arial" panose="020B0604020202090204" pitchFamily="34" charset="0"/>
              </a:rPr>
              <a:t>研究</a:t>
            </a:r>
            <a:r>
              <a:rPr dirty="0">
                <a:sym typeface="Arial" panose="020B0604020202090204" pitchFamily="34" charset="0"/>
              </a:rPr>
              <a:t>背景</a:t>
            </a:r>
            <a:endParaRPr dirty="0">
              <a:sym typeface="Arial" panose="020B0604020202090204" pitchFamily="34" charset="0"/>
            </a:endParaRPr>
          </a:p>
        </p:txBody>
      </p:sp>
      <p:sp>
        <p:nvSpPr>
          <p:cNvPr id="3" name="文本占位符 2"/>
          <p:cNvSpPr>
            <a:spLocks noGrp="1"/>
          </p:cNvSpPr>
          <p:nvPr>
            <p:ph type="body" sz="quarter" idx="10"/>
          </p:nvPr>
        </p:nvSpPr>
        <p:spPr>
          <a:xfrm>
            <a:off x="762000" y="1416685"/>
            <a:ext cx="9709785" cy="1139190"/>
          </a:xfrm>
        </p:spPr>
        <p:txBody>
          <a:bodyPr>
            <a:normAutofit/>
          </a:bodyPr>
          <a:lstStyle/>
          <a:p>
            <a:r>
              <a:rPr lang="zh-CN" altLang="en-US" dirty="0">
                <a:sym typeface="Arial" panose="020B0604020202090204" pitchFamily="34" charset="0"/>
              </a:rPr>
              <a:t>地铁在各城市轨道交通中占比</a:t>
            </a:r>
            <a:r>
              <a:rPr lang="zh-CN" altLang="en-US" dirty="0">
                <a:sym typeface="Arial" panose="020B0604020202090204" pitchFamily="34" charset="0"/>
              </a:rPr>
              <a:t>最大</a:t>
            </a:r>
            <a:endParaRPr lang="zh-CN" altLang="en-US" dirty="0">
              <a:sym typeface="Arial" panose="020B0604020202090204" pitchFamily="34" charset="0"/>
            </a:endParaRPr>
          </a:p>
        </p:txBody>
      </p:sp>
      <p:sp>
        <p:nvSpPr>
          <p:cNvPr id="7" name="文本框 6"/>
          <p:cNvSpPr txBox="1"/>
          <p:nvPr>
            <p:custDataLst>
              <p:tags r:id="rId1"/>
            </p:custDataLst>
          </p:nvPr>
        </p:nvSpPr>
        <p:spPr>
          <a:xfrm>
            <a:off x="1143000" y="3467100"/>
            <a:ext cx="7708265" cy="1826260"/>
          </a:xfrm>
          <a:prstGeom prst="rect">
            <a:avLst/>
          </a:prstGeom>
          <a:noFill/>
        </p:spPr>
        <p:txBody>
          <a:bodyPr wrap="square" rtlCol="0">
            <a:noAutofit/>
          </a:bodyPr>
          <a:p>
            <a:pPr algn="just"/>
            <a:r>
              <a:rPr lang="zh-CN" altLang="en-US" sz="2400"/>
              <a:t>有文献资料统计了 1969-2018 年世界范围内发生于地铁车站的安全事故类型包括火灾、恐怖袭击、水灾（水淹车站）、地震、踩踏事件共计 5 类 114 起</a:t>
            </a:r>
            <a:r>
              <a:rPr lang="en-US" altLang="zh-CN" sz="2400"/>
              <a:t>，</a:t>
            </a:r>
            <a:r>
              <a:rPr lang="zh-CN" altLang="en-US" sz="2400"/>
              <a:t>其中</a:t>
            </a:r>
            <a:r>
              <a:rPr lang="en-US" altLang="zh-CN" sz="2400"/>
              <a:t>火灾 42 起，占所有统计事故的 36.84%。</a:t>
            </a:r>
            <a:endParaRPr lang="en-US" altLang="zh-CN" sz="2400"/>
          </a:p>
        </p:txBody>
      </p:sp>
      <p:sp>
        <p:nvSpPr>
          <p:cNvPr id="8" name="文本占位符 2"/>
          <p:cNvSpPr>
            <a:spLocks noGrp="1"/>
          </p:cNvSpPr>
          <p:nvPr>
            <p:custDataLst>
              <p:tags r:id="rId2"/>
            </p:custDataLst>
          </p:nvPr>
        </p:nvSpPr>
        <p:spPr>
          <a:xfrm>
            <a:off x="762000" y="2324100"/>
            <a:ext cx="8662670" cy="1139190"/>
          </a:xfrm>
          <a:prstGeom prst="rect">
            <a:avLst/>
          </a:prstGeom>
        </p:spPr>
        <p:txBody>
          <a:bodyPr vert="horz" lIns="91440" tIns="45720" rIns="91440" bIns="45720" rtlCol="0" anchor="ctr">
            <a:normAutofit/>
          </a:bodyPr>
          <a:lstStyle>
            <a:lvl1pPr marL="342900" indent="-342900" algn="l" defTabSz="914400" rtl="0" eaLnBrk="1" latinLnBrk="0" hangingPunct="1">
              <a:spcBef>
                <a:spcPct val="20000"/>
              </a:spcBef>
              <a:buFont typeface="Arial" panose="020B0604020202090204" pitchFamily="34" charset="0"/>
              <a:buChar char="•"/>
              <a:defRPr lang="zh-CN" altLang="en-US" sz="3000" b="1" kern="1200" dirty="0" smtClean="0">
                <a:solidFill>
                  <a:schemeClr val="tx1">
                    <a:lumMod val="75000"/>
                    <a:lumOff val="25000"/>
                  </a:schemeClr>
                </a:solidFill>
                <a:latin typeface="+mn-lt"/>
                <a:ea typeface="+mn-ea"/>
                <a:cs typeface="+mn-ea"/>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r>
              <a:rPr lang="zh-CN" altLang="en-US" dirty="0">
                <a:sym typeface="Arial" panose="020B0604020202090204" pitchFamily="34" charset="0"/>
              </a:rPr>
              <a:t>火灾事故在地铁车站各类事故中发生频率最高</a:t>
            </a:r>
            <a:r>
              <a:rPr lang="en-US" altLang="zh-CN" dirty="0">
                <a:sym typeface="Arial" panose="020B0604020202090204" pitchFamily="34" charset="0"/>
              </a:rPr>
              <a:t>，</a:t>
            </a:r>
            <a:r>
              <a:rPr dirty="0">
                <a:sym typeface="Arial" panose="020B0604020202090204" pitchFamily="34" charset="0"/>
              </a:rPr>
              <a:t>损失与影响最为严重和</a:t>
            </a:r>
            <a:r>
              <a:rPr dirty="0">
                <a:sym typeface="Arial" panose="020B0604020202090204" pitchFamily="34" charset="0"/>
              </a:rPr>
              <a:t>恶劣</a:t>
            </a:r>
            <a:endParaRPr dirty="0">
              <a:sym typeface="Arial" panose="020B0604020202090204" pitchFamily="34" charset="0"/>
            </a:endParaRPr>
          </a:p>
        </p:txBody>
      </p:sp>
      <p:grpSp>
        <p:nvGrpSpPr>
          <p:cNvPr id="13" name="组合 12"/>
          <p:cNvGrpSpPr/>
          <p:nvPr/>
        </p:nvGrpSpPr>
        <p:grpSpPr>
          <a:xfrm>
            <a:off x="10591800" y="4286250"/>
            <a:ext cx="6484620" cy="4056380"/>
            <a:chOff x="16560" y="1721"/>
            <a:chExt cx="10212" cy="6388"/>
          </a:xfrm>
        </p:grpSpPr>
        <p:pic>
          <p:nvPicPr>
            <p:cNvPr id="5" name="图片 4"/>
            <p:cNvPicPr>
              <a:picLocks noChangeAspect="1"/>
            </p:cNvPicPr>
            <p:nvPr>
              <p:custDataLst>
                <p:tags r:id="rId3"/>
              </p:custDataLst>
            </p:nvPr>
          </p:nvPicPr>
          <p:blipFill>
            <a:blip r:embed="rId4"/>
            <a:stretch>
              <a:fillRect/>
            </a:stretch>
          </p:blipFill>
          <p:spPr>
            <a:xfrm>
              <a:off x="16560" y="1721"/>
              <a:ext cx="10213" cy="5630"/>
            </a:xfrm>
            <a:prstGeom prst="rect">
              <a:avLst/>
            </a:prstGeom>
          </p:spPr>
        </p:pic>
        <p:sp>
          <p:nvSpPr>
            <p:cNvPr id="9" name="文本框 8"/>
            <p:cNvSpPr txBox="1"/>
            <p:nvPr/>
          </p:nvSpPr>
          <p:spPr>
            <a:xfrm>
              <a:off x="17093" y="7481"/>
              <a:ext cx="9146" cy="628"/>
            </a:xfrm>
            <a:prstGeom prst="rect">
              <a:avLst/>
            </a:prstGeom>
          </p:spPr>
          <p:txBody>
            <a:bodyPr wrap="square">
              <a:spAutoFit/>
            </a:bodyPr>
            <a:p>
              <a:r>
                <a:rPr lang="zh-CN" altLang="en-US" sz="2000">
                  <a:solidFill>
                    <a:srgbClr val="000000"/>
                  </a:solidFill>
                  <a:latin typeface="宋体" charset="0"/>
                  <a:ea typeface="宋体" charset="0"/>
                  <a:cs typeface="宋体" charset="0"/>
                </a:rPr>
                <a:t>地铁车站各类安全事故的比例分布（</a:t>
              </a:r>
              <a:r>
                <a:rPr lang="en-US" altLang="zh-CN" sz="2000">
                  <a:solidFill>
                    <a:srgbClr val="000000"/>
                  </a:solidFill>
                  <a:latin typeface="宋体" charset="0"/>
                  <a:ea typeface="宋体" charset="0"/>
                  <a:cs typeface="宋体" charset="0"/>
                </a:rPr>
                <a:t>1969-2018 </a:t>
              </a:r>
              <a:r>
                <a:rPr lang="zh-CN" altLang="en-US" sz="2000">
                  <a:solidFill>
                    <a:srgbClr val="000000"/>
                  </a:solidFill>
                  <a:latin typeface="宋体" charset="0"/>
                  <a:ea typeface="宋体" charset="0"/>
                  <a:cs typeface="宋体" charset="0"/>
                </a:rPr>
                <a:t>年） </a:t>
              </a:r>
              <a:endParaRPr lang="zh-CN" altLang="en-US" sz="2000">
                <a:solidFill>
                  <a:srgbClr val="000000"/>
                </a:solidFill>
                <a:latin typeface="宋体" charset="0"/>
                <a:ea typeface="宋体" charset="0"/>
                <a:cs typeface="宋体" charset="0"/>
              </a:endParaRPr>
            </a:p>
          </p:txBody>
        </p:sp>
      </p:grpSp>
      <p:graphicFrame>
        <p:nvGraphicFramePr>
          <p:cNvPr id="11" name="表格 10"/>
          <p:cNvGraphicFramePr/>
          <p:nvPr>
            <p:custDataLst>
              <p:tags r:id="rId5"/>
            </p:custDataLst>
          </p:nvPr>
        </p:nvGraphicFramePr>
        <p:xfrm>
          <a:off x="1143000" y="5448300"/>
          <a:ext cx="8094345" cy="4120515"/>
        </p:xfrm>
        <a:graphic>
          <a:graphicData uri="http://schemas.openxmlformats.org/drawingml/2006/table">
            <a:tbl>
              <a:tblPr/>
              <a:tblGrid>
                <a:gridCol w="1487805"/>
                <a:gridCol w="1898650"/>
                <a:gridCol w="2147570"/>
                <a:gridCol w="2560320"/>
              </a:tblGrid>
              <a:tr h="411480">
                <a:tc>
                  <a:txBody>
                    <a:bodyPr/>
                    <a:p>
                      <a:pPr marL="0" indent="0" algn="ctr">
                        <a:lnSpc>
                          <a:spcPts val="2000"/>
                        </a:lnSpc>
                        <a:spcBef>
                          <a:spcPct val="0"/>
                        </a:spcBef>
                        <a:spcAft>
                          <a:spcPct val="0"/>
                        </a:spcAft>
                      </a:pPr>
                      <a:r>
                        <a:rPr lang="zh-CN" sz="1600">
                          <a:latin typeface="宋体"/>
                          <a:ea typeface="宋体"/>
                        </a:rPr>
                        <a:t>事故时间</a:t>
                      </a:r>
                      <a:endParaRPr lang="zh-CN" sz="1600">
                        <a:latin typeface="宋体"/>
                        <a:ea typeface="宋体"/>
                      </a:endParaRPr>
                    </a:p>
                  </a:txBody>
                  <a:tcPr marL="0" marR="0" marT="0" marB="0" anchor="ctr" anchorCtr="0">
                    <a:lnL>
                      <a:noFill/>
                    </a:lnL>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sz="1600">
                          <a:latin typeface="宋体"/>
                          <a:ea typeface="宋体"/>
                        </a:rPr>
                        <a:t>地点</a:t>
                      </a:r>
                      <a:endParaRPr lang="zh-CN" sz="1600">
                        <a:latin typeface="宋体"/>
                        <a:ea typeface="宋体"/>
                      </a:endParaRPr>
                    </a:p>
                  </a:txBody>
                  <a:tcPr marL="0" marR="0" marT="0" marB="0" anchor="ctr" anchorCtr="0">
                    <a:lnL>
                      <a:noFill/>
                    </a:lnL>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sz="1600">
                          <a:latin typeface="宋体"/>
                          <a:ea typeface="宋体"/>
                        </a:rPr>
                        <a:t>起火原因</a:t>
                      </a:r>
                      <a:endParaRPr lang="zh-CN" sz="1600">
                        <a:latin typeface="宋体"/>
                        <a:ea typeface="宋体"/>
                      </a:endParaRPr>
                    </a:p>
                  </a:txBody>
                  <a:tcPr marL="0" marR="0" marT="0" marB="0" anchor="ctr" anchorCtr="0">
                    <a:lnL>
                      <a:noFill/>
                    </a:lnL>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sz="1600">
                          <a:latin typeface="宋体"/>
                          <a:ea typeface="宋体"/>
                        </a:rPr>
                        <a:t>事故结果</a:t>
                      </a:r>
                      <a:endParaRPr lang="zh-CN" sz="1600">
                        <a:latin typeface="宋体"/>
                        <a:ea typeface="宋体"/>
                      </a:endParaRPr>
                    </a:p>
                  </a:txBody>
                  <a:tcPr marL="0" marR="0" marT="0" marB="0" anchor="ctr" anchorCtr="0">
                    <a:lnL>
                      <a:noFill/>
                    </a:lnL>
                    <a:lnR>
                      <a:noFill/>
                    </a:lnR>
                    <a:lnT w="19050" cap="flat" cmpd="sng">
                      <a:solidFill>
                        <a:srgbClr val="000008"/>
                      </a:solidFill>
                      <a:prstDash val="solid"/>
                      <a:headEnd type="none" w="med" len="med"/>
                      <a:tailEnd type="none" w="med" len="med"/>
                    </a:lnT>
                    <a:lnB w="9525" cap="flat" cmpd="sng">
                      <a:solidFill>
                        <a:srgbClr val="000008"/>
                      </a:solidFill>
                      <a:prstDash val="solid"/>
                      <a:headEnd type="none" w="med" len="med"/>
                      <a:tailEnd type="none" w="med" len="med"/>
                    </a:lnB>
                    <a:noFill/>
                  </a:tcPr>
                </a:tc>
              </a:tr>
              <a:tr h="412115">
                <a:tc>
                  <a:txBody>
                    <a:bodyPr/>
                    <a:p>
                      <a:pPr marL="0" indent="0" algn="ctr">
                        <a:lnSpc>
                          <a:spcPts val="2000"/>
                        </a:lnSpc>
                        <a:spcBef>
                          <a:spcPct val="0"/>
                        </a:spcBef>
                        <a:spcAft>
                          <a:spcPct val="0"/>
                        </a:spcAft>
                      </a:pPr>
                      <a:r>
                        <a:rPr lang="en-US" altLang="zh-CN" sz="1600">
                          <a:latin typeface="Times New Roman" panose="02020503050405090304"/>
                          <a:ea typeface="宋体"/>
                        </a:rPr>
                        <a:t>1969</a:t>
                      </a:r>
                      <a:r>
                        <a:rPr lang="zh-CN" sz="1600">
                          <a:latin typeface="宋体"/>
                          <a:ea typeface="宋体"/>
                        </a:rPr>
                        <a:t>年</a:t>
                      </a:r>
                      <a:r>
                        <a:rPr lang="en-US" altLang="zh-CN" sz="1600">
                          <a:latin typeface="Times New Roman" panose="02020503050405090304"/>
                          <a:ea typeface="宋体"/>
                        </a:rPr>
                        <a:t>11</a:t>
                      </a:r>
                      <a:r>
                        <a:rPr lang="zh-CN" sz="1600">
                          <a:latin typeface="宋体"/>
                          <a:ea typeface="宋体"/>
                        </a:rPr>
                        <a:t>月</a:t>
                      </a:r>
                      <a:endParaRPr lang="zh-CN" sz="1600">
                        <a:latin typeface="宋体"/>
                        <a:ea typeface="宋体"/>
                      </a:endParaRPr>
                    </a:p>
                  </a:txBody>
                  <a:tcPr marL="0" marR="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sz="1600">
                          <a:latin typeface="宋体"/>
                          <a:ea typeface="宋体"/>
                        </a:rPr>
                        <a:t>中国北京</a:t>
                      </a:r>
                      <a:endParaRPr lang="zh-CN" sz="1600">
                        <a:latin typeface="宋体"/>
                        <a:ea typeface="宋体"/>
                      </a:endParaRPr>
                    </a:p>
                  </a:txBody>
                  <a:tcPr marL="0" marR="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zh-CN" sz="1600">
                          <a:latin typeface="宋体"/>
                          <a:ea typeface="宋体"/>
                        </a:rPr>
                        <a:t>列车电气设备故障</a:t>
                      </a:r>
                      <a:endParaRPr lang="zh-CN" sz="1600">
                        <a:latin typeface="宋体"/>
                        <a:ea typeface="宋体"/>
                      </a:endParaRPr>
                    </a:p>
                  </a:txBody>
                  <a:tcPr marL="0" marR="0" marT="0" marB="0" anchor="ctr" anchorCtr="0">
                    <a:lnL>
                      <a:noFill/>
                    </a:lnL>
                    <a:lnR>
                      <a:noFill/>
                    </a:lnR>
                    <a:lnT w="9525" cap="flat" cmpd="sng">
                      <a:solidFill>
                        <a:srgbClr val="000008"/>
                      </a:solidFill>
                      <a:prstDash val="solid"/>
                      <a:headEnd type="none" w="med" len="med"/>
                      <a:tailEnd type="none" w="med" len="med"/>
                    </a:lnT>
                    <a:lnB>
                      <a:noFill/>
                    </a:lnB>
                    <a:noFill/>
                  </a:tcPr>
                </a:tc>
                <a:tc>
                  <a:txBody>
                    <a:bodyPr/>
                    <a:p>
                      <a:pPr marL="0" indent="0" algn="ctr">
                        <a:lnSpc>
                          <a:spcPts val="2000"/>
                        </a:lnSpc>
                        <a:spcBef>
                          <a:spcPct val="0"/>
                        </a:spcBef>
                        <a:spcAft>
                          <a:spcPct val="0"/>
                        </a:spcAft>
                      </a:pPr>
                      <a:r>
                        <a:rPr lang="en-US" altLang="zh-CN" sz="1600">
                          <a:latin typeface="Times New Roman" panose="02020503050405090304"/>
                          <a:ea typeface="宋体"/>
                        </a:rPr>
                        <a:t>6</a:t>
                      </a:r>
                      <a:r>
                        <a:rPr lang="zh-CN" sz="1600">
                          <a:latin typeface="宋体"/>
                          <a:ea typeface="宋体"/>
                        </a:rPr>
                        <a:t>人死亡，</a:t>
                      </a:r>
                      <a:r>
                        <a:rPr lang="en-US" altLang="zh-CN" sz="1600">
                          <a:latin typeface="Times New Roman" panose="02020503050405090304"/>
                          <a:ea typeface="宋体"/>
                        </a:rPr>
                        <a:t>200</a:t>
                      </a:r>
                      <a:r>
                        <a:rPr lang="zh-CN" sz="1600">
                          <a:latin typeface="宋体"/>
                          <a:ea typeface="宋体"/>
                        </a:rPr>
                        <a:t>人中毒</a:t>
                      </a:r>
                      <a:endParaRPr lang="zh-CN" sz="1600">
                        <a:latin typeface="宋体"/>
                        <a:ea typeface="宋体"/>
                      </a:endParaRPr>
                    </a:p>
                  </a:txBody>
                  <a:tcPr marL="0" marR="0" marT="0" marB="0" anchor="ctr" anchorCtr="0">
                    <a:lnL>
                      <a:noFill/>
                    </a:lnL>
                    <a:lnR>
                      <a:noFill/>
                    </a:lnR>
                    <a:lnT w="9525" cap="flat" cmpd="sng">
                      <a:solidFill>
                        <a:srgbClr val="000008"/>
                      </a:solidFill>
                      <a:prstDash val="solid"/>
                      <a:headEnd type="none" w="med" len="med"/>
                      <a:tailEnd type="none" w="med" len="med"/>
                    </a:lnT>
                    <a:lnB>
                      <a:noFill/>
                    </a:lnB>
                    <a:noFill/>
                  </a:tcPr>
                </a:tc>
              </a:tr>
              <a:tr h="824230">
                <a:tc>
                  <a:txBody>
                    <a:bodyPr/>
                    <a:p>
                      <a:pPr marL="0" indent="0" algn="ctr">
                        <a:lnSpc>
                          <a:spcPts val="2000"/>
                        </a:lnSpc>
                        <a:spcBef>
                          <a:spcPct val="0"/>
                        </a:spcBef>
                        <a:spcAft>
                          <a:spcPct val="0"/>
                        </a:spcAft>
                      </a:pPr>
                      <a:r>
                        <a:rPr lang="en-US" altLang="zh-CN" sz="1600">
                          <a:latin typeface="Times New Roman" panose="02020503050405090304"/>
                          <a:ea typeface="宋体"/>
                        </a:rPr>
                        <a:t>1987</a:t>
                      </a:r>
                      <a:r>
                        <a:rPr lang="zh-CN" sz="1600">
                          <a:latin typeface="宋体"/>
                          <a:ea typeface="宋体"/>
                        </a:rPr>
                        <a:t>年</a:t>
                      </a:r>
                      <a:r>
                        <a:rPr lang="en-US" altLang="zh-CN" sz="1600">
                          <a:latin typeface="Times New Roman" panose="02020503050405090304"/>
                          <a:ea typeface="宋体"/>
                        </a:rPr>
                        <a:t>11</a:t>
                      </a:r>
                      <a:r>
                        <a:rPr lang="zh-CN" sz="1600">
                          <a:latin typeface="宋体"/>
                          <a:ea typeface="宋体"/>
                        </a:rPr>
                        <a:t>月</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sz="1600">
                          <a:latin typeface="宋体"/>
                          <a:ea typeface="宋体"/>
                        </a:rPr>
                        <a:t>英国伦敦</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sz="1600">
                          <a:latin typeface="宋体"/>
                          <a:ea typeface="宋体"/>
                        </a:rPr>
                        <a:t>木质扶梯被烟蒂点燃并引发沟槽效应</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en-US" altLang="zh-CN" sz="1600">
                          <a:latin typeface="Times New Roman" panose="02020503050405090304"/>
                          <a:ea typeface="宋体"/>
                        </a:rPr>
                        <a:t>32</a:t>
                      </a:r>
                      <a:r>
                        <a:rPr lang="zh-CN" sz="1600">
                          <a:latin typeface="宋体"/>
                          <a:ea typeface="宋体"/>
                        </a:rPr>
                        <a:t>人死亡，</a:t>
                      </a:r>
                      <a:r>
                        <a:rPr lang="en-US" altLang="zh-CN" sz="1600">
                          <a:latin typeface="Times New Roman" panose="02020503050405090304"/>
                          <a:ea typeface="宋体"/>
                        </a:rPr>
                        <a:t>100</a:t>
                      </a:r>
                      <a:r>
                        <a:rPr lang="zh-CN" sz="1600">
                          <a:latin typeface="宋体"/>
                          <a:ea typeface="宋体"/>
                        </a:rPr>
                        <a:t>多人受伤</a:t>
                      </a:r>
                      <a:endParaRPr lang="zh-CN" sz="1600">
                        <a:latin typeface="宋体"/>
                        <a:ea typeface="宋体"/>
                      </a:endParaRPr>
                    </a:p>
                  </a:txBody>
                  <a:tcPr marL="0" marR="0" marT="0" marB="0" anchor="ctr" anchorCtr="0">
                    <a:lnL>
                      <a:noFill/>
                    </a:lnL>
                    <a:lnR>
                      <a:noFill/>
                    </a:lnR>
                    <a:lnT>
                      <a:noFill/>
                    </a:lnT>
                    <a:lnB>
                      <a:noFill/>
                    </a:lnB>
                    <a:noFill/>
                  </a:tcPr>
                </a:tc>
              </a:tr>
              <a:tr h="412750">
                <a:tc>
                  <a:txBody>
                    <a:bodyPr/>
                    <a:p>
                      <a:pPr marL="0" indent="0" algn="ctr">
                        <a:lnSpc>
                          <a:spcPts val="2000"/>
                        </a:lnSpc>
                        <a:spcBef>
                          <a:spcPct val="0"/>
                        </a:spcBef>
                        <a:spcAft>
                          <a:spcPct val="0"/>
                        </a:spcAft>
                      </a:pPr>
                      <a:r>
                        <a:rPr lang="en-US" altLang="zh-CN" sz="1600">
                          <a:latin typeface="Times New Roman" panose="02020503050405090304"/>
                          <a:ea typeface="宋体"/>
                        </a:rPr>
                        <a:t>1995</a:t>
                      </a:r>
                      <a:r>
                        <a:rPr lang="zh-CN" sz="1600">
                          <a:latin typeface="宋体"/>
                          <a:ea typeface="宋体"/>
                        </a:rPr>
                        <a:t>年</a:t>
                      </a:r>
                      <a:r>
                        <a:rPr lang="en-US" altLang="zh-CN" sz="1600">
                          <a:latin typeface="Times New Roman" panose="02020503050405090304"/>
                          <a:ea typeface="宋体"/>
                        </a:rPr>
                        <a:t>04</a:t>
                      </a:r>
                      <a:r>
                        <a:rPr lang="zh-CN" sz="1600">
                          <a:latin typeface="宋体"/>
                          <a:ea typeface="宋体"/>
                        </a:rPr>
                        <a:t>月</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sz="1600">
                          <a:latin typeface="宋体"/>
                          <a:ea typeface="宋体"/>
                        </a:rPr>
                        <a:t>韩国大邱</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sz="1600">
                          <a:latin typeface="宋体"/>
                          <a:ea typeface="宋体"/>
                        </a:rPr>
                        <a:t>瓦斯管道泄漏</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en-US" altLang="zh-CN" sz="1600">
                          <a:latin typeface="Times New Roman" panose="02020503050405090304"/>
                          <a:ea typeface="宋体"/>
                        </a:rPr>
                        <a:t>103</a:t>
                      </a:r>
                      <a:r>
                        <a:rPr lang="zh-CN" sz="1600">
                          <a:latin typeface="宋体"/>
                          <a:ea typeface="宋体"/>
                        </a:rPr>
                        <a:t>人死亡，</a:t>
                      </a:r>
                      <a:r>
                        <a:rPr lang="en-US" altLang="zh-CN" sz="1600">
                          <a:latin typeface="Times New Roman" panose="02020503050405090304"/>
                          <a:ea typeface="宋体"/>
                        </a:rPr>
                        <a:t>230</a:t>
                      </a:r>
                      <a:r>
                        <a:rPr lang="zh-CN" sz="1600">
                          <a:latin typeface="宋体"/>
                          <a:ea typeface="宋体"/>
                        </a:rPr>
                        <a:t>人受伤</a:t>
                      </a:r>
                      <a:endParaRPr lang="zh-CN" sz="1600">
                        <a:latin typeface="宋体"/>
                        <a:ea typeface="宋体"/>
                      </a:endParaRPr>
                    </a:p>
                  </a:txBody>
                  <a:tcPr marL="0" marR="0" marT="0" marB="0" anchor="ctr" anchorCtr="0">
                    <a:lnL>
                      <a:noFill/>
                    </a:lnL>
                    <a:lnR>
                      <a:noFill/>
                    </a:lnR>
                    <a:lnT>
                      <a:noFill/>
                    </a:lnT>
                    <a:lnB>
                      <a:noFill/>
                    </a:lnB>
                    <a:noFill/>
                  </a:tcPr>
                </a:tc>
              </a:tr>
              <a:tr h="412115">
                <a:tc>
                  <a:txBody>
                    <a:bodyPr/>
                    <a:p>
                      <a:pPr marL="0" indent="0" algn="ctr">
                        <a:lnSpc>
                          <a:spcPts val="2000"/>
                        </a:lnSpc>
                        <a:spcBef>
                          <a:spcPct val="0"/>
                        </a:spcBef>
                        <a:spcAft>
                          <a:spcPct val="0"/>
                        </a:spcAft>
                      </a:pPr>
                      <a:r>
                        <a:rPr lang="en-US" altLang="zh-CN" sz="1600">
                          <a:latin typeface="Times New Roman" panose="02020503050405090304"/>
                          <a:ea typeface="宋体"/>
                        </a:rPr>
                        <a:t>2003</a:t>
                      </a:r>
                      <a:r>
                        <a:rPr lang="zh-CN" sz="1600">
                          <a:latin typeface="宋体"/>
                          <a:ea typeface="宋体"/>
                        </a:rPr>
                        <a:t>年</a:t>
                      </a:r>
                      <a:r>
                        <a:rPr lang="en-US" altLang="zh-CN" sz="1600">
                          <a:latin typeface="Times New Roman" panose="02020503050405090304"/>
                          <a:ea typeface="宋体"/>
                        </a:rPr>
                        <a:t>02</a:t>
                      </a:r>
                      <a:r>
                        <a:rPr lang="zh-CN" sz="1600">
                          <a:latin typeface="宋体"/>
                          <a:ea typeface="宋体"/>
                        </a:rPr>
                        <a:t>月</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sz="1600">
                          <a:latin typeface="宋体"/>
                          <a:ea typeface="宋体"/>
                        </a:rPr>
                        <a:t>韩国大邱</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sz="1600">
                          <a:latin typeface="宋体"/>
                          <a:ea typeface="宋体"/>
                        </a:rPr>
                        <a:t>人为纵火</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en-US" altLang="zh-CN" sz="1600">
                          <a:latin typeface="Times New Roman" panose="02020503050405090304"/>
                          <a:ea typeface="宋体"/>
                        </a:rPr>
                        <a:t>198</a:t>
                      </a:r>
                      <a:r>
                        <a:rPr lang="zh-CN" sz="1600">
                          <a:latin typeface="宋体"/>
                          <a:ea typeface="宋体"/>
                        </a:rPr>
                        <a:t>人死亡，</a:t>
                      </a:r>
                      <a:r>
                        <a:rPr lang="en-US" altLang="zh-CN" sz="1600">
                          <a:latin typeface="Times New Roman" panose="02020503050405090304"/>
                          <a:ea typeface="宋体"/>
                        </a:rPr>
                        <a:t>147</a:t>
                      </a:r>
                      <a:r>
                        <a:rPr lang="zh-CN" sz="1600">
                          <a:latin typeface="宋体"/>
                          <a:ea typeface="宋体"/>
                        </a:rPr>
                        <a:t>人受伤</a:t>
                      </a:r>
                      <a:endParaRPr lang="zh-CN" sz="1600">
                        <a:latin typeface="宋体"/>
                        <a:ea typeface="宋体"/>
                      </a:endParaRPr>
                    </a:p>
                  </a:txBody>
                  <a:tcPr marL="0" marR="0" marT="0" marB="0" anchor="ctr" anchorCtr="0">
                    <a:lnL>
                      <a:noFill/>
                    </a:lnL>
                    <a:lnR>
                      <a:noFill/>
                    </a:lnR>
                    <a:lnT>
                      <a:noFill/>
                    </a:lnT>
                    <a:lnB>
                      <a:noFill/>
                    </a:lnB>
                    <a:noFill/>
                  </a:tcPr>
                </a:tc>
              </a:tr>
              <a:tr h="411480">
                <a:tc>
                  <a:txBody>
                    <a:bodyPr/>
                    <a:p>
                      <a:pPr marL="0" indent="0" algn="ctr">
                        <a:lnSpc>
                          <a:spcPts val="2000"/>
                        </a:lnSpc>
                        <a:spcBef>
                          <a:spcPct val="0"/>
                        </a:spcBef>
                        <a:spcAft>
                          <a:spcPct val="0"/>
                        </a:spcAft>
                      </a:pPr>
                      <a:r>
                        <a:rPr lang="en-US" altLang="zh-CN" sz="1600">
                          <a:latin typeface="Times New Roman" panose="02020503050405090304"/>
                          <a:ea typeface="宋体"/>
                        </a:rPr>
                        <a:t>2004</a:t>
                      </a:r>
                      <a:r>
                        <a:rPr lang="zh-CN" sz="1600">
                          <a:latin typeface="宋体"/>
                          <a:ea typeface="宋体"/>
                        </a:rPr>
                        <a:t>年</a:t>
                      </a:r>
                      <a:r>
                        <a:rPr lang="en-US" altLang="zh-CN" sz="1600">
                          <a:latin typeface="Times New Roman" panose="02020503050405090304"/>
                          <a:ea typeface="宋体"/>
                        </a:rPr>
                        <a:t>02</a:t>
                      </a:r>
                      <a:r>
                        <a:rPr lang="zh-CN" sz="1600">
                          <a:latin typeface="宋体"/>
                          <a:ea typeface="宋体"/>
                        </a:rPr>
                        <a:t>月</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sz="1600">
                          <a:latin typeface="宋体"/>
                          <a:ea typeface="宋体"/>
                        </a:rPr>
                        <a:t>俄罗斯莫斯科</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sz="1600">
                          <a:latin typeface="宋体"/>
                          <a:ea typeface="宋体"/>
                        </a:rPr>
                        <a:t>人为纵火</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en-US" altLang="zh-CN" sz="1600">
                          <a:latin typeface="Times New Roman" panose="02020503050405090304"/>
                          <a:ea typeface="宋体"/>
                        </a:rPr>
                        <a:t>50</a:t>
                      </a:r>
                      <a:r>
                        <a:rPr lang="zh-CN" sz="1600">
                          <a:latin typeface="宋体"/>
                          <a:ea typeface="宋体"/>
                        </a:rPr>
                        <a:t>人死亡，</a:t>
                      </a:r>
                      <a:r>
                        <a:rPr lang="en-US" altLang="zh-CN" sz="1600">
                          <a:latin typeface="Times New Roman" panose="02020503050405090304"/>
                          <a:ea typeface="宋体"/>
                        </a:rPr>
                        <a:t>100</a:t>
                      </a:r>
                      <a:r>
                        <a:rPr lang="zh-CN" sz="1600">
                          <a:latin typeface="宋体"/>
                          <a:ea typeface="宋体"/>
                        </a:rPr>
                        <a:t>人受伤</a:t>
                      </a:r>
                      <a:endParaRPr lang="zh-CN" sz="1600">
                        <a:latin typeface="宋体"/>
                        <a:ea typeface="宋体"/>
                      </a:endParaRPr>
                    </a:p>
                  </a:txBody>
                  <a:tcPr marL="0" marR="0" marT="0" marB="0" anchor="ctr" anchorCtr="0">
                    <a:lnL>
                      <a:noFill/>
                    </a:lnL>
                    <a:lnR>
                      <a:noFill/>
                    </a:lnR>
                    <a:lnT>
                      <a:noFill/>
                    </a:lnT>
                    <a:lnB>
                      <a:noFill/>
                    </a:lnB>
                    <a:noFill/>
                  </a:tcPr>
                </a:tc>
              </a:tr>
              <a:tr h="412750">
                <a:tc>
                  <a:txBody>
                    <a:bodyPr/>
                    <a:p>
                      <a:pPr marL="0" indent="0" algn="ctr">
                        <a:lnSpc>
                          <a:spcPts val="2000"/>
                        </a:lnSpc>
                        <a:spcBef>
                          <a:spcPct val="0"/>
                        </a:spcBef>
                        <a:spcAft>
                          <a:spcPct val="0"/>
                        </a:spcAft>
                      </a:pPr>
                      <a:r>
                        <a:rPr lang="en-US" altLang="zh-CN" sz="1600">
                          <a:latin typeface="Times New Roman" panose="02020503050405090304"/>
                          <a:ea typeface="宋体"/>
                        </a:rPr>
                        <a:t>2005</a:t>
                      </a:r>
                      <a:r>
                        <a:rPr lang="zh-CN" sz="1600">
                          <a:latin typeface="宋体"/>
                          <a:ea typeface="宋体"/>
                        </a:rPr>
                        <a:t>年</a:t>
                      </a:r>
                      <a:r>
                        <a:rPr lang="en-US" altLang="zh-CN" sz="1600">
                          <a:latin typeface="Times New Roman" panose="02020503050405090304"/>
                          <a:ea typeface="宋体"/>
                        </a:rPr>
                        <a:t>07</a:t>
                      </a:r>
                      <a:r>
                        <a:rPr lang="zh-CN" sz="1600">
                          <a:latin typeface="宋体"/>
                          <a:ea typeface="宋体"/>
                        </a:rPr>
                        <a:t>月</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sz="1600">
                          <a:latin typeface="宋体"/>
                          <a:ea typeface="宋体"/>
                        </a:rPr>
                        <a:t>英国伦敦</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sz="1600">
                          <a:latin typeface="宋体"/>
                          <a:ea typeface="宋体"/>
                        </a:rPr>
                        <a:t>恐怖袭击爆炸</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en-US" altLang="zh-CN" sz="1600">
                          <a:latin typeface="Times New Roman" panose="02020503050405090304"/>
                          <a:ea typeface="宋体"/>
                        </a:rPr>
                        <a:t>45</a:t>
                      </a:r>
                      <a:r>
                        <a:rPr lang="zh-CN" sz="1600">
                          <a:latin typeface="宋体"/>
                          <a:ea typeface="宋体"/>
                        </a:rPr>
                        <a:t>人死亡，</a:t>
                      </a:r>
                      <a:r>
                        <a:rPr lang="en-US" altLang="zh-CN" sz="1600">
                          <a:latin typeface="Times New Roman" panose="02020503050405090304"/>
                          <a:ea typeface="宋体"/>
                        </a:rPr>
                        <a:t>1000</a:t>
                      </a:r>
                      <a:r>
                        <a:rPr lang="zh-CN" sz="1600">
                          <a:latin typeface="宋体"/>
                          <a:ea typeface="宋体"/>
                        </a:rPr>
                        <a:t>多人受伤</a:t>
                      </a:r>
                      <a:endParaRPr lang="zh-CN" sz="1600">
                        <a:latin typeface="宋体"/>
                        <a:ea typeface="宋体"/>
                      </a:endParaRPr>
                    </a:p>
                  </a:txBody>
                  <a:tcPr marL="0" marR="0" marT="0" marB="0" anchor="ctr" anchorCtr="0">
                    <a:lnL>
                      <a:noFill/>
                    </a:lnL>
                    <a:lnR>
                      <a:noFill/>
                    </a:lnR>
                    <a:lnT>
                      <a:noFill/>
                    </a:lnT>
                    <a:lnB>
                      <a:noFill/>
                    </a:lnB>
                    <a:noFill/>
                  </a:tcPr>
                </a:tc>
              </a:tr>
              <a:tr h="412115">
                <a:tc>
                  <a:txBody>
                    <a:bodyPr/>
                    <a:p>
                      <a:pPr marL="0" indent="0" algn="ctr">
                        <a:lnSpc>
                          <a:spcPts val="2000"/>
                        </a:lnSpc>
                        <a:spcBef>
                          <a:spcPct val="0"/>
                        </a:spcBef>
                        <a:spcAft>
                          <a:spcPct val="0"/>
                        </a:spcAft>
                      </a:pPr>
                      <a:r>
                        <a:rPr lang="en-US" altLang="zh-CN" sz="1600">
                          <a:latin typeface="Times New Roman" panose="02020503050405090304"/>
                          <a:ea typeface="宋体"/>
                        </a:rPr>
                        <a:t>2011</a:t>
                      </a:r>
                      <a:r>
                        <a:rPr lang="zh-CN" sz="1600">
                          <a:latin typeface="宋体"/>
                          <a:ea typeface="宋体"/>
                        </a:rPr>
                        <a:t>年</a:t>
                      </a:r>
                      <a:r>
                        <a:rPr lang="en-US" altLang="zh-CN" sz="1600">
                          <a:latin typeface="Times New Roman" panose="02020503050405090304"/>
                          <a:ea typeface="宋体"/>
                        </a:rPr>
                        <a:t>04</a:t>
                      </a:r>
                      <a:r>
                        <a:rPr lang="zh-CN" sz="1600">
                          <a:latin typeface="宋体"/>
                          <a:ea typeface="宋体"/>
                        </a:rPr>
                        <a:t>月</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sz="1600">
                          <a:latin typeface="宋体"/>
                          <a:ea typeface="宋体"/>
                        </a:rPr>
                        <a:t>白俄罗斯明斯克</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zh-CN" sz="1600">
                          <a:latin typeface="宋体"/>
                          <a:ea typeface="宋体"/>
                        </a:rPr>
                        <a:t>恐怖袭击爆炸</a:t>
                      </a:r>
                      <a:endParaRPr lang="zh-CN" sz="1600">
                        <a:latin typeface="宋体"/>
                        <a:ea typeface="宋体"/>
                      </a:endParaRPr>
                    </a:p>
                  </a:txBody>
                  <a:tcPr marL="0" marR="0" marT="0" marB="0" anchor="ctr" anchorCtr="0">
                    <a:lnL>
                      <a:noFill/>
                    </a:lnL>
                    <a:lnR>
                      <a:noFill/>
                    </a:lnR>
                    <a:lnT>
                      <a:noFill/>
                    </a:lnT>
                    <a:lnB>
                      <a:noFill/>
                    </a:lnB>
                    <a:noFill/>
                  </a:tcPr>
                </a:tc>
                <a:tc>
                  <a:txBody>
                    <a:bodyPr/>
                    <a:p>
                      <a:pPr marL="0" indent="0" algn="ctr">
                        <a:lnSpc>
                          <a:spcPts val="2000"/>
                        </a:lnSpc>
                        <a:spcBef>
                          <a:spcPct val="0"/>
                        </a:spcBef>
                        <a:spcAft>
                          <a:spcPct val="0"/>
                        </a:spcAft>
                      </a:pPr>
                      <a:r>
                        <a:rPr lang="en-US" altLang="zh-CN" sz="1600">
                          <a:latin typeface="Times New Roman" panose="02020503050405090304"/>
                          <a:ea typeface="宋体"/>
                        </a:rPr>
                        <a:t>11</a:t>
                      </a:r>
                      <a:r>
                        <a:rPr lang="zh-CN" sz="1600">
                          <a:latin typeface="宋体"/>
                          <a:ea typeface="宋体"/>
                        </a:rPr>
                        <a:t>人死亡，</a:t>
                      </a:r>
                      <a:r>
                        <a:rPr lang="en-US" altLang="zh-CN" sz="1600">
                          <a:latin typeface="Times New Roman" panose="02020503050405090304"/>
                          <a:ea typeface="宋体"/>
                        </a:rPr>
                        <a:t>126</a:t>
                      </a:r>
                      <a:r>
                        <a:rPr lang="zh-CN" sz="1600">
                          <a:latin typeface="宋体"/>
                          <a:ea typeface="宋体"/>
                        </a:rPr>
                        <a:t>人受伤</a:t>
                      </a:r>
                      <a:endParaRPr lang="zh-CN" sz="1600">
                        <a:latin typeface="宋体"/>
                        <a:ea typeface="宋体"/>
                      </a:endParaRPr>
                    </a:p>
                  </a:txBody>
                  <a:tcPr marL="0" marR="0" marT="0" marB="0" anchor="ctr" anchorCtr="0">
                    <a:lnL>
                      <a:noFill/>
                    </a:lnL>
                    <a:lnR>
                      <a:noFill/>
                    </a:lnR>
                    <a:lnT>
                      <a:noFill/>
                    </a:lnT>
                    <a:lnB>
                      <a:noFill/>
                    </a:lnB>
                    <a:noFill/>
                  </a:tcPr>
                </a:tc>
              </a:tr>
              <a:tr h="411480">
                <a:tc>
                  <a:txBody>
                    <a:bodyPr/>
                    <a:p>
                      <a:pPr marL="0" indent="0" algn="ctr">
                        <a:lnSpc>
                          <a:spcPts val="2000"/>
                        </a:lnSpc>
                        <a:spcBef>
                          <a:spcPct val="0"/>
                        </a:spcBef>
                        <a:spcAft>
                          <a:spcPct val="0"/>
                        </a:spcAft>
                      </a:pPr>
                      <a:r>
                        <a:rPr lang="en-US" altLang="zh-CN" sz="1600">
                          <a:latin typeface="Times New Roman" panose="02020503050405090304"/>
                          <a:ea typeface="宋体"/>
                        </a:rPr>
                        <a:t>2021</a:t>
                      </a:r>
                      <a:r>
                        <a:rPr lang="zh-CN" sz="1600">
                          <a:latin typeface="宋体"/>
                          <a:ea typeface="宋体"/>
                        </a:rPr>
                        <a:t>年</a:t>
                      </a:r>
                      <a:r>
                        <a:rPr lang="en-US" altLang="zh-CN" sz="1600">
                          <a:latin typeface="Times New Roman" panose="02020503050405090304"/>
                          <a:ea typeface="宋体"/>
                        </a:rPr>
                        <a:t>10</a:t>
                      </a:r>
                      <a:r>
                        <a:rPr lang="zh-CN" sz="1600">
                          <a:latin typeface="宋体"/>
                          <a:ea typeface="宋体"/>
                        </a:rPr>
                        <a:t>月</a:t>
                      </a:r>
                      <a:endParaRPr lang="zh-CN" sz="1600">
                        <a:latin typeface="宋体"/>
                        <a:ea typeface="宋体"/>
                      </a:endParaRPr>
                    </a:p>
                  </a:txBody>
                  <a:tcPr marL="0" marR="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sz="1600">
                          <a:latin typeface="宋体"/>
                          <a:ea typeface="宋体"/>
                        </a:rPr>
                        <a:t>日本东京</a:t>
                      </a:r>
                      <a:endParaRPr lang="zh-CN" sz="1600">
                        <a:latin typeface="宋体"/>
                        <a:ea typeface="宋体"/>
                      </a:endParaRPr>
                    </a:p>
                  </a:txBody>
                  <a:tcPr marL="0" marR="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zh-CN" sz="1600">
                          <a:latin typeface="宋体"/>
                          <a:ea typeface="宋体"/>
                        </a:rPr>
                        <a:t>人为纵火</a:t>
                      </a:r>
                      <a:endParaRPr lang="zh-CN" sz="1600">
                        <a:latin typeface="宋体"/>
                        <a:ea typeface="宋体"/>
                      </a:endParaRPr>
                    </a:p>
                  </a:txBody>
                  <a:tcPr marL="0" marR="0" marT="0" marB="0" anchor="ctr" anchorCtr="0">
                    <a:lnL>
                      <a:noFill/>
                    </a:lnL>
                    <a:lnR>
                      <a:noFill/>
                    </a:lnR>
                    <a:lnT>
                      <a:noFill/>
                    </a:lnT>
                    <a:lnB w="19050" cap="flat" cmpd="sng">
                      <a:solidFill>
                        <a:srgbClr val="000008"/>
                      </a:solidFill>
                      <a:prstDash val="solid"/>
                      <a:headEnd type="none" w="med" len="med"/>
                      <a:tailEnd type="none" w="med" len="med"/>
                    </a:lnB>
                    <a:noFill/>
                  </a:tcPr>
                </a:tc>
                <a:tc>
                  <a:txBody>
                    <a:bodyPr/>
                    <a:p>
                      <a:pPr marL="0" indent="0" algn="ctr">
                        <a:lnSpc>
                          <a:spcPts val="2000"/>
                        </a:lnSpc>
                        <a:spcBef>
                          <a:spcPct val="0"/>
                        </a:spcBef>
                        <a:spcAft>
                          <a:spcPct val="0"/>
                        </a:spcAft>
                      </a:pPr>
                      <a:r>
                        <a:rPr lang="en-US" altLang="zh-CN" sz="1600">
                          <a:latin typeface="Times New Roman" panose="02020503050405090304"/>
                          <a:ea typeface="宋体"/>
                        </a:rPr>
                        <a:t>17</a:t>
                      </a:r>
                      <a:r>
                        <a:rPr lang="zh-CN" sz="1600">
                          <a:latin typeface="宋体"/>
                          <a:ea typeface="宋体"/>
                        </a:rPr>
                        <a:t>人受伤</a:t>
                      </a:r>
                      <a:endParaRPr lang="zh-CN" sz="1600">
                        <a:latin typeface="宋体"/>
                        <a:ea typeface="宋体"/>
                      </a:endParaRPr>
                    </a:p>
                  </a:txBody>
                  <a:tcPr marL="0" marR="0" marT="0" marB="0" anchor="ctr" anchorCtr="0">
                    <a:lnL>
                      <a:noFill/>
                    </a:lnL>
                    <a:lnR>
                      <a:noFill/>
                    </a:lnR>
                    <a:lnT>
                      <a:noFill/>
                    </a:lnT>
                    <a:lnB w="19050" cap="flat" cmpd="sng">
                      <a:solidFill>
                        <a:srgbClr val="000008"/>
                      </a:solidFill>
                      <a:prstDash val="solid"/>
                      <a:headEnd type="none" w="med" len="med"/>
                      <a:tailEnd type="none" w="med" len="med"/>
                    </a:lnB>
                    <a:noFill/>
                  </a:tcPr>
                </a:tc>
              </a:tr>
            </a:tbl>
          </a:graphicData>
        </a:graphic>
      </p:graphicFrame>
      <p:grpSp>
        <p:nvGrpSpPr>
          <p:cNvPr id="15" name="组合 14"/>
          <p:cNvGrpSpPr/>
          <p:nvPr/>
        </p:nvGrpSpPr>
        <p:grpSpPr>
          <a:xfrm>
            <a:off x="10896600" y="133350"/>
            <a:ext cx="5292746" cy="4073732"/>
            <a:chOff x="18600" y="1500"/>
            <a:chExt cx="8063" cy="6206"/>
          </a:xfrm>
        </p:grpSpPr>
        <p:sp>
          <p:nvSpPr>
            <p:cNvPr id="6" name="文本框 5"/>
            <p:cNvSpPr txBox="1"/>
            <p:nvPr/>
          </p:nvSpPr>
          <p:spPr>
            <a:xfrm>
              <a:off x="18600" y="7098"/>
              <a:ext cx="8000" cy="608"/>
            </a:xfrm>
            <a:prstGeom prst="rect">
              <a:avLst/>
            </a:prstGeom>
          </p:spPr>
          <p:txBody>
            <a:bodyPr>
              <a:spAutoFit/>
            </a:bodyPr>
            <a:p>
              <a:pPr marL="0" indent="406400" algn="ctr"/>
              <a:r>
                <a:rPr lang="en-US" altLang="zh-CN" sz="2000" b="0" i="0">
                  <a:solidFill>
                    <a:srgbClr val="000000"/>
                  </a:solidFill>
                  <a:latin typeface="宋体" charset="0"/>
                  <a:ea typeface="宋体" charset="0"/>
                  <a:cs typeface="宋体" charset="0"/>
                </a:rPr>
                <a:t>2024</a:t>
              </a:r>
              <a:r>
                <a:rPr lang="zh-CN" altLang="en-US" sz="2000" b="0" i="0">
                  <a:solidFill>
                    <a:srgbClr val="000000"/>
                  </a:solidFill>
                  <a:latin typeface="宋体" charset="0"/>
                  <a:ea typeface="宋体" charset="0"/>
                  <a:cs typeface="宋体" charset="0"/>
                </a:rPr>
                <a:t>年城轨交通运营线路制式结构</a:t>
              </a:r>
              <a:endParaRPr lang="zh-CN" altLang="en-US" sz="2000" b="0" i="0">
                <a:solidFill>
                  <a:srgbClr val="000000"/>
                </a:solidFill>
                <a:latin typeface="宋体" charset="0"/>
                <a:ea typeface="宋体" charset="0"/>
                <a:cs typeface="宋体" charset="0"/>
              </a:endParaRPr>
            </a:p>
          </p:txBody>
        </p:sp>
        <p:pic>
          <p:nvPicPr>
            <p:cNvPr id="12" name="图片 11"/>
            <p:cNvPicPr>
              <a:picLocks noChangeAspect="1"/>
            </p:cNvPicPr>
            <p:nvPr>
              <p:custDataLst>
                <p:tags r:id="rId6"/>
              </p:custDataLst>
            </p:nvPr>
          </p:nvPicPr>
          <p:blipFill>
            <a:blip r:embed="rId7"/>
            <a:stretch>
              <a:fillRect/>
            </a:stretch>
          </p:blipFill>
          <p:spPr>
            <a:xfrm>
              <a:off x="18600" y="1500"/>
              <a:ext cx="8063" cy="5598"/>
            </a:xfrm>
            <a:prstGeom prst="rect">
              <a:avLst/>
            </a:prstGeom>
          </p:spPr>
        </p:pic>
      </p:grpSp>
      <p:sp>
        <p:nvSpPr>
          <p:cNvPr id="16" name="Freeform 9"/>
          <p:cNvSpPr/>
          <p:nvPr>
            <p:custDataLst>
              <p:tags r:id="rId8"/>
            </p:custDataLst>
          </p:nvPr>
        </p:nvSpPr>
        <p:spPr>
          <a:xfrm rot="10800000">
            <a:off x="11184255" y="8877300"/>
            <a:ext cx="5487035" cy="676910"/>
          </a:xfrm>
          <a:custGeom>
            <a:avLst/>
            <a:gdLst/>
            <a:ahLst/>
            <a:cxnLst/>
            <a:rect l="l" t="t" r="r" b="b"/>
            <a:pathLst>
              <a:path w="1285346" h="141899">
                <a:moveTo>
                  <a:pt x="0" y="0"/>
                </a:moveTo>
                <a:lnTo>
                  <a:pt x="1285346" y="0"/>
                </a:lnTo>
                <a:lnTo>
                  <a:pt x="1285346" y="141899"/>
                </a:lnTo>
                <a:lnTo>
                  <a:pt x="0" y="141899"/>
                </a:lnTo>
                <a:close/>
              </a:path>
            </a:pathLst>
          </a:custGeom>
          <a:solidFill>
            <a:srgbClr val="861B11"/>
          </a:solidFill>
        </p:spPr>
        <p:txBody>
          <a:bodyPr/>
          <a:p>
            <a:endParaRPr lang="zh-CN" altLang="en-US" dirty="0"/>
          </a:p>
        </p:txBody>
      </p:sp>
      <p:sp>
        <p:nvSpPr>
          <p:cNvPr id="20" name="TextBox 20"/>
          <p:cNvSpPr txBox="1"/>
          <p:nvPr>
            <p:custDataLst>
              <p:tags r:id="rId9"/>
            </p:custDataLst>
          </p:nvPr>
        </p:nvSpPr>
        <p:spPr>
          <a:xfrm>
            <a:off x="11967845" y="8877300"/>
            <a:ext cx="4185285" cy="560070"/>
          </a:xfrm>
          <a:prstGeom prst="rect">
            <a:avLst/>
          </a:prstGeom>
        </p:spPr>
        <p:txBody>
          <a:bodyPr wrap="square" lIns="0" tIns="0" rIns="0" bIns="0" rtlCol="0" anchor="t">
            <a:spAutoFit/>
          </a:bodyPr>
          <a:p>
            <a:pPr algn="ctr">
              <a:lnSpc>
                <a:spcPts val="4370"/>
              </a:lnSpc>
            </a:pPr>
            <a:r>
              <a:rPr lang="zh-CN" altLang="en-US" sz="3000" b="1" dirty="0">
                <a:solidFill>
                  <a:srgbClr val="FFFFFF"/>
                </a:solidFill>
                <a:latin typeface="思源宋体-超粗体" panose="02010600030101010101" charset="-122"/>
                <a:ea typeface="思源宋体-超粗体" panose="02010600030101010101" charset="-122"/>
                <a:cs typeface="思源黑体 2 Bold"/>
                <a:sym typeface="思源黑体 2 Bold"/>
              </a:rPr>
              <a:t>地铁火灾下的疏散研究</a:t>
            </a:r>
            <a:endParaRPr lang="zh-CN" altLang="en-US" sz="3000" b="1" dirty="0">
              <a:solidFill>
                <a:srgbClr val="FFFFFF"/>
              </a:solidFill>
              <a:latin typeface="思源宋体-超粗体" panose="02010600030101010101" charset="-122"/>
              <a:ea typeface="思源宋体-超粗体" panose="02010600030101010101" charset="-122"/>
              <a:cs typeface="思源黑体 2 Bold"/>
              <a:sym typeface="思源黑体 2 Bold"/>
            </a:endParaRPr>
          </a:p>
        </p:txBody>
      </p:sp>
      <p:sp>
        <p:nvSpPr>
          <p:cNvPr id="17" name="右箭头 16"/>
          <p:cNvSpPr/>
          <p:nvPr/>
        </p:nvSpPr>
        <p:spPr>
          <a:xfrm>
            <a:off x="10287000" y="8944610"/>
            <a:ext cx="609600" cy="609600"/>
          </a:xfrm>
          <a:prstGeom prst="rightArrow">
            <a:avLst/>
          </a:prstGeom>
          <a:solidFill>
            <a:srgbClr val="861B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advTm="57308"/>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r>
              <a:rPr lang="en-US" altLang="zh-CN" sz="2700">
                <a:sym typeface="Arial" panose="020B0604020202090204" pitchFamily="34" charset="0"/>
              </a:rPr>
              <a:t>&lt; </a:t>
            </a:r>
            <a:fld id="{A548B57D-AE10-4CF7-A9DF-59FEFA91B28E}" type="slidenum">
              <a:rPr lang="zh-CN" altLang="en-US" sz="2700" smtClean="0">
                <a:sym typeface="Arial" panose="020B0604020202090204" pitchFamily="34" charset="0"/>
              </a:rPr>
            </a:fld>
            <a:r>
              <a:rPr lang="zh-CN" altLang="en-US" sz="2700">
                <a:sym typeface="Arial" panose="020B0604020202090204" pitchFamily="34" charset="0"/>
              </a:rPr>
              <a:t> </a:t>
            </a:r>
            <a:r>
              <a:rPr lang="en-US" altLang="zh-CN" sz="2700">
                <a:sym typeface="Arial" panose="020B0604020202090204" pitchFamily="34" charset="0"/>
              </a:rPr>
              <a:t>&gt;</a:t>
            </a:r>
            <a:endParaRPr lang="zh-CN" altLang="en-US" sz="2700" dirty="0">
              <a:sym typeface="Arial" panose="020B0604020202090204" pitchFamily="34" charset="0"/>
            </a:endParaRPr>
          </a:p>
        </p:txBody>
      </p:sp>
      <p:sp>
        <p:nvSpPr>
          <p:cNvPr id="2" name="标题 1"/>
          <p:cNvSpPr>
            <a:spLocks noGrp="1"/>
          </p:cNvSpPr>
          <p:nvPr>
            <p:ph type="title"/>
          </p:nvPr>
        </p:nvSpPr>
        <p:spPr/>
        <p:txBody>
          <a:bodyPr/>
          <a:lstStyle/>
          <a:p>
            <a:r>
              <a:rPr lang="en-US" altLang="zh-CN" dirty="0">
                <a:sym typeface="Arial" panose="020B0604020202090204" pitchFamily="34" charset="0"/>
              </a:rPr>
              <a:t>1.2 </a:t>
            </a:r>
            <a:r>
              <a:rPr dirty="0">
                <a:sym typeface="Arial" panose="020B0604020202090204" pitchFamily="34" charset="0"/>
              </a:rPr>
              <a:t>研究</a:t>
            </a:r>
            <a:r>
              <a:rPr dirty="0">
                <a:sym typeface="Arial" panose="020B0604020202090204" pitchFamily="34" charset="0"/>
              </a:rPr>
              <a:t>意义</a:t>
            </a:r>
            <a:endParaRPr dirty="0">
              <a:sym typeface="Arial" panose="020B0604020202090204" pitchFamily="34" charset="0"/>
            </a:endParaRPr>
          </a:p>
        </p:txBody>
      </p:sp>
      <p:sp>
        <p:nvSpPr>
          <p:cNvPr id="6" name="Freeform 6"/>
          <p:cNvSpPr/>
          <p:nvPr>
            <p:custDataLst>
              <p:tags r:id="rId1"/>
            </p:custDataLst>
          </p:nvPr>
        </p:nvSpPr>
        <p:spPr>
          <a:xfrm rot="10800000">
            <a:off x="2089398" y="2839694"/>
            <a:ext cx="6129713" cy="4522255"/>
          </a:xfrm>
          <a:custGeom>
            <a:avLst/>
            <a:gdLst/>
            <a:ahLst/>
            <a:cxnLst/>
            <a:rect l="l" t="t" r="r" b="b"/>
            <a:pathLst>
              <a:path w="1285346" h="948276">
                <a:moveTo>
                  <a:pt x="0" y="0"/>
                </a:moveTo>
                <a:lnTo>
                  <a:pt x="1285346" y="0"/>
                </a:lnTo>
                <a:lnTo>
                  <a:pt x="1285346" y="948276"/>
                </a:lnTo>
                <a:lnTo>
                  <a:pt x="0" y="948276"/>
                </a:lnTo>
                <a:close/>
              </a:path>
            </a:pathLst>
          </a:custGeom>
          <a:solidFill>
            <a:srgbClr val="FFFFFF"/>
          </a:solidFill>
          <a:ln cap="sq">
            <a:noFill/>
            <a:prstDash val="solid"/>
            <a:miter/>
          </a:ln>
        </p:spPr>
        <p:txBody>
          <a:bodyPr/>
          <a:p>
            <a:endParaRPr lang="zh-CN" altLang="en-US"/>
          </a:p>
        </p:txBody>
      </p:sp>
      <p:sp>
        <p:nvSpPr>
          <p:cNvPr id="7" name="TextBox 7"/>
          <p:cNvSpPr txBox="1"/>
          <p:nvPr>
            <p:custDataLst>
              <p:tags r:id="rId2"/>
            </p:custDataLst>
          </p:nvPr>
        </p:nvSpPr>
        <p:spPr>
          <a:xfrm rot="10800000">
            <a:off x="2089398" y="2839694"/>
            <a:ext cx="6129713" cy="4794799"/>
          </a:xfrm>
          <a:prstGeom prst="rect">
            <a:avLst/>
          </a:prstGeom>
        </p:spPr>
        <p:txBody>
          <a:bodyPr lIns="50800" tIns="50800" rIns="50800" bIns="50800" rtlCol="0" anchor="ctr"/>
          <a:p>
            <a:pPr algn="ctr">
              <a:lnSpc>
                <a:spcPts val="3105"/>
              </a:lnSpc>
            </a:pPr>
            <a:endParaRPr dirty="0"/>
          </a:p>
        </p:txBody>
      </p:sp>
      <p:sp>
        <p:nvSpPr>
          <p:cNvPr id="10" name="TextBox 10"/>
          <p:cNvSpPr txBox="1"/>
          <p:nvPr>
            <p:custDataLst>
              <p:tags r:id="rId3"/>
            </p:custDataLst>
          </p:nvPr>
        </p:nvSpPr>
        <p:spPr>
          <a:xfrm rot="10800000">
            <a:off x="1813338" y="2314831"/>
            <a:ext cx="6129713" cy="949250"/>
          </a:xfrm>
          <a:prstGeom prst="rect">
            <a:avLst/>
          </a:prstGeom>
        </p:spPr>
        <p:txBody>
          <a:bodyPr lIns="50800" tIns="50800" rIns="50800" bIns="50800" rtlCol="0" anchor="ctr"/>
          <a:p>
            <a:pPr algn="ctr">
              <a:lnSpc>
                <a:spcPts val="3105"/>
              </a:lnSpc>
            </a:pPr>
            <a:endParaRPr dirty="0"/>
          </a:p>
        </p:txBody>
      </p:sp>
      <p:sp>
        <p:nvSpPr>
          <p:cNvPr id="16" name="TextBox 16"/>
          <p:cNvSpPr txBox="1"/>
          <p:nvPr>
            <p:custDataLst>
              <p:tags r:id="rId4"/>
            </p:custDataLst>
          </p:nvPr>
        </p:nvSpPr>
        <p:spPr>
          <a:xfrm rot="10800000">
            <a:off x="9524859" y="1867156"/>
            <a:ext cx="6129713" cy="949250"/>
          </a:xfrm>
          <a:prstGeom prst="rect">
            <a:avLst/>
          </a:prstGeom>
        </p:spPr>
        <p:txBody>
          <a:bodyPr lIns="50800" tIns="50800" rIns="50800" bIns="50800" rtlCol="0" anchor="ctr"/>
          <a:p>
            <a:pPr algn="ctr">
              <a:lnSpc>
                <a:spcPts val="3105"/>
              </a:lnSpc>
            </a:pPr>
            <a:endParaRPr dirty="0"/>
          </a:p>
        </p:txBody>
      </p:sp>
      <p:sp>
        <p:nvSpPr>
          <p:cNvPr id="18" name="Freeform 18"/>
          <p:cNvSpPr/>
          <p:nvPr>
            <p:custDataLst>
              <p:tags r:id="rId5"/>
            </p:custDataLst>
          </p:nvPr>
        </p:nvSpPr>
        <p:spPr>
          <a:xfrm>
            <a:off x="8248641" y="4657638"/>
            <a:ext cx="1351629" cy="700045"/>
          </a:xfrm>
          <a:custGeom>
            <a:avLst/>
            <a:gdLst/>
            <a:ahLst/>
            <a:cxnLst/>
            <a:rect l="l" t="t" r="r" b="b"/>
            <a:pathLst>
              <a:path w="812800" h="420971">
                <a:moveTo>
                  <a:pt x="273050" y="0"/>
                </a:moveTo>
                <a:lnTo>
                  <a:pt x="0" y="210485"/>
                </a:lnTo>
                <a:lnTo>
                  <a:pt x="273050" y="420971"/>
                </a:lnTo>
                <a:lnTo>
                  <a:pt x="273050" y="287621"/>
                </a:lnTo>
                <a:lnTo>
                  <a:pt x="539750" y="287621"/>
                </a:lnTo>
                <a:lnTo>
                  <a:pt x="539750" y="420971"/>
                </a:lnTo>
                <a:lnTo>
                  <a:pt x="812800" y="210485"/>
                </a:lnTo>
                <a:lnTo>
                  <a:pt x="539750" y="0"/>
                </a:lnTo>
                <a:lnTo>
                  <a:pt x="539750" y="133350"/>
                </a:lnTo>
                <a:lnTo>
                  <a:pt x="273050" y="133350"/>
                </a:lnTo>
                <a:lnTo>
                  <a:pt x="273050" y="0"/>
                </a:lnTo>
                <a:close/>
              </a:path>
            </a:pathLst>
          </a:custGeom>
          <a:solidFill>
            <a:srgbClr val="861B11"/>
          </a:solidFill>
        </p:spPr>
        <p:txBody>
          <a:bodyPr/>
          <a:p>
            <a:endParaRPr lang="zh-CN" altLang="en-US"/>
          </a:p>
        </p:txBody>
      </p:sp>
      <p:sp>
        <p:nvSpPr>
          <p:cNvPr id="19" name="TextBox 19"/>
          <p:cNvSpPr txBox="1"/>
          <p:nvPr>
            <p:custDataLst>
              <p:tags r:id="rId6"/>
            </p:custDataLst>
          </p:nvPr>
        </p:nvSpPr>
        <p:spPr>
          <a:xfrm>
            <a:off x="8417595" y="5357523"/>
            <a:ext cx="1013722" cy="330459"/>
          </a:xfrm>
          <a:prstGeom prst="rect">
            <a:avLst/>
          </a:prstGeom>
        </p:spPr>
        <p:txBody>
          <a:bodyPr lIns="50800" tIns="50800" rIns="50800" bIns="50800" rtlCol="0" anchor="ctr"/>
          <a:p>
            <a:pPr algn="ctr">
              <a:lnSpc>
                <a:spcPts val="3360"/>
              </a:lnSpc>
            </a:pPr>
            <a:endParaRPr dirty="0"/>
          </a:p>
        </p:txBody>
      </p:sp>
      <p:grpSp>
        <p:nvGrpSpPr>
          <p:cNvPr id="5" name="组合 4"/>
          <p:cNvGrpSpPr/>
          <p:nvPr/>
        </p:nvGrpSpPr>
        <p:grpSpPr>
          <a:xfrm>
            <a:off x="2936517" y="1857631"/>
            <a:ext cx="6129713" cy="6645939"/>
            <a:chOff x="1756823" y="3411476"/>
            <a:chExt cx="6129713" cy="6645939"/>
          </a:xfrm>
        </p:grpSpPr>
        <p:sp>
          <p:nvSpPr>
            <p:cNvPr id="9" name="Freeform 9"/>
            <p:cNvSpPr/>
            <p:nvPr>
              <p:custDataLst>
                <p:tags r:id="rId7"/>
              </p:custDataLst>
            </p:nvPr>
          </p:nvSpPr>
          <p:spPr>
            <a:xfrm rot="10800000">
              <a:off x="1756823" y="3411476"/>
              <a:ext cx="6129713" cy="676706"/>
            </a:xfrm>
            <a:custGeom>
              <a:avLst/>
              <a:gdLst/>
              <a:ahLst/>
              <a:cxnLst/>
              <a:rect l="l" t="t" r="r" b="b"/>
              <a:pathLst>
                <a:path w="1285346" h="141899">
                  <a:moveTo>
                    <a:pt x="0" y="0"/>
                  </a:moveTo>
                  <a:lnTo>
                    <a:pt x="1285346" y="0"/>
                  </a:lnTo>
                  <a:lnTo>
                    <a:pt x="1285346" y="141899"/>
                  </a:lnTo>
                  <a:lnTo>
                    <a:pt x="0" y="141899"/>
                  </a:lnTo>
                  <a:close/>
                </a:path>
              </a:pathLst>
            </a:custGeom>
            <a:solidFill>
              <a:srgbClr val="861B11"/>
            </a:solidFill>
          </p:spPr>
          <p:txBody>
            <a:bodyPr/>
            <a:p>
              <a:endParaRPr lang="zh-CN" altLang="en-US" dirty="0"/>
            </a:p>
          </p:txBody>
        </p:sp>
        <p:sp>
          <p:nvSpPr>
            <p:cNvPr id="20" name="TextBox 20"/>
            <p:cNvSpPr txBox="1"/>
            <p:nvPr>
              <p:custDataLst>
                <p:tags r:id="rId8"/>
              </p:custDataLst>
            </p:nvPr>
          </p:nvSpPr>
          <p:spPr>
            <a:xfrm>
              <a:off x="3191876" y="3459218"/>
              <a:ext cx="3259605" cy="560070"/>
            </a:xfrm>
            <a:prstGeom prst="rect">
              <a:avLst/>
            </a:prstGeom>
          </p:spPr>
          <p:txBody>
            <a:bodyPr lIns="0" tIns="0" rIns="0" bIns="0" rtlCol="0" anchor="t">
              <a:spAutoFit/>
            </a:bodyPr>
            <a:p>
              <a:pPr algn="ctr">
                <a:lnSpc>
                  <a:spcPts val="4370"/>
                </a:lnSpc>
              </a:pPr>
              <a:r>
                <a:rPr lang="zh-CN" altLang="en-US" sz="2800" b="1" dirty="0">
                  <a:solidFill>
                    <a:srgbClr val="FFFFFF"/>
                  </a:solidFill>
                  <a:latin typeface="思源宋体-超粗体" panose="02010600030101010101" charset="-122"/>
                  <a:ea typeface="思源宋体-超粗体" panose="02010600030101010101" charset="-122"/>
                  <a:cs typeface="思源黑体 2 Bold"/>
                  <a:sym typeface="思源黑体 2 Bold"/>
                </a:rPr>
                <a:t>理论</a:t>
              </a:r>
              <a:r>
                <a:rPr lang="zh-CN" altLang="en-US" sz="2800" b="1" dirty="0">
                  <a:solidFill>
                    <a:srgbClr val="FFFFFF"/>
                  </a:solidFill>
                  <a:latin typeface="思源宋体-超粗体" panose="02010600030101010101" charset="-122"/>
                  <a:ea typeface="思源宋体-超粗体" panose="02010600030101010101" charset="-122"/>
                  <a:cs typeface="思源黑体 2 Bold"/>
                  <a:sym typeface="思源黑体 2 Bold"/>
                </a:rPr>
                <a:t>意义</a:t>
              </a:r>
              <a:endParaRPr lang="zh-CN" altLang="en-US" sz="2800" b="1" dirty="0">
                <a:solidFill>
                  <a:srgbClr val="FFFFFF"/>
                </a:solidFill>
                <a:latin typeface="思源宋体-超粗体" panose="02010600030101010101" charset="-122"/>
                <a:ea typeface="思源宋体-超粗体" panose="02010600030101010101" charset="-122"/>
                <a:cs typeface="思源黑体 2 Bold"/>
                <a:sym typeface="思源黑体 2 Bold"/>
              </a:endParaRPr>
            </a:p>
          </p:txBody>
        </p:sp>
        <p:sp>
          <p:nvSpPr>
            <p:cNvPr id="21" name="TextBox 21"/>
            <p:cNvSpPr txBox="1"/>
            <p:nvPr>
              <p:custDataLst>
                <p:tags r:id="rId9"/>
              </p:custDataLst>
            </p:nvPr>
          </p:nvSpPr>
          <p:spPr>
            <a:xfrm>
              <a:off x="1849559" y="4716094"/>
              <a:ext cx="5184412" cy="4027170"/>
            </a:xfrm>
            <a:prstGeom prst="rect">
              <a:avLst/>
            </a:prstGeom>
          </p:spPr>
          <p:txBody>
            <a:bodyPr lIns="0" tIns="0" rIns="0" bIns="0" rtlCol="0" anchor="t">
              <a:spAutoFit/>
            </a:bodyPr>
            <a:p>
              <a:pPr marL="342900" indent="-342900" algn="just">
                <a:lnSpc>
                  <a:spcPts val="2855"/>
                </a:lnSpc>
                <a:buFont typeface="Arial" panose="020B0604020202090204" pitchFamily="34" charset="0"/>
                <a:buChar char="•"/>
              </a:pPr>
              <a:r>
                <a:rPr lang="en-US" sz="2400" dirty="0">
                  <a:solidFill>
                    <a:srgbClr val="1E1E1E"/>
                  </a:solidFill>
                  <a:latin typeface="思源宋体 2" panose="02010600030101010101" charset="-122"/>
                  <a:ea typeface="思源宋体 2" panose="02010600030101010101" charset="-122"/>
                  <a:cs typeface="思源黑体 2"/>
                  <a:sym typeface="思源黑体 2"/>
                </a:rPr>
                <a:t>将火灾烟气模拟和路径寻优算法相结合，</a:t>
              </a:r>
              <a:r>
                <a:rPr lang="en-US" sz="2400" b="1" dirty="0">
                  <a:solidFill>
                    <a:srgbClr val="1E1E1E"/>
                  </a:solidFill>
                  <a:latin typeface="思源宋体 2" panose="02010600030101010101" charset="-122"/>
                  <a:ea typeface="思源宋体 2" panose="02010600030101010101" charset="-122"/>
                  <a:cs typeface="思源黑体 2"/>
                  <a:sym typeface="思源黑体 2"/>
                </a:rPr>
                <a:t>打破</a:t>
              </a:r>
              <a:r>
                <a:rPr lang="en-US" sz="2400" dirty="0">
                  <a:solidFill>
                    <a:srgbClr val="1E1E1E"/>
                  </a:solidFill>
                  <a:latin typeface="思源宋体 2" panose="02010600030101010101" charset="-122"/>
                  <a:ea typeface="思源宋体 2" panose="02010600030101010101" charset="-122"/>
                  <a:cs typeface="思源黑体 2"/>
                  <a:sym typeface="思源黑体 2"/>
                </a:rPr>
                <a:t>了过去</a:t>
              </a:r>
              <a:r>
                <a:rPr lang="en-US" sz="2400" b="1" dirty="0">
                  <a:solidFill>
                    <a:srgbClr val="1E1E1E"/>
                  </a:solidFill>
                  <a:latin typeface="思源宋体 2" panose="02010600030101010101" charset="-122"/>
                  <a:ea typeface="思源宋体 2" panose="02010600030101010101" charset="-122"/>
                  <a:cs typeface="思源黑体 2"/>
                  <a:sym typeface="思源黑体 2"/>
                </a:rPr>
                <a:t>静态路径</a:t>
              </a:r>
              <a:r>
                <a:rPr lang="en-US" sz="2400" dirty="0">
                  <a:solidFill>
                    <a:srgbClr val="1E1E1E"/>
                  </a:solidFill>
                  <a:latin typeface="思源宋体 2" panose="02010600030101010101" charset="-122"/>
                  <a:ea typeface="思源宋体 2" panose="02010600030101010101" charset="-122"/>
                  <a:cs typeface="思源黑体 2"/>
                  <a:sym typeface="思源黑体 2"/>
                </a:rPr>
                <a:t>规划方法的</a:t>
              </a:r>
              <a:r>
                <a:rPr lang="en-US" sz="2400" b="1" dirty="0">
                  <a:solidFill>
                    <a:srgbClr val="1E1E1E"/>
                  </a:solidFill>
                  <a:latin typeface="思源宋体 2" panose="02010600030101010101" charset="-122"/>
                  <a:ea typeface="思源宋体 2" panose="02010600030101010101" charset="-122"/>
                  <a:cs typeface="思源黑体 2"/>
                  <a:sym typeface="思源黑体 2"/>
                </a:rPr>
                <a:t>局限性</a:t>
              </a:r>
              <a:r>
                <a:rPr lang="en-US" sz="2400" dirty="0">
                  <a:solidFill>
                    <a:srgbClr val="1E1E1E"/>
                  </a:solidFill>
                  <a:latin typeface="思源宋体 2" panose="02010600030101010101" charset="-122"/>
                  <a:ea typeface="思源宋体 2" panose="02010600030101010101" charset="-122"/>
                  <a:cs typeface="思源黑体 2"/>
                  <a:sym typeface="思源黑体 2"/>
                </a:rPr>
                <a:t>；</a:t>
              </a:r>
              <a:endParaRPr lang="en-US" sz="2400" dirty="0">
                <a:solidFill>
                  <a:srgbClr val="1E1E1E"/>
                </a:solidFill>
                <a:latin typeface="思源宋体 2" panose="02010600030101010101" charset="-122"/>
                <a:ea typeface="思源宋体 2" panose="02010600030101010101" charset="-122"/>
                <a:cs typeface="思源黑体 2"/>
                <a:sym typeface="思源黑体 2"/>
              </a:endParaRPr>
            </a:p>
            <a:p>
              <a:pPr marL="342900" indent="-342900" algn="just">
                <a:lnSpc>
                  <a:spcPts val="2855"/>
                </a:lnSpc>
                <a:buFont typeface="Arial" panose="020B0604020202090204" pitchFamily="34" charset="0"/>
                <a:buChar char="•"/>
              </a:pPr>
              <a:endParaRPr lang="en-US" sz="2400" dirty="0">
                <a:solidFill>
                  <a:srgbClr val="1E1E1E"/>
                </a:solidFill>
                <a:latin typeface="思源宋体 2" panose="02010600030101010101" charset="-122"/>
                <a:ea typeface="思源宋体 2" panose="02010600030101010101" charset="-122"/>
                <a:cs typeface="思源黑体 2"/>
                <a:sym typeface="思源黑体 2"/>
              </a:endParaRPr>
            </a:p>
            <a:p>
              <a:pPr marL="342900" indent="-342900" algn="just">
                <a:lnSpc>
                  <a:spcPts val="2855"/>
                </a:lnSpc>
                <a:buFont typeface="Arial" panose="020B0604020202090204" pitchFamily="34" charset="0"/>
                <a:buChar char="•"/>
              </a:pPr>
              <a:r>
                <a:rPr lang="en-US" sz="2400" dirty="0">
                  <a:solidFill>
                    <a:srgbClr val="1E1E1E"/>
                  </a:solidFill>
                  <a:latin typeface="思源宋体 2" panose="02010600030101010101" charset="-122"/>
                  <a:ea typeface="思源宋体 2" panose="02010600030101010101" charset="-122"/>
                  <a:cs typeface="思源黑体 2"/>
                  <a:sym typeface="思源黑体 2"/>
                </a:rPr>
                <a:t>本文</a:t>
              </a:r>
              <a:r>
                <a:rPr lang="en-US" sz="2400" b="1" dirty="0">
                  <a:solidFill>
                    <a:srgbClr val="1E1E1E"/>
                  </a:solidFill>
                  <a:latin typeface="思源宋体 2" panose="02010600030101010101" charset="-122"/>
                  <a:ea typeface="思源宋体 2" panose="02010600030101010101" charset="-122"/>
                  <a:cs typeface="思源黑体 2"/>
                  <a:sym typeface="思源黑体 2"/>
                </a:rPr>
                <a:t>提出</a:t>
              </a:r>
              <a:r>
                <a:rPr lang="en-US" sz="2400" dirty="0">
                  <a:solidFill>
                    <a:srgbClr val="1E1E1E"/>
                  </a:solidFill>
                  <a:latin typeface="思源宋体 2" panose="02010600030101010101" charset="-122"/>
                  <a:ea typeface="思源宋体 2" panose="02010600030101010101" charset="-122"/>
                  <a:cs typeface="思源黑体 2"/>
                  <a:sym typeface="思源黑体 2"/>
                </a:rPr>
                <a:t>了一种适应性更强的</a:t>
              </a:r>
              <a:r>
                <a:rPr lang="en-US" sz="2400" b="1" dirty="0">
                  <a:solidFill>
                    <a:srgbClr val="1E1E1E"/>
                  </a:solidFill>
                  <a:latin typeface="思源宋体 2" panose="02010600030101010101" charset="-122"/>
                  <a:ea typeface="思源宋体 2" panose="02010600030101010101" charset="-122"/>
                  <a:cs typeface="思源黑体 2"/>
                  <a:sym typeface="思源黑体 2"/>
                </a:rPr>
                <a:t>优化模型</a:t>
              </a:r>
              <a:r>
                <a:rPr lang="en-US" sz="2400" dirty="0">
                  <a:solidFill>
                    <a:srgbClr val="1E1E1E"/>
                  </a:solidFill>
                  <a:latin typeface="思源宋体 2" panose="02010600030101010101" charset="-122"/>
                  <a:ea typeface="思源宋体 2" panose="02010600030101010101" charset="-122"/>
                  <a:cs typeface="思源黑体 2"/>
                  <a:sym typeface="思源黑体 2"/>
                </a:rPr>
                <a:t>，这丰富了寻路算法在火灾应对领域的应用；</a:t>
              </a:r>
              <a:endParaRPr lang="en-US" sz="2400" dirty="0">
                <a:solidFill>
                  <a:srgbClr val="1E1E1E"/>
                </a:solidFill>
                <a:latin typeface="思源宋体 2" panose="02010600030101010101" charset="-122"/>
                <a:ea typeface="思源宋体 2" panose="02010600030101010101" charset="-122"/>
                <a:cs typeface="思源黑体 2"/>
                <a:sym typeface="思源黑体 2"/>
              </a:endParaRPr>
            </a:p>
            <a:p>
              <a:pPr marL="342900" indent="-342900" algn="just">
                <a:lnSpc>
                  <a:spcPts val="2855"/>
                </a:lnSpc>
                <a:buFont typeface="Arial" panose="020B0604020202090204" pitchFamily="34" charset="0"/>
                <a:buChar char="•"/>
              </a:pPr>
              <a:endParaRPr lang="en-US" altLang="en-US" sz="2400" dirty="0">
                <a:solidFill>
                  <a:srgbClr val="1E1E1E"/>
                </a:solidFill>
                <a:latin typeface="思源宋体 2" panose="02010600030101010101" charset="-122"/>
                <a:ea typeface="思源宋体 2" panose="02010600030101010101" charset="-122"/>
                <a:cs typeface="思源黑体 2"/>
                <a:sym typeface="思源黑体 2"/>
              </a:endParaRPr>
            </a:p>
            <a:p>
              <a:pPr marL="342900" indent="-342900" algn="just">
                <a:lnSpc>
                  <a:spcPts val="2855"/>
                </a:lnSpc>
                <a:buFont typeface="Arial" panose="020B0604020202090204" pitchFamily="34" charset="0"/>
                <a:buChar char="•"/>
              </a:pPr>
              <a:r>
                <a:rPr lang="zh-CN" altLang="en-US" sz="2400" dirty="0">
                  <a:solidFill>
                    <a:srgbClr val="1E1E1E"/>
                  </a:solidFill>
                  <a:latin typeface="思源宋体 2" panose="02010600030101010101" charset="-122"/>
                  <a:ea typeface="思源宋体 2" panose="02010600030101010101" charset="-122"/>
                  <a:cs typeface="思源黑体 2"/>
                  <a:sym typeface="思源黑体 2"/>
                </a:rPr>
                <a:t>有利于</a:t>
              </a:r>
              <a:r>
                <a:rPr lang="en-US" sz="2400" dirty="0">
                  <a:solidFill>
                    <a:srgbClr val="1E1E1E"/>
                  </a:solidFill>
                  <a:latin typeface="思源宋体 2" panose="02010600030101010101" charset="-122"/>
                  <a:ea typeface="思源宋体 2" panose="02010600030101010101" charset="-122"/>
                  <a:cs typeface="思源黑体 2"/>
                  <a:sym typeface="思源黑体 2"/>
                </a:rPr>
                <a:t>在理论上推动火灾疏散和寻路算法的</a:t>
              </a:r>
              <a:r>
                <a:rPr lang="en-US" sz="2400" b="1" dirty="0">
                  <a:solidFill>
                    <a:srgbClr val="1E1E1E"/>
                  </a:solidFill>
                  <a:latin typeface="思源宋体 2" panose="02010600030101010101" charset="-122"/>
                  <a:ea typeface="思源宋体 2" panose="02010600030101010101" charset="-122"/>
                  <a:cs typeface="思源黑体 2"/>
                  <a:sym typeface="思源黑体 2"/>
                </a:rPr>
                <a:t>融合研究</a:t>
              </a:r>
              <a:r>
                <a:rPr lang="en-US" sz="2400" dirty="0">
                  <a:solidFill>
                    <a:srgbClr val="1E1E1E"/>
                  </a:solidFill>
                  <a:latin typeface="思源宋体 2" panose="02010600030101010101" charset="-122"/>
                  <a:ea typeface="思源宋体 2" panose="02010600030101010101" charset="-122"/>
                  <a:cs typeface="思源黑体 2"/>
                  <a:sym typeface="思源黑体 2"/>
                </a:rPr>
                <a:t>，为后续相关领域的研究提供参考和借鉴。</a:t>
              </a:r>
              <a:endParaRPr lang="en-US" sz="2400" dirty="0">
                <a:solidFill>
                  <a:srgbClr val="1E1E1E"/>
                </a:solidFill>
                <a:latin typeface="思源宋体 2" panose="02010600030101010101" charset="-122"/>
                <a:ea typeface="思源宋体 2" panose="02010600030101010101" charset="-122"/>
                <a:cs typeface="思源黑体 2"/>
                <a:sym typeface="思源黑体 2"/>
              </a:endParaRPr>
            </a:p>
          </p:txBody>
        </p:sp>
        <p:sp>
          <p:nvSpPr>
            <p:cNvPr id="25" name="Freeform 25"/>
            <p:cNvSpPr/>
            <p:nvPr>
              <p:custDataLst>
                <p:tags r:id="rId10"/>
              </p:custDataLst>
            </p:nvPr>
          </p:nvSpPr>
          <p:spPr>
            <a:xfrm rot="10800000">
              <a:off x="1756823" y="9873029"/>
              <a:ext cx="6129713" cy="184386"/>
            </a:xfrm>
            <a:custGeom>
              <a:avLst/>
              <a:gdLst/>
              <a:ahLst/>
              <a:cxnLst/>
              <a:rect l="l" t="t" r="r" b="b"/>
              <a:pathLst>
                <a:path w="1285346" h="38664">
                  <a:moveTo>
                    <a:pt x="0" y="0"/>
                  </a:moveTo>
                  <a:lnTo>
                    <a:pt x="1285346" y="0"/>
                  </a:lnTo>
                  <a:lnTo>
                    <a:pt x="1285346" y="38664"/>
                  </a:lnTo>
                  <a:lnTo>
                    <a:pt x="0" y="38664"/>
                  </a:lnTo>
                  <a:close/>
                </a:path>
              </a:pathLst>
            </a:custGeom>
            <a:solidFill>
              <a:srgbClr val="861B11"/>
            </a:solidFill>
            <a:ln cap="sq">
              <a:noFill/>
              <a:prstDash val="solid"/>
              <a:miter/>
            </a:ln>
          </p:spPr>
          <p:txBody>
            <a:bodyPr/>
            <a:p>
              <a:endParaRPr lang="zh-CN" altLang="en-US" dirty="0"/>
            </a:p>
          </p:txBody>
        </p:sp>
      </p:grpSp>
      <p:grpSp>
        <p:nvGrpSpPr>
          <p:cNvPr id="8" name="组合 7"/>
          <p:cNvGrpSpPr/>
          <p:nvPr/>
        </p:nvGrpSpPr>
        <p:grpSpPr>
          <a:xfrm>
            <a:off x="8839476" y="1857631"/>
            <a:ext cx="6171623" cy="6964203"/>
            <a:chOff x="9807434" y="3411476"/>
            <a:chExt cx="6171623" cy="6964203"/>
          </a:xfrm>
        </p:grpSpPr>
        <p:sp>
          <p:nvSpPr>
            <p:cNvPr id="28" name="Freeform 28"/>
            <p:cNvSpPr/>
            <p:nvPr>
              <p:custDataLst>
                <p:tags r:id="rId11"/>
              </p:custDataLst>
            </p:nvPr>
          </p:nvSpPr>
          <p:spPr>
            <a:xfrm rot="10800000">
              <a:off x="9849344" y="9873029"/>
              <a:ext cx="6129713" cy="184386"/>
            </a:xfrm>
            <a:custGeom>
              <a:avLst/>
              <a:gdLst/>
              <a:ahLst/>
              <a:cxnLst/>
              <a:rect l="l" t="t" r="r" b="b"/>
              <a:pathLst>
                <a:path w="1285346" h="38664">
                  <a:moveTo>
                    <a:pt x="0" y="0"/>
                  </a:moveTo>
                  <a:lnTo>
                    <a:pt x="1285346" y="0"/>
                  </a:lnTo>
                  <a:lnTo>
                    <a:pt x="1285346" y="38664"/>
                  </a:lnTo>
                  <a:lnTo>
                    <a:pt x="0" y="38664"/>
                  </a:lnTo>
                  <a:close/>
                </a:path>
              </a:pathLst>
            </a:custGeom>
            <a:solidFill>
              <a:schemeClr val="bg1"/>
            </a:solidFill>
            <a:ln w="28575" cap="sq">
              <a:solidFill>
                <a:srgbClr val="861B11"/>
              </a:solidFill>
              <a:prstDash val="solid"/>
              <a:miter/>
            </a:ln>
          </p:spPr>
          <p:txBody>
            <a:bodyPr/>
            <a:p>
              <a:endParaRPr lang="zh-CN" altLang="en-US" dirty="0"/>
            </a:p>
          </p:txBody>
        </p:sp>
        <p:grpSp>
          <p:nvGrpSpPr>
            <p:cNvPr id="11" name="组合 10"/>
            <p:cNvGrpSpPr/>
            <p:nvPr/>
          </p:nvGrpSpPr>
          <p:grpSpPr>
            <a:xfrm>
              <a:off x="9807434" y="3411476"/>
              <a:ext cx="6171623" cy="6964203"/>
              <a:chOff x="9807434" y="3411476"/>
              <a:chExt cx="6171623" cy="6964203"/>
            </a:xfrm>
          </p:grpSpPr>
          <p:sp>
            <p:nvSpPr>
              <p:cNvPr id="15" name="Freeform 15"/>
              <p:cNvSpPr/>
              <p:nvPr>
                <p:custDataLst>
                  <p:tags r:id="rId12"/>
                </p:custDataLst>
              </p:nvPr>
            </p:nvSpPr>
            <p:spPr>
              <a:xfrm rot="10800000">
                <a:off x="9849344" y="3411476"/>
                <a:ext cx="6129713" cy="676706"/>
              </a:xfrm>
              <a:custGeom>
                <a:avLst/>
                <a:gdLst/>
                <a:ahLst/>
                <a:cxnLst/>
                <a:rect l="l" t="t" r="r" b="b"/>
                <a:pathLst>
                  <a:path w="1285346" h="141899">
                    <a:moveTo>
                      <a:pt x="0" y="0"/>
                    </a:moveTo>
                    <a:lnTo>
                      <a:pt x="1285346" y="0"/>
                    </a:lnTo>
                    <a:lnTo>
                      <a:pt x="1285346" y="141899"/>
                    </a:lnTo>
                    <a:lnTo>
                      <a:pt x="0" y="141899"/>
                    </a:lnTo>
                    <a:close/>
                  </a:path>
                </a:pathLst>
              </a:custGeom>
              <a:solidFill>
                <a:schemeClr val="bg1"/>
              </a:solidFill>
              <a:ln w="28575">
                <a:solidFill>
                  <a:srgbClr val="861B11"/>
                </a:solidFill>
              </a:ln>
            </p:spPr>
            <p:txBody>
              <a:bodyPr/>
              <a:p>
                <a:endParaRPr lang="zh-CN" altLang="en-US"/>
              </a:p>
            </p:txBody>
          </p:sp>
          <p:sp>
            <p:nvSpPr>
              <p:cNvPr id="22" name="TextBox 22"/>
              <p:cNvSpPr txBox="1"/>
              <p:nvPr>
                <p:custDataLst>
                  <p:tags r:id="rId13"/>
                </p:custDataLst>
              </p:nvPr>
            </p:nvSpPr>
            <p:spPr>
              <a:xfrm>
                <a:off x="11284397" y="3459218"/>
                <a:ext cx="3259605" cy="560070"/>
              </a:xfrm>
              <a:prstGeom prst="rect">
                <a:avLst/>
              </a:prstGeom>
            </p:spPr>
            <p:txBody>
              <a:bodyPr lIns="0" tIns="0" rIns="0" bIns="0" rtlCol="0" anchor="t">
                <a:spAutoFit/>
              </a:bodyPr>
              <a:p>
                <a:pPr algn="ctr">
                  <a:lnSpc>
                    <a:spcPts val="4370"/>
                  </a:lnSpc>
                </a:pPr>
                <a:r>
                  <a:rPr lang="zh-CN" altLang="en-US" sz="2800" b="1" dirty="0">
                    <a:solidFill>
                      <a:srgbClr val="861B11"/>
                    </a:solidFill>
                    <a:latin typeface="思源宋体-超粗体" panose="02010600030101010101" charset="-122"/>
                    <a:ea typeface="思源宋体-超粗体" panose="02010600030101010101" charset="-122"/>
                    <a:cs typeface="思源黑体 2 Bold"/>
                    <a:sym typeface="思源黑体 2 Bold"/>
                  </a:rPr>
                  <a:t>实际</a:t>
                </a:r>
                <a:r>
                  <a:rPr lang="zh-CN" altLang="en-US" sz="2800" b="1" dirty="0">
                    <a:solidFill>
                      <a:srgbClr val="861B11"/>
                    </a:solidFill>
                    <a:latin typeface="思源宋体-超粗体" panose="02010600030101010101" charset="-122"/>
                    <a:ea typeface="思源宋体-超粗体" panose="02010600030101010101" charset="-122"/>
                    <a:cs typeface="思源黑体 2 Bold"/>
                    <a:sym typeface="思源黑体 2 Bold"/>
                  </a:rPr>
                  <a:t>意义</a:t>
                </a:r>
                <a:endParaRPr lang="zh-CN" altLang="en-US" sz="2800" b="1" dirty="0">
                  <a:solidFill>
                    <a:srgbClr val="861B11"/>
                  </a:solidFill>
                  <a:latin typeface="思源宋体-超粗体" panose="02010600030101010101" charset="-122"/>
                  <a:ea typeface="思源宋体-超粗体" panose="02010600030101010101" charset="-122"/>
                  <a:cs typeface="思源黑体 2 Bold"/>
                  <a:sym typeface="思源黑体 2 Bold"/>
                </a:endParaRPr>
              </a:p>
            </p:txBody>
          </p:sp>
          <p:sp>
            <p:nvSpPr>
              <p:cNvPr id="29" name="TextBox 29"/>
              <p:cNvSpPr txBox="1"/>
              <p:nvPr>
                <p:custDataLst>
                  <p:tags r:id="rId14"/>
                </p:custDataLst>
              </p:nvPr>
            </p:nvSpPr>
            <p:spPr>
              <a:xfrm rot="10800000">
                <a:off x="9807434" y="9918749"/>
                <a:ext cx="6129713" cy="456930"/>
              </a:xfrm>
              <a:prstGeom prst="rect">
                <a:avLst/>
              </a:prstGeom>
            </p:spPr>
            <p:txBody>
              <a:bodyPr lIns="50800" tIns="50800" rIns="50800" bIns="50800" rtlCol="0" anchor="ctr"/>
              <a:p>
                <a:pPr algn="ctr">
                  <a:lnSpc>
                    <a:spcPts val="3105"/>
                  </a:lnSpc>
                </a:pPr>
                <a:endParaRPr dirty="0"/>
              </a:p>
            </p:txBody>
          </p:sp>
          <p:sp>
            <p:nvSpPr>
              <p:cNvPr id="54" name="TextBox 21"/>
              <p:cNvSpPr txBox="1"/>
              <p:nvPr>
                <p:custDataLst>
                  <p:tags r:id="rId15"/>
                </p:custDataLst>
              </p:nvPr>
            </p:nvSpPr>
            <p:spPr>
              <a:xfrm>
                <a:off x="10530274" y="4383354"/>
                <a:ext cx="5184412" cy="5125720"/>
              </a:xfrm>
              <a:prstGeom prst="rect">
                <a:avLst/>
              </a:prstGeom>
            </p:spPr>
            <p:txBody>
              <a:bodyPr lIns="0" tIns="0" rIns="0" bIns="0" rtlCol="0" anchor="t">
                <a:spAutoFit/>
              </a:bodyPr>
              <a:p>
                <a:pPr marL="342900" indent="-342900" algn="just">
                  <a:lnSpc>
                    <a:spcPts val="2855"/>
                  </a:lnSpc>
                  <a:buFont typeface="Arial" panose="020B0604020202090204" pitchFamily="34" charset="0"/>
                  <a:buChar char="•"/>
                </a:pPr>
                <a:r>
                  <a:rPr lang="en-US" sz="2400" dirty="0">
                    <a:solidFill>
                      <a:srgbClr val="1E1E1E"/>
                    </a:solidFill>
                    <a:latin typeface="思源宋体 2" panose="02010600030101010101" charset="-122"/>
                    <a:ea typeface="思源宋体 2" panose="02010600030101010101" charset="-122"/>
                    <a:cs typeface="思源黑体 2"/>
                    <a:sym typeface="思源黑体 2"/>
                  </a:rPr>
                  <a:t>研究地铁火灾疏散问题，能为应急预案的制定与完善</a:t>
                </a:r>
                <a:r>
                  <a:rPr lang="en-US" sz="2400" b="1" dirty="0">
                    <a:solidFill>
                      <a:srgbClr val="1E1E1E"/>
                    </a:solidFill>
                    <a:latin typeface="思源宋体 2" panose="02010600030101010101" charset="-122"/>
                    <a:ea typeface="思源宋体 2" panose="02010600030101010101" charset="-122"/>
                    <a:cs typeface="思源黑体 2"/>
                    <a:sym typeface="思源黑体 2"/>
                  </a:rPr>
                  <a:t>提供数据支撑</a:t>
                </a:r>
                <a:r>
                  <a:rPr lang="en-US" sz="2400" dirty="0">
                    <a:solidFill>
                      <a:srgbClr val="1E1E1E"/>
                    </a:solidFill>
                    <a:latin typeface="思源宋体 2" panose="02010600030101010101" charset="-122"/>
                    <a:ea typeface="思源宋体 2" panose="02010600030101010101" charset="-122"/>
                    <a:cs typeface="思源黑体 2"/>
                    <a:sym typeface="思源黑体 2"/>
                  </a:rPr>
                  <a:t>，为地铁火灾防控工作</a:t>
                </a:r>
                <a:r>
                  <a:rPr lang="en-US" sz="2400" b="1" dirty="0">
                    <a:solidFill>
                      <a:srgbClr val="1E1E1E"/>
                    </a:solidFill>
                    <a:latin typeface="思源宋体 2" panose="02010600030101010101" charset="-122"/>
                    <a:ea typeface="思源宋体 2" panose="02010600030101010101" charset="-122"/>
                    <a:cs typeface="思源黑体 2"/>
                    <a:sym typeface="思源黑体 2"/>
                  </a:rPr>
                  <a:t>提供建议</a:t>
                </a:r>
                <a:r>
                  <a:rPr lang="en-US" sz="2400" dirty="0">
                    <a:solidFill>
                      <a:srgbClr val="1E1E1E"/>
                    </a:solidFill>
                    <a:latin typeface="思源宋体 2" panose="02010600030101010101" charset="-122"/>
                    <a:ea typeface="思源宋体 2" panose="02010600030101010101" charset="-122"/>
                    <a:cs typeface="思源黑体 2"/>
                    <a:sym typeface="思源黑体 2"/>
                  </a:rPr>
                  <a:t>;</a:t>
                </a:r>
                <a:endParaRPr lang="en-US" sz="2400" dirty="0">
                  <a:solidFill>
                    <a:srgbClr val="1E1E1E"/>
                  </a:solidFill>
                  <a:latin typeface="思源宋体 2" panose="02010600030101010101" charset="-122"/>
                  <a:ea typeface="思源宋体 2" panose="02010600030101010101" charset="-122"/>
                  <a:cs typeface="思源黑体 2"/>
                  <a:sym typeface="思源黑体 2"/>
                </a:endParaRPr>
              </a:p>
              <a:p>
                <a:pPr marL="342900" indent="-342900" algn="just">
                  <a:lnSpc>
                    <a:spcPts val="2855"/>
                  </a:lnSpc>
                  <a:buFont typeface="Arial" panose="020B0604020202090204" pitchFamily="34" charset="0"/>
                  <a:buChar char="•"/>
                </a:pPr>
                <a:endParaRPr lang="en-US" sz="2400" dirty="0">
                  <a:solidFill>
                    <a:srgbClr val="1E1E1E"/>
                  </a:solidFill>
                  <a:latin typeface="思源宋体 2" panose="02010600030101010101" charset="-122"/>
                  <a:ea typeface="思源宋体 2" panose="02010600030101010101" charset="-122"/>
                  <a:cs typeface="思源黑体 2"/>
                  <a:sym typeface="思源黑体 2"/>
                </a:endParaRPr>
              </a:p>
              <a:p>
                <a:pPr marL="342900" indent="-342900" algn="just">
                  <a:lnSpc>
                    <a:spcPts val="2855"/>
                  </a:lnSpc>
                  <a:buFont typeface="Arial" panose="020B0604020202090204" pitchFamily="34" charset="0"/>
                  <a:buChar char="•"/>
                </a:pPr>
                <a:r>
                  <a:rPr lang="en-US" sz="2400" dirty="0">
                    <a:solidFill>
                      <a:srgbClr val="1E1E1E"/>
                    </a:solidFill>
                    <a:latin typeface="思源宋体 2" panose="02010600030101010101" charset="-122"/>
                    <a:ea typeface="思源宋体 2" panose="02010600030101010101" charset="-122"/>
                    <a:cs typeface="思源黑体 2"/>
                    <a:sym typeface="思源黑体 2"/>
                  </a:rPr>
                  <a:t>能够提升地铁火灾应急疏散决策的科学性，使管理者能够在灾害真实发生时</a:t>
                </a:r>
                <a:r>
                  <a:rPr lang="en-US" sz="2400" b="1" dirty="0">
                    <a:solidFill>
                      <a:srgbClr val="1E1E1E"/>
                    </a:solidFill>
                    <a:latin typeface="思源宋体 2" panose="02010600030101010101" charset="-122"/>
                    <a:ea typeface="思源宋体 2" panose="02010600030101010101" charset="-122"/>
                    <a:cs typeface="思源黑体 2"/>
                    <a:sym typeface="思源黑体 2"/>
                  </a:rPr>
                  <a:t>快速生成合理的疏散路径方案</a:t>
                </a:r>
                <a:r>
                  <a:rPr lang="en-US" sz="2400" dirty="0">
                    <a:solidFill>
                      <a:srgbClr val="1E1E1E"/>
                    </a:solidFill>
                    <a:latin typeface="思源宋体 2" panose="02010600030101010101" charset="-122"/>
                    <a:ea typeface="思源宋体 2" panose="02010600030101010101" charset="-122"/>
                    <a:cs typeface="思源黑体 2"/>
                    <a:sym typeface="思源黑体 2"/>
                  </a:rPr>
                  <a:t>，</a:t>
                </a:r>
                <a:r>
                  <a:rPr lang="zh-CN" altLang="en-US" sz="2400" dirty="0">
                    <a:solidFill>
                      <a:srgbClr val="1E1E1E"/>
                    </a:solidFill>
                    <a:latin typeface="思源宋体 2" panose="02010600030101010101" charset="-122"/>
                    <a:ea typeface="思源宋体 2" panose="02010600030101010101" charset="-122"/>
                    <a:cs typeface="思源黑体 2"/>
                    <a:sym typeface="思源黑体 2"/>
                  </a:rPr>
                  <a:t>减少</a:t>
                </a:r>
                <a:r>
                  <a:rPr lang="en-US" sz="2400" dirty="0">
                    <a:solidFill>
                      <a:srgbClr val="1E1E1E"/>
                    </a:solidFill>
                    <a:latin typeface="思源宋体 2" panose="02010600030101010101" charset="-122"/>
                    <a:ea typeface="思源宋体 2" panose="02010600030101010101" charset="-122"/>
                    <a:cs typeface="思源黑体 2"/>
                    <a:sym typeface="思源黑体 2"/>
                  </a:rPr>
                  <a:t>事故损失，具有重要的工程应用价值和社会意义;</a:t>
                </a:r>
                <a:endParaRPr lang="en-US" sz="2400" dirty="0">
                  <a:solidFill>
                    <a:srgbClr val="1E1E1E"/>
                  </a:solidFill>
                  <a:latin typeface="思源宋体 2" panose="02010600030101010101" charset="-122"/>
                  <a:ea typeface="思源宋体 2" panose="02010600030101010101" charset="-122"/>
                  <a:cs typeface="思源黑体 2"/>
                  <a:sym typeface="思源黑体 2"/>
                </a:endParaRPr>
              </a:p>
              <a:p>
                <a:pPr marL="342900" indent="-342900" algn="just">
                  <a:lnSpc>
                    <a:spcPts val="2855"/>
                  </a:lnSpc>
                  <a:buFont typeface="Arial" panose="020B0604020202090204" pitchFamily="34" charset="0"/>
                  <a:buChar char="•"/>
                </a:pPr>
                <a:endParaRPr lang="en-US" sz="2400" dirty="0">
                  <a:solidFill>
                    <a:srgbClr val="1E1E1E"/>
                  </a:solidFill>
                  <a:latin typeface="思源宋体 2" panose="02010600030101010101" charset="-122"/>
                  <a:ea typeface="思源宋体 2" panose="02010600030101010101" charset="-122"/>
                  <a:cs typeface="思源黑体 2"/>
                  <a:sym typeface="思源黑体 2"/>
                </a:endParaRPr>
              </a:p>
              <a:p>
                <a:pPr marL="342900" indent="-342900" algn="just">
                  <a:lnSpc>
                    <a:spcPts val="2855"/>
                  </a:lnSpc>
                  <a:buFont typeface="Arial" panose="020B0604020202090204" pitchFamily="34" charset="0"/>
                  <a:buChar char="•"/>
                </a:pPr>
                <a:r>
                  <a:rPr lang="en-US" sz="2400" dirty="0">
                    <a:solidFill>
                      <a:srgbClr val="1E1E1E"/>
                    </a:solidFill>
                    <a:latin typeface="思源宋体 2" panose="02010600030101010101" charset="-122"/>
                    <a:ea typeface="思源宋体 2" panose="02010600030101010101" charset="-122"/>
                    <a:cs typeface="思源黑体 2"/>
                    <a:sym typeface="思源黑体 2"/>
                  </a:rPr>
                  <a:t>本文提出的研究框架和方法具有一定的</a:t>
                </a:r>
                <a:r>
                  <a:rPr lang="en-US" sz="2400" b="1" dirty="0">
                    <a:solidFill>
                      <a:srgbClr val="1E1E1E"/>
                    </a:solidFill>
                    <a:latin typeface="思源宋体 2" panose="02010600030101010101" charset="-122"/>
                    <a:ea typeface="思源宋体 2" panose="02010600030101010101" charset="-122"/>
                    <a:cs typeface="思源黑体 2"/>
                    <a:sym typeface="思源黑体 2"/>
                  </a:rPr>
                  <a:t>推广价值</a:t>
                </a:r>
                <a:r>
                  <a:rPr lang="en-US" sz="2400" dirty="0">
                    <a:solidFill>
                      <a:srgbClr val="1E1E1E"/>
                    </a:solidFill>
                    <a:latin typeface="思源宋体 2" panose="02010600030101010101" charset="-122"/>
                    <a:ea typeface="思源宋体 2" panose="02010600030101010101" charset="-122"/>
                    <a:cs typeface="思源黑体 2"/>
                    <a:sym typeface="思源黑体 2"/>
                  </a:rPr>
                  <a:t>，可为其他大型地下建筑、公共交通枢纽等复杂空间的火灾疏散问题提供参考。</a:t>
                </a:r>
                <a:endParaRPr lang="en-US" sz="2400" dirty="0">
                  <a:solidFill>
                    <a:srgbClr val="1E1E1E"/>
                  </a:solidFill>
                  <a:latin typeface="思源宋体 2" panose="02010600030101010101" charset="-122"/>
                  <a:ea typeface="思源宋体 2" panose="02010600030101010101" charset="-122"/>
                  <a:cs typeface="思源黑体 2"/>
                  <a:sym typeface="思源黑体 2"/>
                </a:endParaRPr>
              </a:p>
            </p:txBody>
          </p:sp>
        </p:grpSp>
      </p:grpSp>
    </p:spTree>
  </p:cSld>
  <p:clrMapOvr>
    <a:masterClrMapping/>
  </p:clrMapOvr>
  <p:transition advTm="4886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5" presetClass="path" presetSubtype="0" accel="50000" decel="50000" fill="hold" nodeType="withEffect">
                                  <p:stCondLst>
                                    <p:cond delay="0"/>
                                  </p:stCondLst>
                                  <p:childTnLst>
                                    <p:animMotion origin="layout" path="M 5.55112E-17 1.11111E-6 L -0.07049 1.11111E-6 " pathEditMode="relative" rAng="0" ptsTypes="AA">
                                      <p:cBhvr>
                                        <p:cTn id="6" dur="1500" fill="hold"/>
                                        <p:tgtEl>
                                          <p:spTgt spid="5"/>
                                        </p:tgtEl>
                                        <p:attrNameLst>
                                          <p:attrName>ppt_x</p:attrName>
                                          <p:attrName>ppt_y</p:attrName>
                                        </p:attrNameLst>
                                      </p:cBhvr>
                                      <p:rCtr x="-3524" y="0"/>
                                    </p:animMotion>
                                  </p:childTnLst>
                                </p:cTn>
                              </p:par>
                              <p:par>
                                <p:cTn id="7" presetID="63" presetClass="path" presetSubtype="0" accel="50000" decel="50000" fill="hold" nodeType="withEffect">
                                  <p:stCondLst>
                                    <p:cond delay="0"/>
                                  </p:stCondLst>
                                  <p:childTnLst>
                                    <p:animMotion origin="layout" path="M 3.19444E-6 -4.93827E-7 L 0.05755 -4.93827E-7 " pathEditMode="relative" rAng="0" ptsTypes="AA">
                                      <p:cBhvr>
                                        <p:cTn id="8" dur="1500" fill="hold"/>
                                        <p:tgtEl>
                                          <p:spTgt spid="8"/>
                                        </p:tgtEl>
                                        <p:attrNameLst>
                                          <p:attrName>ppt_x</p:attrName>
                                          <p:attrName>ppt_y</p:attrName>
                                        </p:attrNameLst>
                                      </p:cBhvr>
                                      <p:rCtr x="2873" y="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4"/>
          </p:nvPr>
        </p:nvSpPr>
        <p:spPr/>
        <p:txBody>
          <a:bodyPr/>
          <a:lstStyle/>
          <a:p>
            <a:r>
              <a:rPr lang="en-US" altLang="zh-CN" sz="2700">
                <a:sym typeface="Arial" panose="020B0604020202090204" pitchFamily="34" charset="0"/>
              </a:rPr>
              <a:t>&lt; </a:t>
            </a:r>
            <a:fld id="{A548B57D-AE10-4CF7-A9DF-59FEFA91B28E}" type="slidenum">
              <a:rPr lang="zh-CN" altLang="en-US" sz="2700" smtClean="0">
                <a:sym typeface="Arial" panose="020B0604020202090204" pitchFamily="34" charset="0"/>
              </a:rPr>
            </a:fld>
            <a:r>
              <a:rPr lang="zh-CN" altLang="en-US" sz="2700">
                <a:sym typeface="Arial" panose="020B0604020202090204" pitchFamily="34" charset="0"/>
              </a:rPr>
              <a:t> </a:t>
            </a:r>
            <a:r>
              <a:rPr lang="en-US" altLang="zh-CN" sz="2700">
                <a:sym typeface="Arial" panose="020B0604020202090204" pitchFamily="34" charset="0"/>
              </a:rPr>
              <a:t>&gt;</a:t>
            </a:r>
            <a:endParaRPr lang="zh-CN" altLang="en-US" sz="2700" dirty="0">
              <a:sym typeface="Arial" panose="020B0604020202090204" pitchFamily="34" charset="0"/>
            </a:endParaRPr>
          </a:p>
        </p:txBody>
      </p:sp>
      <p:sp>
        <p:nvSpPr>
          <p:cNvPr id="2" name="标题 1"/>
          <p:cNvSpPr>
            <a:spLocks noGrp="1"/>
          </p:cNvSpPr>
          <p:nvPr>
            <p:ph type="title"/>
          </p:nvPr>
        </p:nvSpPr>
        <p:spPr/>
        <p:txBody>
          <a:bodyPr/>
          <a:lstStyle/>
          <a:p>
            <a:r>
              <a:rPr lang="en-US" altLang="zh-CN" dirty="0">
                <a:sym typeface="Arial" panose="020B0604020202090204" pitchFamily="34" charset="0"/>
              </a:rPr>
              <a:t>1.2 </a:t>
            </a:r>
            <a:r>
              <a:rPr dirty="0">
                <a:sym typeface="Arial" panose="020B0604020202090204" pitchFamily="34" charset="0"/>
              </a:rPr>
              <a:t>研究</a:t>
            </a:r>
            <a:r>
              <a:rPr dirty="0">
                <a:sym typeface="Arial" panose="020B0604020202090204" pitchFamily="34" charset="0"/>
              </a:rPr>
              <a:t>现状</a:t>
            </a:r>
            <a:endParaRPr dirty="0">
              <a:sym typeface="Arial" panose="020B0604020202090204" pitchFamily="34" charset="0"/>
            </a:endParaRPr>
          </a:p>
        </p:txBody>
      </p:sp>
      <p:sp>
        <p:nvSpPr>
          <p:cNvPr id="3" name="文本占位符 2"/>
          <p:cNvSpPr>
            <a:spLocks noGrp="1"/>
          </p:cNvSpPr>
          <p:nvPr>
            <p:ph type="body" sz="quarter" idx="10"/>
          </p:nvPr>
        </p:nvSpPr>
        <p:spPr/>
        <p:txBody>
          <a:bodyPr>
            <a:normAutofit/>
          </a:bodyPr>
          <a:lstStyle/>
          <a:p>
            <a:r>
              <a:rPr lang="zh-CN" altLang="en-US" dirty="0">
                <a:sym typeface="Arial" panose="020B0604020202090204" pitchFamily="34" charset="0"/>
              </a:rPr>
              <a:t>国内外对于地铁火灾的研究主要有以下几个方面</a:t>
            </a:r>
            <a:r>
              <a:rPr lang="en-US" altLang="zh-CN" dirty="0">
                <a:sym typeface="Arial" panose="020B0604020202090204" pitchFamily="34" charset="0"/>
              </a:rPr>
              <a:t>：</a:t>
            </a:r>
            <a:endParaRPr lang="en-US" altLang="zh-CN" dirty="0">
              <a:sym typeface="Arial" panose="020B0604020202090204" pitchFamily="34" charset="0"/>
            </a:endParaRPr>
          </a:p>
        </p:txBody>
      </p:sp>
      <p:pic>
        <p:nvPicPr>
          <p:cNvPr id="5" name="图片 4"/>
          <p:cNvPicPr>
            <a:picLocks noChangeAspect="1"/>
          </p:cNvPicPr>
          <p:nvPr>
            <p:custDataLst>
              <p:tags r:id="rId1"/>
            </p:custDataLst>
          </p:nvPr>
        </p:nvPicPr>
        <p:blipFill>
          <a:blip r:embed="rId2"/>
          <a:stretch>
            <a:fillRect/>
          </a:stretch>
        </p:blipFill>
        <p:spPr>
          <a:xfrm>
            <a:off x="228600" y="2051050"/>
            <a:ext cx="12858115" cy="7924165"/>
          </a:xfrm>
          <a:prstGeom prst="rect">
            <a:avLst/>
          </a:prstGeom>
        </p:spPr>
      </p:pic>
      <p:pic>
        <p:nvPicPr>
          <p:cNvPr id="9" name="图片 8"/>
          <p:cNvPicPr>
            <a:picLocks noChangeAspect="1"/>
          </p:cNvPicPr>
          <p:nvPr>
            <p:custDataLst>
              <p:tags r:id="rId3"/>
            </p:custDataLst>
          </p:nvPr>
        </p:nvPicPr>
        <p:blipFill>
          <a:blip r:embed="rId4"/>
          <a:stretch>
            <a:fillRect/>
          </a:stretch>
        </p:blipFill>
        <p:spPr>
          <a:xfrm>
            <a:off x="12801600" y="3924300"/>
            <a:ext cx="4772660" cy="1573530"/>
          </a:xfrm>
          <a:prstGeom prst="rect">
            <a:avLst/>
          </a:prstGeom>
        </p:spPr>
      </p:pic>
      <p:pic>
        <p:nvPicPr>
          <p:cNvPr id="10" name="图片 9"/>
          <p:cNvPicPr>
            <a:picLocks noChangeAspect="1"/>
          </p:cNvPicPr>
          <p:nvPr>
            <p:custDataLst>
              <p:tags r:id="rId5"/>
            </p:custDataLst>
          </p:nvPr>
        </p:nvPicPr>
        <p:blipFill>
          <a:blip r:embed="rId6"/>
          <a:stretch>
            <a:fillRect/>
          </a:stretch>
        </p:blipFill>
        <p:spPr>
          <a:xfrm>
            <a:off x="12954000" y="5372100"/>
            <a:ext cx="4395470" cy="1493520"/>
          </a:xfrm>
          <a:prstGeom prst="rect">
            <a:avLst/>
          </a:prstGeom>
        </p:spPr>
      </p:pic>
      <p:pic>
        <p:nvPicPr>
          <p:cNvPr id="11" name="图片 10"/>
          <p:cNvPicPr>
            <a:picLocks noChangeAspect="1"/>
          </p:cNvPicPr>
          <p:nvPr>
            <p:custDataLst>
              <p:tags r:id="rId7"/>
            </p:custDataLst>
          </p:nvPr>
        </p:nvPicPr>
        <p:blipFill>
          <a:blip r:embed="rId8"/>
          <a:stretch>
            <a:fillRect/>
          </a:stretch>
        </p:blipFill>
        <p:spPr>
          <a:xfrm>
            <a:off x="13868400" y="2072640"/>
            <a:ext cx="3435985" cy="1768475"/>
          </a:xfrm>
          <a:prstGeom prst="rect">
            <a:avLst/>
          </a:prstGeom>
        </p:spPr>
      </p:pic>
      <p:pic>
        <p:nvPicPr>
          <p:cNvPr id="12" name="图片 11"/>
          <p:cNvPicPr>
            <a:picLocks noChangeAspect="1"/>
          </p:cNvPicPr>
          <p:nvPr>
            <p:custDataLst>
              <p:tags r:id="rId9"/>
            </p:custDataLst>
          </p:nvPr>
        </p:nvPicPr>
        <p:blipFill>
          <a:blip r:embed="rId10"/>
          <a:stretch>
            <a:fillRect/>
          </a:stretch>
        </p:blipFill>
        <p:spPr>
          <a:xfrm>
            <a:off x="13868400" y="7289165"/>
            <a:ext cx="3488055" cy="2578735"/>
          </a:xfrm>
          <a:prstGeom prst="rect">
            <a:avLst/>
          </a:prstGeom>
        </p:spPr>
      </p:pic>
      <p:sp>
        <p:nvSpPr>
          <p:cNvPr id="13" name="矩形 12"/>
          <p:cNvSpPr/>
          <p:nvPr/>
        </p:nvSpPr>
        <p:spPr>
          <a:xfrm>
            <a:off x="12725400" y="1990090"/>
            <a:ext cx="5029200" cy="7877810"/>
          </a:xfrm>
          <a:prstGeom prst="rect">
            <a:avLst/>
          </a:prstGeom>
          <a:noFill/>
          <a:ln>
            <a:solidFill>
              <a:srgbClr val="861B11"/>
            </a:solidFill>
            <a:prstDash val="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7" name="右箭头 16"/>
          <p:cNvSpPr/>
          <p:nvPr>
            <p:custDataLst>
              <p:tags r:id="rId11"/>
            </p:custDataLst>
          </p:nvPr>
        </p:nvSpPr>
        <p:spPr>
          <a:xfrm>
            <a:off x="12573000" y="2683510"/>
            <a:ext cx="609600" cy="609600"/>
          </a:xfrm>
          <a:prstGeom prst="rightArrow">
            <a:avLst/>
          </a:prstGeom>
          <a:solidFill>
            <a:srgbClr val="861B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6" name="右箭头 15"/>
          <p:cNvSpPr/>
          <p:nvPr>
            <p:custDataLst>
              <p:tags r:id="rId12"/>
            </p:custDataLst>
          </p:nvPr>
        </p:nvSpPr>
        <p:spPr>
          <a:xfrm>
            <a:off x="12573000" y="5448300"/>
            <a:ext cx="609600" cy="609600"/>
          </a:xfrm>
          <a:prstGeom prst="rightArrow">
            <a:avLst/>
          </a:prstGeom>
          <a:solidFill>
            <a:srgbClr val="861B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8" name="右箭头 17"/>
          <p:cNvSpPr/>
          <p:nvPr>
            <p:custDataLst>
              <p:tags r:id="rId13"/>
            </p:custDataLst>
          </p:nvPr>
        </p:nvSpPr>
        <p:spPr>
          <a:xfrm>
            <a:off x="12573000" y="8191500"/>
            <a:ext cx="609600" cy="609600"/>
          </a:xfrm>
          <a:prstGeom prst="rightArrow">
            <a:avLst/>
          </a:prstGeom>
          <a:solidFill>
            <a:srgbClr val="861B1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transition advTm="50297"/>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2317736" y="2910812"/>
            <a:ext cx="3673568" cy="922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150" normalizeH="0" baseline="0" noProof="0" dirty="0">
                <a:ln>
                  <a:noFill/>
                </a:ln>
                <a:solidFill>
                  <a:srgbClr val="595959"/>
                </a:solidFill>
                <a:effectLst/>
                <a:uLnTx/>
                <a:uFillTx/>
                <a:latin typeface="Arial" panose="020B0604020202090204" pitchFamily="34" charset="0"/>
                <a:ea typeface="微软雅黑" charset="-122"/>
                <a:cs typeface="+mn-ea"/>
                <a:sym typeface="Arial" panose="020B0604020202090204" pitchFamily="34" charset="0"/>
              </a:rPr>
              <a:t>PART 02</a:t>
            </a:r>
            <a:endParaRPr kumimoji="0" lang="zh-CN" altLang="en-US" sz="5400" b="0" i="0" u="none" strike="noStrike" kern="1200" cap="none" spc="150" normalizeH="0" baseline="0" noProof="0" dirty="0">
              <a:ln>
                <a:noFill/>
              </a:ln>
              <a:solidFill>
                <a:srgbClr val="595959"/>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24" name="文本框 23"/>
          <p:cNvSpPr txBox="1"/>
          <p:nvPr/>
        </p:nvSpPr>
        <p:spPr>
          <a:xfrm>
            <a:off x="2272665" y="4442460"/>
            <a:ext cx="8620125" cy="133794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8100" b="1" i="0" u="none" strike="noStrike" kern="1200" cap="none" spc="300" normalizeH="0" baseline="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rPr>
              <a:t>研究目标和</a:t>
            </a:r>
            <a:r>
              <a:rPr kumimoji="0" lang="zh-CN" altLang="en-US" sz="8100" b="1" i="0" u="none" strike="noStrike" kern="1200" cap="none" spc="300" normalizeH="0" baseline="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rPr>
              <a:t>内容</a:t>
            </a:r>
            <a:endParaRPr kumimoji="0" lang="zh-CN" altLang="en-US" sz="8100" b="1" i="0" u="none" strike="noStrike" kern="1200" cap="none" spc="300" normalizeH="0" baseline="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70" name="矩形 69"/>
          <p:cNvSpPr/>
          <p:nvPr/>
        </p:nvSpPr>
        <p:spPr>
          <a:xfrm>
            <a:off x="2450009" y="4169864"/>
            <a:ext cx="997917" cy="68580"/>
          </a:xfrm>
          <a:prstGeom prst="rect">
            <a:avLst/>
          </a:prstGeom>
          <a:solidFill>
            <a:srgbClr val="861B11"/>
          </a:solidFill>
          <a:ln>
            <a:noFill/>
          </a:ln>
        </p:spPr>
        <p:txBody>
          <a:bodyPr vert="horz" wrap="square" lIns="137160" tIns="68580" rIns="137160" bIns="68580" numCol="1" anchor="t" anchorCtr="0" compatLnSpc="1"/>
          <a:lstStyle/>
          <a:p>
            <a:endParaRPr lang="zh-CN" altLang="en-US" sz="2700">
              <a:solidFill>
                <a:srgbClr val="FF0000"/>
              </a:solidFill>
              <a:latin typeface="Arial" panose="020B0604020202090204" pitchFamily="34" charset="0"/>
              <a:ea typeface="微软雅黑" charset="-122"/>
              <a:cs typeface="+mn-ea"/>
              <a:sym typeface="Arial" panose="020B0604020202090204" pitchFamily="34" charset="0"/>
            </a:endParaRPr>
          </a:p>
        </p:txBody>
      </p:sp>
      <p:sp>
        <p:nvSpPr>
          <p:cNvPr id="72" name="矩形 71"/>
          <p:cNvSpPr/>
          <p:nvPr/>
        </p:nvSpPr>
        <p:spPr>
          <a:xfrm>
            <a:off x="2272665" y="5866130"/>
            <a:ext cx="10861040" cy="737235"/>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rPr>
              <a:t>Research </a:t>
            </a:r>
            <a:r>
              <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rPr>
              <a:t>objectives and content</a:t>
            </a:r>
            <a:endPar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endParaRPr>
          </a:p>
        </p:txBody>
      </p:sp>
      <p:pic>
        <p:nvPicPr>
          <p:cNvPr id="2" name="图片 1"/>
          <p:cNvPicPr>
            <a:picLocks noChangeAspect="1"/>
          </p:cNvPicPr>
          <p:nvPr>
            <p:custDataLst>
              <p:tags r:id="rId1"/>
            </p:custDataLst>
          </p:nvPr>
        </p:nvPicPr>
        <p:blipFill>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14984145" y="-495207"/>
            <a:ext cx="2618234" cy="2618816"/>
          </a:xfrm>
          <a:prstGeom prst="rect">
            <a:avLst/>
          </a:prstGeom>
        </p:spPr>
      </p:pic>
      <p:sp>
        <p:nvSpPr>
          <p:cNvPr id="4" name="Freeform 5"/>
          <p:cNvSpPr/>
          <p:nvPr>
            <p:custDataLst>
              <p:tags r:id="rId4"/>
            </p:custDataLst>
          </p:nvPr>
        </p:nvSpPr>
        <p:spPr>
          <a:xfrm rot="862994">
            <a:off x="-8112194" y="7634155"/>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5">
              <a:alphaModFix amt="19999"/>
              <a:duotone>
                <a:schemeClr val="accent2">
                  <a:shade val="45000"/>
                  <a:satMod val="135000"/>
                </a:schemeClr>
                <a:prstClr val="white"/>
              </a:duotone>
            </a:blip>
            <a:stretch>
              <a:fillRect/>
            </a:stretch>
          </a:blipFill>
          <a:ln cap="sq">
            <a:noFill/>
            <a:prstDash val="solid"/>
            <a:miter/>
          </a:ln>
        </p:spPr>
        <p:txBody>
          <a:bodyPr/>
          <a:p>
            <a:endParaRPr lang="zh-CN" altLang="en-US"/>
          </a:p>
        </p:txBody>
      </p:sp>
      <p:sp>
        <p:nvSpPr>
          <p:cNvPr id="5" name="Freeform 4"/>
          <p:cNvSpPr/>
          <p:nvPr>
            <p:custDataLst>
              <p:tags r:id="rId6"/>
            </p:custDataLst>
          </p:nvPr>
        </p:nvSpPr>
        <p:spPr>
          <a:xfrm rot="-1204851" flipV="1">
            <a:off x="5745427" y="8194128"/>
            <a:ext cx="13996660" cy="4723021"/>
          </a:xfrm>
          <a:custGeom>
            <a:avLst/>
            <a:gdLst/>
            <a:ahLst/>
            <a:cxnLst/>
            <a:rect l="l" t="t" r="r" b="b"/>
            <a:pathLst>
              <a:path w="13996660" h="4723021">
                <a:moveTo>
                  <a:pt x="0" y="4723021"/>
                </a:moveTo>
                <a:lnTo>
                  <a:pt x="13996660" y="4723021"/>
                </a:lnTo>
                <a:lnTo>
                  <a:pt x="13996660" y="0"/>
                </a:lnTo>
                <a:lnTo>
                  <a:pt x="0" y="0"/>
                </a:lnTo>
                <a:lnTo>
                  <a:pt x="0" y="4723021"/>
                </a:lnTo>
                <a:close/>
              </a:path>
            </a:pathLst>
          </a:custGeom>
          <a:blipFill>
            <a:blip r:embed="rId5">
              <a:alphaModFix amt="18000"/>
              <a:duotone>
                <a:schemeClr val="accent2">
                  <a:shade val="45000"/>
                  <a:satMod val="135000"/>
                </a:schemeClr>
                <a:prstClr val="white"/>
              </a:duotone>
            </a:blip>
            <a:stretch>
              <a:fillRect r="-24401"/>
            </a:stretch>
          </a:blipFill>
          <a:ln cap="sq">
            <a:noFill/>
            <a:prstDash val="solid"/>
            <a:miter/>
          </a:ln>
        </p:spPr>
        <p:txBody>
          <a:bodyPr/>
          <a:p>
            <a:endParaRPr lang="zh-CN" altLang="en-US"/>
          </a:p>
        </p:txBody>
      </p:sp>
    </p:spTree>
  </p:cSld>
  <p:clrMapOvr>
    <a:masterClrMapping/>
  </p:clrMapOvr>
  <p:transition advTm="2393"/>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矩形: 圆角 101"/>
          <p:cNvSpPr/>
          <p:nvPr>
            <p:custDataLst>
              <p:tags r:id="rId1"/>
            </p:custDataLst>
          </p:nvPr>
        </p:nvSpPr>
        <p:spPr>
          <a:xfrm>
            <a:off x="930275" y="5829300"/>
            <a:ext cx="16406495" cy="3346450"/>
          </a:xfrm>
          <a:prstGeom prst="roundRect">
            <a:avLst>
              <a:gd name="adj" fmla="val 7172"/>
            </a:avLst>
          </a:prstGeom>
          <a:solidFill>
            <a:schemeClr val="bg1"/>
          </a:solidFill>
          <a:ln>
            <a:solidFill>
              <a:srgbClr val="861B1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dirty="0"/>
          </a:p>
        </p:txBody>
      </p:sp>
      <p:sp>
        <p:nvSpPr>
          <p:cNvPr id="10" name="灯片编号占位符 9"/>
          <p:cNvSpPr>
            <a:spLocks noGrp="1"/>
          </p:cNvSpPr>
          <p:nvPr>
            <p:ph type="sldNum" sz="quarter" idx="4"/>
          </p:nvPr>
        </p:nvSpPr>
        <p:spPr/>
        <p:txBody>
          <a:bodyPr/>
          <a:lstStyle/>
          <a:p>
            <a:r>
              <a:rPr lang="en-US" altLang="zh-CN" sz="2700">
                <a:sym typeface="Arial" panose="020B0604020202090204" pitchFamily="34" charset="0"/>
              </a:rPr>
              <a:t>&lt; </a:t>
            </a:r>
            <a:fld id="{A548B57D-AE10-4CF7-A9DF-59FEFA91B28E}" type="slidenum">
              <a:rPr lang="zh-CN" altLang="en-US" sz="2700" smtClean="0">
                <a:sym typeface="Arial" panose="020B0604020202090204" pitchFamily="34" charset="0"/>
              </a:rPr>
            </a:fld>
            <a:r>
              <a:rPr lang="zh-CN" altLang="en-US" sz="2700">
                <a:sym typeface="Arial" panose="020B0604020202090204" pitchFamily="34" charset="0"/>
              </a:rPr>
              <a:t> </a:t>
            </a:r>
            <a:r>
              <a:rPr lang="en-US" altLang="zh-CN" sz="2700">
                <a:sym typeface="Arial" panose="020B0604020202090204" pitchFamily="34" charset="0"/>
              </a:rPr>
              <a:t>&gt;</a:t>
            </a:r>
            <a:endParaRPr lang="zh-CN" altLang="en-US" sz="2700" dirty="0">
              <a:sym typeface="Arial" panose="020B0604020202090204" pitchFamily="34" charset="0"/>
            </a:endParaRPr>
          </a:p>
        </p:txBody>
      </p:sp>
      <p:sp>
        <p:nvSpPr>
          <p:cNvPr id="16" name="标题 15"/>
          <p:cNvSpPr>
            <a:spLocks noGrp="1"/>
          </p:cNvSpPr>
          <p:nvPr>
            <p:ph type="title"/>
          </p:nvPr>
        </p:nvSpPr>
        <p:spPr/>
        <p:txBody>
          <a:bodyPr/>
          <a:lstStyle/>
          <a:p>
            <a:r>
              <a:rPr lang="en-US" altLang="zh-CN">
                <a:sym typeface="Arial" panose="020B0604020202090204" pitchFamily="34" charset="0"/>
              </a:rPr>
              <a:t>2.1 </a:t>
            </a:r>
            <a:r>
              <a:rPr>
                <a:sym typeface="Arial" panose="020B0604020202090204" pitchFamily="34" charset="0"/>
              </a:rPr>
              <a:t>研究目标</a:t>
            </a:r>
            <a:endParaRPr lang="zh-CN" altLang="en-US" dirty="0">
              <a:sym typeface="Arial" panose="020B0604020202090204" pitchFamily="34" charset="0"/>
            </a:endParaRPr>
          </a:p>
        </p:txBody>
      </p:sp>
      <p:sp>
        <p:nvSpPr>
          <p:cNvPr id="24" name="Shape 1787"/>
          <p:cNvSpPr/>
          <p:nvPr/>
        </p:nvSpPr>
        <p:spPr>
          <a:xfrm>
            <a:off x="8966024" y="2256636"/>
            <a:ext cx="2" cy="2156937"/>
          </a:xfrm>
          <a:prstGeom prst="line">
            <a:avLst/>
          </a:prstGeom>
          <a:ln w="6350">
            <a:solidFill>
              <a:sysClr val="window" lastClr="FFFFFF">
                <a:lumMod val="65000"/>
              </a:sysClr>
            </a:solidFill>
            <a:miter lim="400000"/>
          </a:ln>
        </p:spPr>
        <p:txBody>
          <a:bodyPr lIns="0" tIns="0" rIns="0" bIns="0"/>
          <a:lstStyle/>
          <a:p>
            <a:pPr marL="0" marR="0" lvl="0" indent="0" defTabSz="241300" eaLnBrk="1" fontAlgn="base" latinLnBrk="0" hangingPunct="1">
              <a:lnSpc>
                <a:spcPct val="100000"/>
              </a:lnSpc>
              <a:spcBef>
                <a:spcPct val="0"/>
              </a:spcBef>
              <a:spcAft>
                <a:spcPct val="0"/>
              </a:spcAft>
              <a:buClrTx/>
              <a:buSzTx/>
              <a:buFontTx/>
              <a:buNone/>
              <a:defRPr sz="1200">
                <a:solidFill>
                  <a:srgbClr val="000000"/>
                </a:solidFill>
                <a:latin typeface="Helvetica"/>
                <a:ea typeface="Helvetica"/>
                <a:cs typeface="Helvetica"/>
                <a:sym typeface="Helvetica"/>
              </a:defRPr>
            </a:pPr>
            <a:endParaRPr kumimoji="0" sz="900" b="0" i="0" u="none" strike="noStrike" kern="0" cap="none" spc="0" normalizeH="0" baseline="0" noProof="0">
              <a:ln>
                <a:noFill/>
              </a:ln>
              <a:solidFill>
                <a:srgbClr val="000000"/>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25" name="Shape 1785"/>
          <p:cNvSpPr/>
          <p:nvPr/>
        </p:nvSpPr>
        <p:spPr>
          <a:xfrm>
            <a:off x="8966020" y="2256639"/>
            <a:ext cx="6546389" cy="2145293"/>
          </a:xfrm>
          <a:prstGeom prst="line">
            <a:avLst/>
          </a:prstGeom>
          <a:ln w="6350">
            <a:solidFill>
              <a:sysClr val="window" lastClr="FFFFFF">
                <a:lumMod val="65000"/>
              </a:sysClr>
            </a:solidFill>
            <a:miter lim="400000"/>
          </a:ln>
        </p:spPr>
        <p:txBody>
          <a:bodyPr lIns="0" tIns="0" rIns="0" bIns="0"/>
          <a:lstStyle/>
          <a:p>
            <a:pPr marL="0" marR="0" lvl="0" indent="0" defTabSz="241300" eaLnBrk="1" fontAlgn="base" latinLnBrk="0" hangingPunct="1">
              <a:lnSpc>
                <a:spcPct val="100000"/>
              </a:lnSpc>
              <a:spcBef>
                <a:spcPct val="0"/>
              </a:spcBef>
              <a:spcAft>
                <a:spcPct val="0"/>
              </a:spcAft>
              <a:buClrTx/>
              <a:buSzTx/>
              <a:buFontTx/>
              <a:buNone/>
              <a:defRPr sz="1200">
                <a:solidFill>
                  <a:srgbClr val="000000"/>
                </a:solidFill>
                <a:latin typeface="Helvetica"/>
                <a:ea typeface="Helvetica"/>
                <a:cs typeface="Helvetica"/>
                <a:sym typeface="Helvetica"/>
              </a:defRPr>
            </a:pPr>
            <a:endParaRPr kumimoji="0" sz="900" b="0" i="0" u="none" strike="noStrike" kern="0" cap="none" spc="0" normalizeH="0" baseline="0" noProof="0">
              <a:ln>
                <a:noFill/>
              </a:ln>
              <a:solidFill>
                <a:srgbClr val="000000"/>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28" name="Shape 1789"/>
          <p:cNvSpPr/>
          <p:nvPr/>
        </p:nvSpPr>
        <p:spPr>
          <a:xfrm flipH="1">
            <a:off x="2407992" y="2256636"/>
            <a:ext cx="6558030" cy="2156937"/>
          </a:xfrm>
          <a:prstGeom prst="line">
            <a:avLst/>
          </a:prstGeom>
          <a:ln w="6350">
            <a:solidFill>
              <a:sysClr val="window" lastClr="FFFFFF">
                <a:lumMod val="65000"/>
              </a:sysClr>
            </a:solidFill>
            <a:miter lim="400000"/>
          </a:ln>
        </p:spPr>
        <p:txBody>
          <a:bodyPr lIns="0" tIns="0" rIns="0" bIns="0"/>
          <a:lstStyle/>
          <a:p>
            <a:pPr marL="0" marR="0" lvl="0" indent="0" defTabSz="241300" eaLnBrk="1" fontAlgn="base" latinLnBrk="0" hangingPunct="1">
              <a:lnSpc>
                <a:spcPct val="100000"/>
              </a:lnSpc>
              <a:spcBef>
                <a:spcPct val="0"/>
              </a:spcBef>
              <a:spcAft>
                <a:spcPct val="0"/>
              </a:spcAft>
              <a:buClrTx/>
              <a:buSzTx/>
              <a:buFontTx/>
              <a:buNone/>
              <a:defRPr sz="1200">
                <a:solidFill>
                  <a:srgbClr val="000000"/>
                </a:solidFill>
                <a:latin typeface="Helvetica"/>
                <a:ea typeface="Helvetica"/>
                <a:cs typeface="Helvetica"/>
                <a:sym typeface="Helvetica"/>
              </a:defRPr>
            </a:pPr>
            <a:endParaRPr kumimoji="0" sz="900" b="0" i="0" u="none" strike="noStrike" kern="0" cap="none" spc="0" normalizeH="0" baseline="0" noProof="0">
              <a:ln>
                <a:noFill/>
              </a:ln>
              <a:solidFill>
                <a:srgbClr val="000000"/>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29" name="Shape 1794"/>
          <p:cNvSpPr/>
          <p:nvPr/>
        </p:nvSpPr>
        <p:spPr>
          <a:xfrm>
            <a:off x="930275" y="4008755"/>
            <a:ext cx="4488180" cy="931545"/>
          </a:xfrm>
          <a:prstGeom prst="roundRect">
            <a:avLst>
              <a:gd name="adj" fmla="val 50000"/>
            </a:avLst>
          </a:prstGeom>
          <a:solidFill>
            <a:srgbClr val="9A0001"/>
          </a:solidFill>
          <a:ln w="12700">
            <a:miter lim="400000"/>
          </a:ln>
        </p:spPr>
        <p:txBody>
          <a:bodyPr lIns="30135" tIns="30135" rIns="30135" bIns="30135" anchor="ctr"/>
          <a:lstStyle/>
          <a:p>
            <a:pPr marL="0" marR="0" lvl="0" indent="0" defTabSz="914400" eaLnBrk="1" fontAlgn="base" latinLnBrk="0" hangingPunct="1">
              <a:lnSpc>
                <a:spcPct val="120000"/>
              </a:lnSpc>
              <a:spcBef>
                <a:spcPct val="0"/>
              </a:spcBef>
              <a:spcAft>
                <a:spcPct val="0"/>
              </a:spcAft>
              <a:buClrTx/>
              <a:buSzTx/>
              <a:buFontTx/>
              <a:buNone/>
              <a:defRPr/>
            </a:pPr>
            <a:endParaRPr kumimoji="0" sz="2400" b="0" i="0" u="none" strike="noStrike" kern="0" cap="none" spc="0" normalizeH="0" baseline="0" noProof="0">
              <a:ln>
                <a:noFill/>
              </a:ln>
              <a:solidFill>
                <a:prstClr val="black"/>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31" name="Shape 1798"/>
          <p:cNvSpPr/>
          <p:nvPr/>
        </p:nvSpPr>
        <p:spPr>
          <a:xfrm>
            <a:off x="6322695" y="4008755"/>
            <a:ext cx="5300980" cy="931545"/>
          </a:xfrm>
          <a:prstGeom prst="roundRect">
            <a:avLst>
              <a:gd name="adj" fmla="val 50000"/>
            </a:avLst>
          </a:prstGeom>
          <a:solidFill>
            <a:schemeClr val="bg1">
              <a:lumMod val="50000"/>
            </a:schemeClr>
          </a:solidFill>
          <a:ln w="12700">
            <a:miter lim="400000"/>
          </a:ln>
        </p:spPr>
        <p:txBody>
          <a:bodyPr lIns="30135" tIns="30135" rIns="30135" bIns="30135" anchor="ctr"/>
          <a:lstStyle/>
          <a:p>
            <a:pPr marL="0" marR="0" lvl="0" indent="0" defTabSz="914400" eaLnBrk="1" fontAlgn="base" latinLnBrk="0" hangingPunct="1">
              <a:lnSpc>
                <a:spcPct val="120000"/>
              </a:lnSpc>
              <a:spcBef>
                <a:spcPct val="0"/>
              </a:spcBef>
              <a:spcAft>
                <a:spcPct val="0"/>
              </a:spcAft>
              <a:buClrTx/>
              <a:buSzTx/>
              <a:buFontTx/>
              <a:buNone/>
              <a:defRPr/>
            </a:pPr>
            <a:endParaRPr kumimoji="0" sz="2400" b="0" i="0" u="none" strike="noStrike" kern="0" cap="none" spc="0" normalizeH="0" baseline="0" noProof="0">
              <a:ln>
                <a:noFill/>
              </a:ln>
              <a:solidFill>
                <a:prstClr val="black"/>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32" name="Shape 1800"/>
          <p:cNvSpPr/>
          <p:nvPr/>
        </p:nvSpPr>
        <p:spPr>
          <a:xfrm>
            <a:off x="12458065" y="3985260"/>
            <a:ext cx="4485005" cy="931545"/>
          </a:xfrm>
          <a:prstGeom prst="roundRect">
            <a:avLst>
              <a:gd name="adj" fmla="val 50000"/>
            </a:avLst>
          </a:prstGeom>
          <a:solidFill>
            <a:srgbClr val="9A0001"/>
          </a:solidFill>
          <a:ln w="12700">
            <a:miter lim="400000"/>
          </a:ln>
        </p:spPr>
        <p:txBody>
          <a:bodyPr lIns="30135" tIns="30135" rIns="30135" bIns="30135" anchor="ctr"/>
          <a:lstStyle/>
          <a:p>
            <a:pPr marL="0" marR="0" lvl="0" indent="0" defTabSz="914400" eaLnBrk="1" fontAlgn="base" latinLnBrk="0" hangingPunct="1">
              <a:lnSpc>
                <a:spcPct val="120000"/>
              </a:lnSpc>
              <a:spcBef>
                <a:spcPct val="0"/>
              </a:spcBef>
              <a:spcAft>
                <a:spcPct val="0"/>
              </a:spcAft>
              <a:buClrTx/>
              <a:buSzTx/>
              <a:buFontTx/>
              <a:buNone/>
              <a:defRPr/>
            </a:pPr>
            <a:endParaRPr kumimoji="0" sz="2400" b="0" i="0" u="none" strike="noStrike" kern="0" cap="none" spc="0" normalizeH="0" baseline="0" noProof="0">
              <a:ln>
                <a:noFill/>
              </a:ln>
              <a:solidFill>
                <a:prstClr val="black"/>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35" name="Shape 1790"/>
          <p:cNvSpPr/>
          <p:nvPr/>
        </p:nvSpPr>
        <p:spPr>
          <a:xfrm>
            <a:off x="8013700" y="1385570"/>
            <a:ext cx="1884045" cy="1884045"/>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9A0001"/>
          </a:solidFill>
          <a:ln w="12700">
            <a:miter lim="400000"/>
          </a:ln>
        </p:spPr>
        <p:txBody>
          <a:bodyPr lIns="40180" tIns="40180" rIns="40180" bIns="40180" anchor="ctr"/>
          <a:lstStyle/>
          <a:p>
            <a:pPr marL="0" marR="0" lvl="0" indent="0" defTabSz="914400" eaLnBrk="1" fontAlgn="base" latinLnBrk="0" hangingPunct="1">
              <a:lnSpc>
                <a:spcPct val="120000"/>
              </a:lnSpc>
              <a:spcBef>
                <a:spcPct val="0"/>
              </a:spcBef>
              <a:spcAft>
                <a:spcPct val="0"/>
              </a:spcAft>
              <a:buClrTx/>
              <a:buSzTx/>
              <a:buFontTx/>
              <a:buNone/>
              <a:defRPr/>
            </a:pPr>
            <a:endParaRPr kumimoji="0" sz="2700" b="0" i="0" u="none" strike="noStrike" kern="0" cap="none" spc="0" normalizeH="0" baseline="0" noProof="0">
              <a:ln>
                <a:noFill/>
              </a:ln>
              <a:solidFill>
                <a:prstClr val="black"/>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38" name="Text Placeholder 3"/>
          <p:cNvSpPr txBox="1"/>
          <p:nvPr/>
        </p:nvSpPr>
        <p:spPr>
          <a:xfrm>
            <a:off x="6658610" y="4130675"/>
            <a:ext cx="4694555" cy="646430"/>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fontAlgn="base">
              <a:lnSpc>
                <a:spcPct val="120000"/>
              </a:lnSpc>
              <a:spcAft>
                <a:spcPct val="0"/>
              </a:spcAft>
            </a:pPr>
            <a:r>
              <a:rPr lang="zh-CN" altLang="en-US" sz="2100" dirty="0">
                <a:solidFill>
                  <a:prstClr val="white"/>
                </a:solidFill>
                <a:latin typeface="Arial" panose="020B0604020202090204" pitchFamily="34" charset="0"/>
                <a:ea typeface="微软雅黑" charset="-122"/>
                <a:cs typeface="+mn-ea"/>
                <a:sym typeface="+mn-ea"/>
              </a:rPr>
              <a:t>寻路算法与实际火灾风险的结合度不高</a:t>
            </a:r>
            <a:endParaRPr lang="zh-CN" altLang="en-US" sz="2100" dirty="0">
              <a:solidFill>
                <a:prstClr val="white"/>
              </a:solidFill>
              <a:latin typeface="Arial" panose="020B0604020202090204" pitchFamily="34" charset="0"/>
              <a:ea typeface="微软雅黑" charset="-122"/>
              <a:cs typeface="+mn-ea"/>
              <a:sym typeface="Arial" panose="020B0604020202090204" pitchFamily="34" charset="0"/>
            </a:endParaRPr>
          </a:p>
        </p:txBody>
      </p:sp>
      <p:sp>
        <p:nvSpPr>
          <p:cNvPr id="39" name="Text Placeholder 3"/>
          <p:cNvSpPr txBox="1"/>
          <p:nvPr/>
        </p:nvSpPr>
        <p:spPr>
          <a:xfrm>
            <a:off x="12634595" y="4095750"/>
            <a:ext cx="4272280" cy="646430"/>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fontAlgn="base">
              <a:lnSpc>
                <a:spcPct val="120000"/>
              </a:lnSpc>
              <a:spcAft>
                <a:spcPct val="0"/>
              </a:spcAft>
            </a:pPr>
            <a:r>
              <a:rPr lang="zh-CN" altLang="en-US" sz="2100" dirty="0">
                <a:solidFill>
                  <a:prstClr val="white"/>
                </a:solidFill>
                <a:latin typeface="Arial" panose="020B0604020202090204" pitchFamily="34" charset="0"/>
                <a:ea typeface="微软雅黑" charset="-122"/>
                <a:cs typeface="+mn-ea"/>
                <a:sym typeface="+mn-ea"/>
              </a:rPr>
              <a:t>缺少结合具体实例的综合仿真研究</a:t>
            </a:r>
            <a:endParaRPr lang="en-GB" altLang="zh-CN" sz="2100" dirty="0">
              <a:solidFill>
                <a:prstClr val="white"/>
              </a:solidFill>
              <a:latin typeface="Arial" panose="020B0604020202090204" pitchFamily="34" charset="0"/>
              <a:ea typeface="微软雅黑" charset="-122"/>
              <a:cs typeface="+mn-ea"/>
              <a:sym typeface="Arial" panose="020B0604020202090204" pitchFamily="34" charset="0"/>
            </a:endParaRPr>
          </a:p>
        </p:txBody>
      </p:sp>
      <p:sp>
        <p:nvSpPr>
          <p:cNvPr id="40" name="Text Placeholder 3"/>
          <p:cNvSpPr txBox="1"/>
          <p:nvPr/>
        </p:nvSpPr>
        <p:spPr>
          <a:xfrm>
            <a:off x="967740" y="4151630"/>
            <a:ext cx="4324350" cy="646430"/>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fontAlgn="base">
              <a:lnSpc>
                <a:spcPct val="120000"/>
              </a:lnSpc>
              <a:spcAft>
                <a:spcPct val="0"/>
              </a:spcAft>
            </a:pPr>
            <a:r>
              <a:rPr lang="zh-CN" altLang="en-US" sz="2100" dirty="0">
                <a:solidFill>
                  <a:prstClr val="white"/>
                </a:solidFill>
                <a:latin typeface="Arial" panose="020B0604020202090204" pitchFamily="34" charset="0"/>
                <a:ea typeface="微软雅黑" charset="-122"/>
                <a:cs typeface="+mn-ea"/>
                <a:sym typeface="+mn-ea"/>
              </a:rPr>
              <a:t>未能充分考虑火灾环境的动态变化</a:t>
            </a:r>
            <a:endParaRPr lang="zh-CN" altLang="en-US" sz="2100" dirty="0">
              <a:solidFill>
                <a:prstClr val="white"/>
              </a:solidFill>
              <a:latin typeface="Arial" panose="020B0604020202090204" pitchFamily="34" charset="0"/>
              <a:ea typeface="微软雅黑" charset="-122"/>
              <a:cs typeface="+mn-ea"/>
              <a:sym typeface="Arial" panose="020B0604020202090204" pitchFamily="34" charset="0"/>
            </a:endParaRPr>
          </a:p>
        </p:txBody>
      </p:sp>
      <p:sp>
        <p:nvSpPr>
          <p:cNvPr id="2" name="文本框 1"/>
          <p:cNvSpPr txBox="1"/>
          <p:nvPr/>
        </p:nvSpPr>
        <p:spPr>
          <a:xfrm>
            <a:off x="1066800" y="5905500"/>
            <a:ext cx="16104235" cy="3207385"/>
          </a:xfrm>
          <a:prstGeom prst="rect">
            <a:avLst/>
          </a:prstGeom>
          <a:noFill/>
        </p:spPr>
        <p:txBody>
          <a:bodyPr wrap="square" rtlCol="0">
            <a:spAutoFit/>
          </a:bodyPr>
          <a:lstStyle/>
          <a:p>
            <a:pPr marL="457200" indent="-457200">
              <a:lnSpc>
                <a:spcPct val="150000"/>
              </a:lnSpc>
              <a:buFont typeface="Arial" panose="020B0604020202090204" pitchFamily="34" charset="0"/>
              <a:buChar char="•"/>
            </a:pPr>
            <a:r>
              <a:rPr lang="zh-CN" altLang="en-US" sz="2700">
                <a:latin typeface="宋体"/>
                <a:ea typeface="宋体"/>
                <a:sym typeface="+mn-ea"/>
              </a:rPr>
              <a:t>本文旨在结合</a:t>
            </a:r>
            <a:r>
              <a:rPr lang="en-US" altLang="zh-CN" sz="2700">
                <a:latin typeface="Times New Roman" panose="02020503050405090304"/>
                <a:ea typeface="Times New Roman" panose="02020503050405090304"/>
                <a:sym typeface="+mn-ea"/>
              </a:rPr>
              <a:t>Pyrosim</a:t>
            </a:r>
            <a:r>
              <a:rPr lang="zh-CN" altLang="en-US" sz="2700">
                <a:latin typeface="宋体"/>
                <a:ea typeface="宋体"/>
                <a:sym typeface="+mn-ea"/>
              </a:rPr>
              <a:t>仿真软件和</a:t>
            </a:r>
            <a:r>
              <a:rPr lang="en-US" altLang="zh-CN" sz="2700">
                <a:latin typeface="Times New Roman" panose="02020503050405090304"/>
                <a:ea typeface="Times New Roman" panose="02020503050405090304"/>
                <a:sym typeface="+mn-ea"/>
              </a:rPr>
              <a:t>A-star</a:t>
            </a:r>
            <a:r>
              <a:rPr lang="zh-CN" altLang="en-US" sz="2700">
                <a:latin typeface="宋体"/>
                <a:ea typeface="宋体"/>
                <a:sym typeface="+mn-ea"/>
              </a:rPr>
              <a:t>算法，研究火灾情景下的人员</a:t>
            </a:r>
            <a:r>
              <a:rPr lang="zh-CN" altLang="en-US" sz="2700" b="1">
                <a:latin typeface="宋体"/>
                <a:ea typeface="宋体"/>
                <a:sym typeface="+mn-ea"/>
              </a:rPr>
              <a:t>疏散</a:t>
            </a:r>
            <a:r>
              <a:rPr lang="zh-CN" altLang="en-US" sz="2700">
                <a:latin typeface="宋体"/>
                <a:ea typeface="宋体"/>
                <a:sym typeface="+mn-ea"/>
              </a:rPr>
              <a:t>路径规划。</a:t>
            </a:r>
            <a:endParaRPr lang="zh-CN" altLang="en-US" sz="2700">
              <a:latin typeface="宋体"/>
              <a:ea typeface="宋体"/>
              <a:sym typeface="+mn-ea"/>
            </a:endParaRPr>
          </a:p>
          <a:p>
            <a:pPr marL="457200" indent="-457200">
              <a:lnSpc>
                <a:spcPct val="150000"/>
              </a:lnSpc>
              <a:buFont typeface="Arial" panose="020B0604020202090204" pitchFamily="34" charset="0"/>
              <a:buChar char="•"/>
            </a:pPr>
            <a:r>
              <a:rPr lang="zh-CN" altLang="en-US" sz="2700">
                <a:latin typeface="宋体"/>
                <a:ea typeface="宋体"/>
                <a:sym typeface="+mn-ea"/>
              </a:rPr>
              <a:t>在地铁火灾模拟的基础上，构建考虑环境变化和火灾风险的路径规划算法，找到兼具安全性和快速性的疏散路径，并通过仿真手段对其合理性与有效性进行验证</a:t>
            </a:r>
            <a:r>
              <a:rPr lang="en-US" altLang="zh-CN" sz="2700">
                <a:latin typeface="宋体"/>
                <a:ea typeface="宋体"/>
                <a:sym typeface="+mn-ea"/>
              </a:rPr>
              <a:t>。</a:t>
            </a:r>
            <a:endParaRPr lang="en-US" altLang="zh-CN" sz="2700">
              <a:latin typeface="宋体"/>
              <a:ea typeface="宋体"/>
              <a:sym typeface="+mn-ea"/>
            </a:endParaRPr>
          </a:p>
          <a:p>
            <a:pPr marL="457200" indent="-457200">
              <a:lnSpc>
                <a:spcPct val="150000"/>
              </a:lnSpc>
              <a:buFont typeface="Arial" panose="020B0604020202090204" pitchFamily="34" charset="0"/>
              <a:buChar char="•"/>
            </a:pPr>
            <a:r>
              <a:rPr lang="zh-CN" altLang="en-US" sz="2700">
                <a:latin typeface="宋体"/>
                <a:ea typeface="宋体"/>
                <a:sym typeface="+mn-ea"/>
              </a:rPr>
              <a:t>为地铁火灾防控工作提供全局性建议</a:t>
            </a:r>
            <a:r>
              <a:rPr lang="en-US" altLang="zh-CN" sz="2700">
                <a:latin typeface="宋体"/>
                <a:ea typeface="宋体"/>
                <a:sym typeface="+mn-ea"/>
              </a:rPr>
              <a:t>，</a:t>
            </a:r>
            <a:r>
              <a:rPr lang="zh-CN" altLang="en-US" sz="2700">
                <a:latin typeface="宋体"/>
                <a:ea typeface="宋体"/>
                <a:sym typeface="+mn-ea"/>
              </a:rPr>
              <a:t>以期提升地铁火灾应急疏散决策的科学性，降低人员伤亡，增强地铁交通的安全韧性</a:t>
            </a:r>
            <a:r>
              <a:rPr lang="en-US" altLang="zh-CN" sz="2700">
                <a:latin typeface="宋体"/>
                <a:ea typeface="宋体"/>
                <a:sym typeface="+mn-ea"/>
              </a:rPr>
              <a:t>。</a:t>
            </a:r>
            <a:endParaRPr lang="en-US" altLang="zh-CN" sz="2700" dirty="0">
              <a:latin typeface="宋体"/>
              <a:ea typeface="宋体"/>
              <a:cs typeface="+mn-ea"/>
              <a:sym typeface="+mn-ea"/>
            </a:endParaRPr>
          </a:p>
        </p:txBody>
      </p:sp>
      <p:sp>
        <p:nvSpPr>
          <p:cNvPr id="3" name="文本框 2"/>
          <p:cNvSpPr txBox="1"/>
          <p:nvPr/>
        </p:nvSpPr>
        <p:spPr>
          <a:xfrm>
            <a:off x="8397875" y="1790700"/>
            <a:ext cx="1115695" cy="1014730"/>
          </a:xfrm>
          <a:prstGeom prst="rect">
            <a:avLst/>
          </a:prstGeom>
          <a:noFill/>
        </p:spPr>
        <p:txBody>
          <a:bodyPr wrap="square" rtlCol="0">
            <a:spAutoFit/>
          </a:bodyPr>
          <a:p>
            <a:pPr algn="ctr"/>
            <a:r>
              <a:rPr lang="zh-CN" altLang="en-US" sz="3000">
                <a:solidFill>
                  <a:schemeClr val="bg1"/>
                </a:solidFill>
                <a:latin typeface="微软雅黑" charset="0"/>
                <a:ea typeface="微软雅黑" charset="0"/>
              </a:rPr>
              <a:t>研究现状</a:t>
            </a:r>
            <a:endParaRPr lang="zh-CN" altLang="en-US" sz="3000">
              <a:solidFill>
                <a:schemeClr val="bg1"/>
              </a:solidFill>
              <a:latin typeface="微软雅黑" charset="0"/>
              <a:ea typeface="微软雅黑" charset="0"/>
            </a:endParaRPr>
          </a:p>
        </p:txBody>
      </p:sp>
      <p:sp>
        <p:nvSpPr>
          <p:cNvPr id="4" name="Shape 1798"/>
          <p:cNvSpPr/>
          <p:nvPr>
            <p:custDataLst>
              <p:tags r:id="rId2"/>
            </p:custDataLst>
          </p:nvPr>
        </p:nvSpPr>
        <p:spPr>
          <a:xfrm>
            <a:off x="1006475" y="2545715"/>
            <a:ext cx="2110740" cy="931545"/>
          </a:xfrm>
          <a:prstGeom prst="roundRect">
            <a:avLst>
              <a:gd name="adj" fmla="val 19291"/>
            </a:avLst>
          </a:prstGeom>
          <a:solidFill>
            <a:schemeClr val="bg1">
              <a:lumMod val="50000"/>
            </a:schemeClr>
          </a:solidFill>
          <a:ln w="12700">
            <a:miter lim="400000"/>
          </a:ln>
        </p:spPr>
        <p:txBody>
          <a:bodyPr lIns="30135" tIns="30135" rIns="30135" bIns="30135" anchor="ctr"/>
          <a:p>
            <a:pPr marL="0" marR="0" lvl="0" indent="0" defTabSz="914400" eaLnBrk="1" fontAlgn="base" latinLnBrk="0" hangingPunct="1">
              <a:lnSpc>
                <a:spcPct val="120000"/>
              </a:lnSpc>
              <a:spcBef>
                <a:spcPct val="0"/>
              </a:spcBef>
              <a:spcAft>
                <a:spcPct val="0"/>
              </a:spcAft>
              <a:buClrTx/>
              <a:buSzTx/>
              <a:buFontTx/>
              <a:buNone/>
              <a:defRPr/>
            </a:pPr>
            <a:endParaRPr kumimoji="0" sz="2400" b="0" i="0" u="none" strike="noStrike" kern="0" cap="none" spc="0" normalizeH="0" baseline="0" noProof="0">
              <a:ln>
                <a:noFill/>
              </a:ln>
              <a:solidFill>
                <a:prstClr val="black"/>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5" name="Text Placeholder 3"/>
          <p:cNvSpPr txBox="1"/>
          <p:nvPr>
            <p:custDataLst>
              <p:tags r:id="rId3"/>
            </p:custDataLst>
          </p:nvPr>
        </p:nvSpPr>
        <p:spPr>
          <a:xfrm>
            <a:off x="990600" y="2718435"/>
            <a:ext cx="2025650" cy="646430"/>
          </a:xfrm>
          <a:prstGeom prst="rect">
            <a:avLst/>
          </a:prstGeom>
        </p:spPr>
        <p:txBody>
          <a:bodyPr vert="horz" lIns="0" tIns="0" rIns="0" bIns="0" rtlCol="0" anchor="ctr">
            <a:normAutofit/>
          </a:bodyPr>
          <a:lstStyle>
            <a:lvl1pPr marL="0" indent="0" algn="l" defTabSz="914400" rtl="0" eaLnBrk="1" latinLnBrk="0" hangingPunct="1">
              <a:lnSpc>
                <a:spcPct val="90000"/>
              </a:lnSpc>
              <a:spcBef>
                <a:spcPts val="1000"/>
              </a:spcBef>
              <a:buFont typeface="Arial" panose="020B0604020202090204" pitchFamily="34" charset="0"/>
              <a:buNone/>
              <a:defRPr sz="1750" kern="1200">
                <a:solidFill>
                  <a:schemeClr val="tx1"/>
                </a:solidFill>
                <a:latin typeface="Open Sans" panose="020B0606030504020204" pitchFamily="34" charset="0"/>
                <a:ea typeface="Open Sans" panose="020B0606030504020204" pitchFamily="34" charset="0"/>
                <a:cs typeface="Open Sans" panose="020B0606030504020204" pitchFamily="34" charset="0"/>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Open Sans" panose="020B0606030504020204"/>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Open Sans" panose="020B0606030504020204"/>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Open Sans" panose="020B0606030504020204"/>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Open Sans" panose="020B0606030504020204"/>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a:lstStyle>
          <a:p>
            <a:pPr algn="ctr" fontAlgn="base">
              <a:lnSpc>
                <a:spcPct val="120000"/>
              </a:lnSpc>
              <a:spcAft>
                <a:spcPct val="0"/>
              </a:spcAft>
            </a:pPr>
            <a:r>
              <a:rPr lang="zh-CN" altLang="en-US" sz="2400" dirty="0">
                <a:solidFill>
                  <a:prstClr val="white"/>
                </a:solidFill>
                <a:latin typeface="Arial" panose="020B0604020202090204" pitchFamily="34" charset="0"/>
                <a:ea typeface="微软雅黑" charset="-122"/>
                <a:cs typeface="+mn-ea"/>
                <a:sym typeface="+mn-ea"/>
              </a:rPr>
              <a:t>存在不足</a:t>
            </a:r>
            <a:endParaRPr lang="zh-CN" altLang="en-US" sz="2400" dirty="0">
              <a:solidFill>
                <a:prstClr val="white"/>
              </a:solidFill>
              <a:latin typeface="Arial" panose="020B0604020202090204" pitchFamily="34" charset="0"/>
              <a:ea typeface="微软雅黑" charset="-122"/>
              <a:cs typeface="+mn-ea"/>
              <a:sym typeface="Arial" panose="020B0604020202090204" pitchFamily="34" charset="0"/>
            </a:endParaRPr>
          </a:p>
        </p:txBody>
      </p:sp>
    </p:spTree>
  </p:cSld>
  <p:clrMapOvr>
    <a:masterClrMapping/>
  </p:clrMapOvr>
  <p:transition advTm="45157"/>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9"/>
          <p:cNvSpPr>
            <a:spLocks noGrp="1"/>
          </p:cNvSpPr>
          <p:nvPr>
            <p:ph type="sldNum" sz="quarter" idx="4"/>
          </p:nvPr>
        </p:nvSpPr>
        <p:spPr/>
        <p:txBody>
          <a:bodyPr/>
          <a:lstStyle/>
          <a:p>
            <a:r>
              <a:rPr lang="en-US" altLang="zh-CN" sz="2700">
                <a:sym typeface="Arial" panose="020B0604020202090204" pitchFamily="34" charset="0"/>
              </a:rPr>
              <a:t>&lt; </a:t>
            </a:r>
            <a:fld id="{A548B57D-AE10-4CF7-A9DF-59FEFA91B28E}" type="slidenum">
              <a:rPr lang="zh-CN" altLang="en-US" sz="2700" smtClean="0">
                <a:sym typeface="Arial" panose="020B0604020202090204" pitchFamily="34" charset="0"/>
              </a:rPr>
            </a:fld>
            <a:r>
              <a:rPr lang="zh-CN" altLang="en-US" sz="2700">
                <a:sym typeface="Arial" panose="020B0604020202090204" pitchFamily="34" charset="0"/>
              </a:rPr>
              <a:t> </a:t>
            </a:r>
            <a:r>
              <a:rPr lang="en-US" altLang="zh-CN" sz="2700">
                <a:sym typeface="Arial" panose="020B0604020202090204" pitchFamily="34" charset="0"/>
              </a:rPr>
              <a:t>&gt;</a:t>
            </a:r>
            <a:endParaRPr lang="zh-CN" altLang="en-US" sz="2700" dirty="0">
              <a:sym typeface="Arial" panose="020B0604020202090204" pitchFamily="34" charset="0"/>
            </a:endParaRPr>
          </a:p>
        </p:txBody>
      </p:sp>
      <p:sp>
        <p:nvSpPr>
          <p:cNvPr id="6" name="标题 5"/>
          <p:cNvSpPr>
            <a:spLocks noGrp="1"/>
          </p:cNvSpPr>
          <p:nvPr>
            <p:ph type="title"/>
          </p:nvPr>
        </p:nvSpPr>
        <p:spPr/>
        <p:txBody>
          <a:bodyPr/>
          <a:lstStyle/>
          <a:p>
            <a:r>
              <a:rPr lang="en-US" altLang="zh-CN">
                <a:sym typeface="Arial" panose="020B0604020202090204" pitchFamily="34" charset="0"/>
              </a:rPr>
              <a:t>2.2 </a:t>
            </a:r>
            <a:r>
              <a:rPr>
                <a:sym typeface="Arial" panose="020B0604020202090204" pitchFamily="34" charset="0"/>
              </a:rPr>
              <a:t>研究内容</a:t>
            </a:r>
            <a:endParaRPr lang="zh-CN" altLang="en-US" dirty="0">
              <a:sym typeface="Arial" panose="020B0604020202090204" pitchFamily="34" charset="0"/>
            </a:endParaRPr>
          </a:p>
        </p:txBody>
      </p:sp>
      <p:sp>
        <p:nvSpPr>
          <p:cNvPr id="70" name="TextBox 23"/>
          <p:cNvSpPr txBox="1"/>
          <p:nvPr/>
        </p:nvSpPr>
        <p:spPr>
          <a:xfrm>
            <a:off x="1706245" y="4934585"/>
            <a:ext cx="3608705" cy="3049905"/>
          </a:xfrm>
          <a:prstGeom prst="rect">
            <a:avLst/>
          </a:prstGeom>
          <a:noFill/>
        </p:spPr>
        <p:txBody>
          <a:bodyPr wrap="square" lIns="95847" tIns="47923" rIns="95847" bIns="47923" rtlCol="0">
            <a:spAutoFit/>
          </a:bodyPr>
          <a:lstStyle/>
          <a:p>
            <a:pPr algn="just">
              <a:lnSpc>
                <a:spcPct val="100000"/>
              </a:lnSpc>
            </a:pPr>
            <a:r>
              <a:rPr lang="en-US" altLang="zh-CN" sz="2400" dirty="0">
                <a:solidFill>
                  <a:schemeClr val="tx1">
                    <a:lumMod val="85000"/>
                    <a:lumOff val="15000"/>
                  </a:schemeClr>
                </a:solidFill>
                <a:latin typeface="Arial" panose="020B0604020202090204" pitchFamily="34" charset="0"/>
                <a:ea typeface="微软雅黑" charset="-122"/>
                <a:cs typeface="+mn-ea"/>
                <a:sym typeface="Arial" panose="020B0604020202090204" pitchFamily="34" charset="0"/>
              </a:rPr>
              <a:t>       </a:t>
            </a:r>
            <a:r>
              <a:rPr lang="en-US" altLang="zh-CN" sz="2400" dirty="0">
                <a:solidFill>
                  <a:schemeClr val="tx1">
                    <a:lumMod val="85000"/>
                    <a:lumOff val="15000"/>
                  </a:schemeClr>
                </a:solidFill>
                <a:latin typeface="宋体" charset="0"/>
                <a:ea typeface="宋体" charset="0"/>
                <a:cs typeface="宋体" charset="0"/>
                <a:sym typeface="Arial" panose="020B0604020202090204" pitchFamily="34" charset="0"/>
              </a:rPr>
              <a:t> </a:t>
            </a:r>
            <a:r>
              <a:rPr lang="zh-CN" altLang="en-US" sz="2400" dirty="0">
                <a:solidFill>
                  <a:schemeClr val="tx1">
                    <a:lumMod val="85000"/>
                    <a:lumOff val="15000"/>
                  </a:schemeClr>
                </a:solidFill>
                <a:latin typeface="宋体" charset="0"/>
                <a:ea typeface="宋体" charset="0"/>
                <a:cs typeface="宋体" charset="0"/>
                <a:sym typeface="Arial" panose="020B0604020202090204" pitchFamily="34" charset="0"/>
              </a:rPr>
              <a:t>通过查阅相关资料和实地调研确定目标地铁站的建筑构造信息，基于图论理论，将目标地铁站抽象成为包含节点和连边的疏散网络，并建立网络的邻接矩阵、节点连边距离矩阵等网络参数</a:t>
            </a:r>
            <a:r>
              <a:rPr lang="en-US" altLang="zh-CN" sz="2400" dirty="0">
                <a:solidFill>
                  <a:schemeClr val="tx1">
                    <a:lumMod val="85000"/>
                    <a:lumOff val="15000"/>
                  </a:schemeClr>
                </a:solidFill>
                <a:latin typeface="宋体" charset="0"/>
                <a:ea typeface="宋体" charset="0"/>
                <a:cs typeface="宋体" charset="0"/>
                <a:sym typeface="Arial" panose="020B0604020202090204" pitchFamily="34" charset="0"/>
              </a:rPr>
              <a:t>。</a:t>
            </a:r>
            <a:endParaRPr lang="en-US" altLang="zh-CN" sz="2400" dirty="0">
              <a:solidFill>
                <a:schemeClr val="tx1">
                  <a:lumMod val="85000"/>
                  <a:lumOff val="15000"/>
                </a:schemeClr>
              </a:solidFill>
              <a:latin typeface="宋体" charset="0"/>
              <a:ea typeface="宋体" charset="0"/>
              <a:cs typeface="宋体" charset="0"/>
              <a:sym typeface="Arial" panose="020B0604020202090204" pitchFamily="34" charset="0"/>
            </a:endParaRPr>
          </a:p>
        </p:txBody>
      </p:sp>
      <p:sp>
        <p:nvSpPr>
          <p:cNvPr id="71" name="TextBox 24"/>
          <p:cNvSpPr txBox="1"/>
          <p:nvPr/>
        </p:nvSpPr>
        <p:spPr>
          <a:xfrm>
            <a:off x="1600200" y="4305935"/>
            <a:ext cx="3787775" cy="556895"/>
          </a:xfrm>
          <a:prstGeom prst="rect">
            <a:avLst/>
          </a:prstGeom>
          <a:noFill/>
        </p:spPr>
        <p:txBody>
          <a:bodyPr wrap="square" lIns="95847" tIns="47923" rIns="95847" bIns="47923" rtlCol="0">
            <a:spAutoFit/>
          </a:bodyPr>
          <a:lstStyle/>
          <a:p>
            <a:pPr algn="ctr"/>
            <a:r>
              <a:rPr lang="zh-CN" altLang="en-US" sz="3000" b="1" dirty="0">
                <a:solidFill>
                  <a:schemeClr val="tx1">
                    <a:lumMod val="85000"/>
                    <a:lumOff val="15000"/>
                  </a:schemeClr>
                </a:solidFill>
                <a:latin typeface="宋体" charset="0"/>
                <a:ea typeface="宋体" charset="0"/>
                <a:cs typeface="+mn-ea"/>
                <a:sym typeface="Arial" panose="020B0604020202090204" pitchFamily="34" charset="0"/>
              </a:rPr>
              <a:t>地铁站疏散网络</a:t>
            </a:r>
            <a:endParaRPr lang="zh-CN" altLang="en-US" sz="3000" b="1" dirty="0">
              <a:solidFill>
                <a:schemeClr val="tx1">
                  <a:lumMod val="85000"/>
                  <a:lumOff val="15000"/>
                </a:schemeClr>
              </a:solidFill>
              <a:latin typeface="宋体" charset="0"/>
              <a:ea typeface="宋体" charset="0"/>
              <a:cs typeface="+mn-ea"/>
              <a:sym typeface="Arial" panose="020B0604020202090204" pitchFamily="34" charset="0"/>
            </a:endParaRPr>
          </a:p>
        </p:txBody>
      </p:sp>
      <p:sp>
        <p:nvSpPr>
          <p:cNvPr id="72" name="TextBox 23"/>
          <p:cNvSpPr txBox="1"/>
          <p:nvPr/>
        </p:nvSpPr>
        <p:spPr>
          <a:xfrm>
            <a:off x="5867400" y="4934585"/>
            <a:ext cx="3493770" cy="3418840"/>
          </a:xfrm>
          <a:prstGeom prst="rect">
            <a:avLst/>
          </a:prstGeom>
          <a:noFill/>
        </p:spPr>
        <p:txBody>
          <a:bodyPr wrap="square" lIns="95847" tIns="47923" rIns="95847" bIns="47923" rtlCol="0">
            <a:spAutoFit/>
          </a:bodyPr>
          <a:lstStyle/>
          <a:p>
            <a:pPr algn="just">
              <a:lnSpc>
                <a:spcPct val="100000"/>
              </a:lnSpc>
            </a:pPr>
            <a:r>
              <a:rPr lang="en-US" altLang="zh-CN" sz="2400" dirty="0">
                <a:solidFill>
                  <a:schemeClr val="tx1">
                    <a:lumMod val="85000"/>
                    <a:lumOff val="15000"/>
                  </a:schemeClr>
                </a:solidFill>
                <a:latin typeface="Arial" panose="020B0604020202090204" pitchFamily="34" charset="0"/>
                <a:ea typeface="微软雅黑" charset="-122"/>
                <a:cs typeface="+mn-ea"/>
                <a:sym typeface="Arial" panose="020B0604020202090204" pitchFamily="34" charset="0"/>
              </a:rPr>
              <a:t>  </a:t>
            </a:r>
            <a:r>
              <a:rPr lang="en-US" altLang="zh-CN" sz="2400" dirty="0">
                <a:solidFill>
                  <a:schemeClr val="tx1">
                    <a:lumMod val="85000"/>
                    <a:lumOff val="15000"/>
                  </a:schemeClr>
                </a:solidFill>
                <a:latin typeface="宋体" charset="0"/>
                <a:ea typeface="宋体" charset="0"/>
                <a:cs typeface="宋体" charset="0"/>
                <a:sym typeface="Arial" panose="020B0604020202090204" pitchFamily="34" charset="0"/>
              </a:rPr>
              <a:t>    </a:t>
            </a:r>
            <a:r>
              <a:rPr lang="zh-CN" altLang="en-US" sz="2400" dirty="0">
                <a:solidFill>
                  <a:schemeClr val="tx1">
                    <a:lumMod val="85000"/>
                    <a:lumOff val="15000"/>
                  </a:schemeClr>
                </a:solidFill>
                <a:latin typeface="宋体" charset="0"/>
                <a:ea typeface="宋体" charset="0"/>
                <a:cs typeface="宋体" charset="0"/>
                <a:sym typeface="Arial" panose="020B0604020202090204" pitchFamily="34" charset="0"/>
              </a:rPr>
              <a:t>构建地铁站真实物理模型，利用Pyrosim火灾仿真模拟软件模拟地铁站火灾发生时的烟气、温度、能见度的动态变化，捕捉火灾发展的动态过程</a:t>
            </a:r>
            <a:r>
              <a:rPr lang="en-US" altLang="zh-CN" sz="2400" dirty="0">
                <a:solidFill>
                  <a:schemeClr val="tx1">
                    <a:lumMod val="85000"/>
                    <a:lumOff val="15000"/>
                  </a:schemeClr>
                </a:solidFill>
                <a:latin typeface="宋体" charset="0"/>
                <a:ea typeface="宋体" charset="0"/>
                <a:cs typeface="宋体" charset="0"/>
                <a:sym typeface="Arial" panose="020B0604020202090204" pitchFamily="34" charset="0"/>
              </a:rPr>
              <a:t>，</a:t>
            </a:r>
            <a:r>
              <a:rPr lang="zh-CN" altLang="en-US" sz="2400" dirty="0">
                <a:solidFill>
                  <a:schemeClr val="tx1">
                    <a:lumMod val="85000"/>
                    <a:lumOff val="15000"/>
                  </a:schemeClr>
                </a:solidFill>
                <a:latin typeface="宋体" charset="0"/>
                <a:ea typeface="宋体" charset="0"/>
                <a:cs typeface="宋体" charset="0"/>
                <a:sym typeface="Arial" panose="020B0604020202090204" pitchFamily="34" charset="0"/>
              </a:rPr>
              <a:t>记录火灾发展指标的分布数据，作为后续研究的数据基础。</a:t>
            </a:r>
            <a:endParaRPr lang="zh-CN" altLang="en-US" sz="2400" dirty="0">
              <a:solidFill>
                <a:schemeClr val="tx1">
                  <a:lumMod val="85000"/>
                  <a:lumOff val="15000"/>
                </a:schemeClr>
              </a:solidFill>
              <a:latin typeface="宋体" charset="0"/>
              <a:ea typeface="宋体" charset="0"/>
              <a:cs typeface="宋体" charset="0"/>
              <a:sym typeface="Arial" panose="020B0604020202090204" pitchFamily="34" charset="0"/>
            </a:endParaRPr>
          </a:p>
        </p:txBody>
      </p:sp>
      <p:sp>
        <p:nvSpPr>
          <p:cNvPr id="73" name="TextBox 24"/>
          <p:cNvSpPr txBox="1"/>
          <p:nvPr/>
        </p:nvSpPr>
        <p:spPr>
          <a:xfrm>
            <a:off x="5283835" y="4305935"/>
            <a:ext cx="4446270" cy="556895"/>
          </a:xfrm>
          <a:prstGeom prst="rect">
            <a:avLst/>
          </a:prstGeom>
          <a:noFill/>
        </p:spPr>
        <p:txBody>
          <a:bodyPr wrap="square" lIns="95847" tIns="47923" rIns="95847" bIns="47923" rtlCol="0">
            <a:spAutoFit/>
          </a:bodyPr>
          <a:lstStyle/>
          <a:p>
            <a:pPr algn="ctr"/>
            <a:r>
              <a:rPr lang="zh-CN" altLang="en-US" sz="3000" b="1" dirty="0">
                <a:solidFill>
                  <a:schemeClr val="tx1">
                    <a:lumMod val="85000"/>
                    <a:lumOff val="15000"/>
                  </a:schemeClr>
                </a:solidFill>
                <a:latin typeface="宋体" charset="0"/>
                <a:ea typeface="宋体" charset="0"/>
                <a:cs typeface="+mn-ea"/>
                <a:sym typeface="Arial" panose="020B0604020202090204" pitchFamily="34" charset="0"/>
              </a:rPr>
              <a:t>火灾发展的动态过程</a:t>
            </a:r>
            <a:endParaRPr lang="zh-CN" altLang="en-US" sz="3000" b="1" dirty="0">
              <a:solidFill>
                <a:schemeClr val="tx1">
                  <a:lumMod val="85000"/>
                  <a:lumOff val="15000"/>
                </a:schemeClr>
              </a:solidFill>
              <a:latin typeface="宋体" charset="0"/>
              <a:ea typeface="宋体" charset="0"/>
              <a:cs typeface="+mn-ea"/>
              <a:sym typeface="Arial" panose="020B0604020202090204" pitchFamily="34" charset="0"/>
            </a:endParaRPr>
          </a:p>
        </p:txBody>
      </p:sp>
      <p:sp>
        <p:nvSpPr>
          <p:cNvPr id="74" name="TextBox 23"/>
          <p:cNvSpPr txBox="1"/>
          <p:nvPr/>
        </p:nvSpPr>
        <p:spPr>
          <a:xfrm>
            <a:off x="9677400" y="4934585"/>
            <a:ext cx="3221355" cy="3788410"/>
          </a:xfrm>
          <a:prstGeom prst="rect">
            <a:avLst/>
          </a:prstGeom>
          <a:noFill/>
        </p:spPr>
        <p:txBody>
          <a:bodyPr wrap="square" lIns="95847" tIns="47923" rIns="95847" bIns="47923" rtlCol="0">
            <a:spAutoFit/>
          </a:bodyPr>
          <a:lstStyle/>
          <a:p>
            <a:pPr algn="just">
              <a:lnSpc>
                <a:spcPct val="100000"/>
              </a:lnSpc>
            </a:pPr>
            <a:r>
              <a:rPr lang="en-US" altLang="zh-CN" sz="2400" dirty="0">
                <a:solidFill>
                  <a:schemeClr val="tx1">
                    <a:lumMod val="85000"/>
                    <a:lumOff val="15000"/>
                  </a:schemeClr>
                </a:solidFill>
                <a:latin typeface="宋体" charset="0"/>
                <a:ea typeface="宋体" charset="0"/>
                <a:cs typeface="宋体" charset="0"/>
                <a:sym typeface="Arial" panose="020B0604020202090204" pitchFamily="34" charset="0"/>
              </a:rPr>
              <a:t>         </a:t>
            </a:r>
            <a:r>
              <a:rPr lang="zh-CN" altLang="en-US" sz="2400" dirty="0">
                <a:solidFill>
                  <a:schemeClr val="tx1">
                    <a:lumMod val="85000"/>
                    <a:lumOff val="15000"/>
                  </a:schemeClr>
                </a:solidFill>
                <a:latin typeface="宋体" charset="0"/>
                <a:ea typeface="宋体" charset="0"/>
                <a:cs typeface="宋体" charset="0"/>
                <a:sym typeface="Arial" panose="020B0604020202090204" pitchFamily="34" charset="0"/>
              </a:rPr>
              <a:t>在经典A-star算法的基础上，首先考虑火灾风险因素，对A-star算法的评价函数进行优化，使其能够避开火灾风险较高的区域。然后，引入考虑时间因素的动态更新机制</a:t>
            </a:r>
            <a:r>
              <a:rPr lang="en-US" altLang="zh-CN" sz="2400" dirty="0">
                <a:solidFill>
                  <a:schemeClr val="tx1">
                    <a:lumMod val="85000"/>
                    <a:lumOff val="15000"/>
                  </a:schemeClr>
                </a:solidFill>
                <a:latin typeface="宋体" charset="0"/>
                <a:ea typeface="宋体" charset="0"/>
                <a:cs typeface="宋体" charset="0"/>
                <a:sym typeface="Arial" panose="020B0604020202090204" pitchFamily="34" charset="0"/>
              </a:rPr>
              <a:t>，</a:t>
            </a:r>
            <a:r>
              <a:rPr lang="zh-CN" altLang="en-US" sz="2400" dirty="0">
                <a:solidFill>
                  <a:schemeClr val="tx1">
                    <a:lumMod val="85000"/>
                    <a:lumOff val="15000"/>
                  </a:schemeClr>
                </a:solidFill>
                <a:latin typeface="宋体" charset="0"/>
                <a:ea typeface="宋体" charset="0"/>
                <a:cs typeface="宋体" charset="0"/>
                <a:sym typeface="Arial" panose="020B0604020202090204" pitchFamily="34" charset="0"/>
              </a:rPr>
              <a:t>以应对动态变化的火灾环境</a:t>
            </a:r>
            <a:r>
              <a:rPr lang="en-US" altLang="zh-CN" sz="2400" dirty="0">
                <a:solidFill>
                  <a:schemeClr val="tx1">
                    <a:lumMod val="85000"/>
                    <a:lumOff val="15000"/>
                  </a:schemeClr>
                </a:solidFill>
                <a:latin typeface="宋体" charset="0"/>
                <a:ea typeface="宋体" charset="0"/>
                <a:cs typeface="宋体" charset="0"/>
                <a:sym typeface="Arial" panose="020B0604020202090204" pitchFamily="34" charset="0"/>
              </a:rPr>
              <a:t>。</a:t>
            </a:r>
            <a:endParaRPr lang="en-US" altLang="zh-CN" sz="2400" dirty="0">
              <a:solidFill>
                <a:schemeClr val="tx1">
                  <a:lumMod val="85000"/>
                  <a:lumOff val="15000"/>
                </a:schemeClr>
              </a:solidFill>
              <a:latin typeface="宋体" charset="0"/>
              <a:ea typeface="宋体" charset="0"/>
              <a:cs typeface="宋体" charset="0"/>
              <a:sym typeface="Arial" panose="020B0604020202090204" pitchFamily="34" charset="0"/>
            </a:endParaRPr>
          </a:p>
        </p:txBody>
      </p:sp>
      <p:sp>
        <p:nvSpPr>
          <p:cNvPr id="75" name="TextBox 24"/>
          <p:cNvSpPr txBox="1"/>
          <p:nvPr/>
        </p:nvSpPr>
        <p:spPr>
          <a:xfrm>
            <a:off x="9067800" y="4305935"/>
            <a:ext cx="4234815" cy="556895"/>
          </a:xfrm>
          <a:prstGeom prst="rect">
            <a:avLst/>
          </a:prstGeom>
          <a:noFill/>
        </p:spPr>
        <p:txBody>
          <a:bodyPr wrap="square" lIns="95847" tIns="47923" rIns="95847" bIns="47923" rtlCol="0">
            <a:spAutoFit/>
          </a:bodyPr>
          <a:lstStyle/>
          <a:p>
            <a:pPr algn="ctr"/>
            <a:r>
              <a:rPr lang="zh-CN" altLang="en-US" sz="3000" b="1" dirty="0">
                <a:solidFill>
                  <a:schemeClr val="tx1">
                    <a:lumMod val="85000"/>
                    <a:lumOff val="15000"/>
                  </a:schemeClr>
                </a:solidFill>
                <a:latin typeface="宋体" charset="0"/>
                <a:ea typeface="宋体" charset="0"/>
                <a:cs typeface="+mn-ea"/>
                <a:sym typeface="Arial" panose="020B0604020202090204" pitchFamily="34" charset="0"/>
              </a:rPr>
              <a:t>最优疏散路径</a:t>
            </a:r>
            <a:endParaRPr lang="zh-CN" altLang="en-US" sz="3000" b="1" dirty="0">
              <a:solidFill>
                <a:schemeClr val="tx1">
                  <a:lumMod val="85000"/>
                  <a:lumOff val="15000"/>
                </a:schemeClr>
              </a:solidFill>
              <a:latin typeface="宋体" charset="0"/>
              <a:ea typeface="宋体" charset="0"/>
              <a:cs typeface="+mn-ea"/>
              <a:sym typeface="Arial" panose="020B0604020202090204" pitchFamily="34" charset="0"/>
            </a:endParaRPr>
          </a:p>
        </p:txBody>
      </p:sp>
      <p:sp>
        <p:nvSpPr>
          <p:cNvPr id="76" name="TextBox 23"/>
          <p:cNvSpPr txBox="1"/>
          <p:nvPr/>
        </p:nvSpPr>
        <p:spPr>
          <a:xfrm>
            <a:off x="13508355" y="4934585"/>
            <a:ext cx="3178810" cy="3418840"/>
          </a:xfrm>
          <a:prstGeom prst="rect">
            <a:avLst/>
          </a:prstGeom>
          <a:noFill/>
        </p:spPr>
        <p:txBody>
          <a:bodyPr wrap="square" lIns="95847" tIns="47923" rIns="95847" bIns="47923" rtlCol="0">
            <a:spAutoFit/>
          </a:bodyPr>
          <a:lstStyle/>
          <a:p>
            <a:pPr algn="just">
              <a:lnSpc>
                <a:spcPct val="100000"/>
              </a:lnSpc>
            </a:pPr>
            <a:r>
              <a:rPr lang="en-US" altLang="zh-CN" sz="2400" dirty="0">
                <a:solidFill>
                  <a:schemeClr val="tx1">
                    <a:lumMod val="85000"/>
                    <a:lumOff val="15000"/>
                  </a:schemeClr>
                </a:solidFill>
                <a:latin typeface="宋体" charset="0"/>
                <a:ea typeface="宋体" charset="0"/>
                <a:cs typeface="宋体" charset="0"/>
                <a:sym typeface="Arial" panose="020B0604020202090204" pitchFamily="34" charset="0"/>
              </a:rPr>
              <a:t>        </a:t>
            </a:r>
            <a:r>
              <a:rPr lang="zh-CN" altLang="en-US" sz="2400" dirty="0">
                <a:solidFill>
                  <a:schemeClr val="tx1">
                    <a:lumMod val="85000"/>
                    <a:lumOff val="15000"/>
                  </a:schemeClr>
                </a:solidFill>
                <a:latin typeface="宋体" charset="0"/>
                <a:ea typeface="宋体" charset="0"/>
                <a:cs typeface="宋体" charset="0"/>
                <a:sym typeface="Arial" panose="020B0604020202090204" pitchFamily="34" charset="0"/>
              </a:rPr>
              <a:t>使用Anylogic进行人员疏散仿真，设计不同疏散情景，结合火灾模拟中获得的各部位烟气浓度和温度等数据，将其作为疏散模型参数，研究不同情景下疏散模拟的路径选择和疏散效果。</a:t>
            </a:r>
            <a:endParaRPr lang="zh-CN" altLang="en-US" sz="2400" dirty="0">
              <a:solidFill>
                <a:schemeClr val="tx1">
                  <a:lumMod val="85000"/>
                  <a:lumOff val="15000"/>
                </a:schemeClr>
              </a:solidFill>
              <a:latin typeface="宋体" charset="0"/>
              <a:ea typeface="宋体" charset="0"/>
              <a:cs typeface="宋体" charset="0"/>
              <a:sym typeface="Arial" panose="020B0604020202090204" pitchFamily="34" charset="0"/>
            </a:endParaRPr>
          </a:p>
        </p:txBody>
      </p:sp>
      <p:sp>
        <p:nvSpPr>
          <p:cNvPr id="77" name="TextBox 24"/>
          <p:cNvSpPr txBox="1"/>
          <p:nvPr/>
        </p:nvSpPr>
        <p:spPr>
          <a:xfrm>
            <a:off x="12725400" y="4305935"/>
            <a:ext cx="4445000" cy="556895"/>
          </a:xfrm>
          <a:prstGeom prst="rect">
            <a:avLst/>
          </a:prstGeom>
          <a:noFill/>
        </p:spPr>
        <p:txBody>
          <a:bodyPr wrap="square" lIns="95847" tIns="47923" rIns="95847" bIns="47923" rtlCol="0">
            <a:spAutoFit/>
          </a:bodyPr>
          <a:lstStyle/>
          <a:p>
            <a:pPr algn="ctr"/>
            <a:r>
              <a:rPr lang="zh-CN" altLang="en-US" sz="3000" b="1" dirty="0">
                <a:solidFill>
                  <a:schemeClr val="tx1">
                    <a:lumMod val="85000"/>
                    <a:lumOff val="15000"/>
                  </a:schemeClr>
                </a:solidFill>
                <a:latin typeface="宋体" charset="0"/>
                <a:ea typeface="宋体" charset="0"/>
                <a:cs typeface="+mn-ea"/>
                <a:sym typeface="Arial" panose="020B0604020202090204" pitchFamily="34" charset="0"/>
              </a:rPr>
              <a:t>验证疏散效果</a:t>
            </a:r>
            <a:endParaRPr lang="zh-CN" altLang="en-US" sz="3000" b="1" dirty="0">
              <a:solidFill>
                <a:schemeClr val="tx1">
                  <a:lumMod val="85000"/>
                  <a:lumOff val="15000"/>
                </a:schemeClr>
              </a:solidFill>
              <a:latin typeface="宋体" charset="0"/>
              <a:ea typeface="宋体" charset="0"/>
              <a:cs typeface="+mn-ea"/>
              <a:sym typeface="Arial" panose="020B0604020202090204" pitchFamily="34" charset="0"/>
            </a:endParaRPr>
          </a:p>
        </p:txBody>
      </p:sp>
      <p:sp>
        <p:nvSpPr>
          <p:cNvPr id="85" name="pointer-spot-tool-for-maps_40028"/>
          <p:cNvSpPr>
            <a:spLocks noChangeAspect="1"/>
          </p:cNvSpPr>
          <p:nvPr/>
        </p:nvSpPr>
        <p:spPr bwMode="auto">
          <a:xfrm>
            <a:off x="7140650" y="2730170"/>
            <a:ext cx="490334" cy="489651"/>
          </a:xfrm>
          <a:custGeom>
            <a:avLst/>
            <a:gdLst>
              <a:gd name="T0" fmla="*/ 0 w 8160"/>
              <a:gd name="T1" fmla="*/ 4080 h 8160"/>
              <a:gd name="T2" fmla="*/ 8160 w 8160"/>
              <a:gd name="T3" fmla="*/ 4080 h 8160"/>
              <a:gd name="T4" fmla="*/ 4080 w 8160"/>
              <a:gd name="T5" fmla="*/ 7476 h 8160"/>
              <a:gd name="T6" fmla="*/ 3113 w 8160"/>
              <a:gd name="T7" fmla="*/ 6418 h 8160"/>
              <a:gd name="T8" fmla="*/ 4977 w 8160"/>
              <a:gd name="T9" fmla="*/ 6581 h 8160"/>
              <a:gd name="T10" fmla="*/ 2897 w 8160"/>
              <a:gd name="T11" fmla="*/ 5734 h 8160"/>
              <a:gd name="T12" fmla="*/ 5440 w 8160"/>
              <a:gd name="T13" fmla="*/ 4422 h 8160"/>
              <a:gd name="T14" fmla="*/ 2897 w 8160"/>
              <a:gd name="T15" fmla="*/ 5734 h 8160"/>
              <a:gd name="T16" fmla="*/ 2036 w 8160"/>
              <a:gd name="T17" fmla="*/ 4422 h 8160"/>
              <a:gd name="T18" fmla="*/ 1115 w 8160"/>
              <a:gd name="T19" fmla="*/ 5734 h 8160"/>
              <a:gd name="T20" fmla="*/ 4080 w 8160"/>
              <a:gd name="T21" fmla="*/ 684 h 8160"/>
              <a:gd name="T22" fmla="*/ 5047 w 8160"/>
              <a:gd name="T23" fmla="*/ 1742 h 8160"/>
              <a:gd name="T24" fmla="*/ 3183 w 8160"/>
              <a:gd name="T25" fmla="*/ 1579 h 8160"/>
              <a:gd name="T26" fmla="*/ 5263 w 8160"/>
              <a:gd name="T27" fmla="*/ 2426 h 8160"/>
              <a:gd name="T28" fmla="*/ 2720 w 8160"/>
              <a:gd name="T29" fmla="*/ 3738 h 8160"/>
              <a:gd name="T30" fmla="*/ 5263 w 8160"/>
              <a:gd name="T31" fmla="*/ 2426 h 8160"/>
              <a:gd name="T32" fmla="*/ 701 w 8160"/>
              <a:gd name="T33" fmla="*/ 3738 h 8160"/>
              <a:gd name="T34" fmla="*/ 2197 w 8160"/>
              <a:gd name="T35" fmla="*/ 2426 h 8160"/>
              <a:gd name="T36" fmla="*/ 6124 w 8160"/>
              <a:gd name="T37" fmla="*/ 4422 h 8160"/>
              <a:gd name="T38" fmla="*/ 7045 w 8160"/>
              <a:gd name="T39" fmla="*/ 5734 h 8160"/>
              <a:gd name="T40" fmla="*/ 6124 w 8160"/>
              <a:gd name="T41" fmla="*/ 4422 h 8160"/>
              <a:gd name="T42" fmla="*/ 5963 w 8160"/>
              <a:gd name="T43" fmla="*/ 2426 h 8160"/>
              <a:gd name="T44" fmla="*/ 7459 w 8160"/>
              <a:gd name="T45" fmla="*/ 3738 h 8160"/>
              <a:gd name="T46" fmla="*/ 6541 w 8160"/>
              <a:gd name="T47" fmla="*/ 1742 h 8160"/>
              <a:gd name="T48" fmla="*/ 5599 w 8160"/>
              <a:gd name="T49" fmla="*/ 1295 h 8160"/>
              <a:gd name="T50" fmla="*/ 6541 w 8160"/>
              <a:gd name="T51" fmla="*/ 1742 h 8160"/>
              <a:gd name="T52" fmla="*/ 2561 w 8160"/>
              <a:gd name="T53" fmla="*/ 1295 h 8160"/>
              <a:gd name="T54" fmla="*/ 1619 w 8160"/>
              <a:gd name="T55" fmla="*/ 1742 h 8160"/>
              <a:gd name="T56" fmla="*/ 1619 w 8160"/>
              <a:gd name="T57" fmla="*/ 6418 h 8160"/>
              <a:gd name="T58" fmla="*/ 2561 w 8160"/>
              <a:gd name="T59" fmla="*/ 6865 h 8160"/>
              <a:gd name="T60" fmla="*/ 1619 w 8160"/>
              <a:gd name="T61" fmla="*/ 6418 h 8160"/>
              <a:gd name="T62" fmla="*/ 5599 w 8160"/>
              <a:gd name="T63" fmla="*/ 6865 h 8160"/>
              <a:gd name="T64" fmla="*/ 6541 w 8160"/>
              <a:gd name="T65" fmla="*/ 6418 h 8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160" h="8160">
                <a:moveTo>
                  <a:pt x="4080" y="0"/>
                </a:moveTo>
                <a:cubicBezTo>
                  <a:pt x="1830" y="0"/>
                  <a:pt x="0" y="1830"/>
                  <a:pt x="0" y="4080"/>
                </a:cubicBezTo>
                <a:cubicBezTo>
                  <a:pt x="0" y="6330"/>
                  <a:pt x="1830" y="8160"/>
                  <a:pt x="4080" y="8160"/>
                </a:cubicBezTo>
                <a:cubicBezTo>
                  <a:pt x="6330" y="8160"/>
                  <a:pt x="8160" y="6330"/>
                  <a:pt x="8160" y="4080"/>
                </a:cubicBezTo>
                <a:cubicBezTo>
                  <a:pt x="8160" y="1830"/>
                  <a:pt x="6330" y="0"/>
                  <a:pt x="4080" y="0"/>
                </a:cubicBezTo>
                <a:close/>
                <a:moveTo>
                  <a:pt x="4080" y="7476"/>
                </a:moveTo>
                <a:cubicBezTo>
                  <a:pt x="3774" y="7476"/>
                  <a:pt x="3439" y="7142"/>
                  <a:pt x="3183" y="6581"/>
                </a:cubicBezTo>
                <a:cubicBezTo>
                  <a:pt x="3158" y="6528"/>
                  <a:pt x="3135" y="6474"/>
                  <a:pt x="3113" y="6418"/>
                </a:cubicBezTo>
                <a:lnTo>
                  <a:pt x="5047" y="6418"/>
                </a:lnTo>
                <a:cubicBezTo>
                  <a:pt x="5025" y="6474"/>
                  <a:pt x="5002" y="6528"/>
                  <a:pt x="4977" y="6581"/>
                </a:cubicBezTo>
                <a:cubicBezTo>
                  <a:pt x="4721" y="7142"/>
                  <a:pt x="4386" y="7476"/>
                  <a:pt x="4080" y="7476"/>
                </a:cubicBezTo>
                <a:close/>
                <a:moveTo>
                  <a:pt x="2897" y="5734"/>
                </a:moveTo>
                <a:cubicBezTo>
                  <a:pt x="2801" y="5331"/>
                  <a:pt x="2740" y="4886"/>
                  <a:pt x="2720" y="4422"/>
                </a:cubicBezTo>
                <a:lnTo>
                  <a:pt x="5440" y="4422"/>
                </a:lnTo>
                <a:cubicBezTo>
                  <a:pt x="5420" y="4886"/>
                  <a:pt x="5359" y="5331"/>
                  <a:pt x="5263" y="5734"/>
                </a:cubicBezTo>
                <a:lnTo>
                  <a:pt x="2897" y="5734"/>
                </a:lnTo>
                <a:close/>
                <a:moveTo>
                  <a:pt x="701" y="4422"/>
                </a:moveTo>
                <a:lnTo>
                  <a:pt x="2036" y="4422"/>
                </a:lnTo>
                <a:cubicBezTo>
                  <a:pt x="2054" y="4880"/>
                  <a:pt x="2109" y="5323"/>
                  <a:pt x="2197" y="5734"/>
                </a:cubicBezTo>
                <a:lnTo>
                  <a:pt x="1115" y="5734"/>
                </a:lnTo>
                <a:cubicBezTo>
                  <a:pt x="893" y="5339"/>
                  <a:pt x="748" y="4895"/>
                  <a:pt x="701" y="4422"/>
                </a:cubicBezTo>
                <a:close/>
                <a:moveTo>
                  <a:pt x="4080" y="684"/>
                </a:moveTo>
                <a:cubicBezTo>
                  <a:pt x="4386" y="684"/>
                  <a:pt x="4721" y="1018"/>
                  <a:pt x="4977" y="1579"/>
                </a:cubicBezTo>
                <a:cubicBezTo>
                  <a:pt x="5002" y="1632"/>
                  <a:pt x="5025" y="1686"/>
                  <a:pt x="5047" y="1742"/>
                </a:cubicBezTo>
                <a:lnTo>
                  <a:pt x="3113" y="1742"/>
                </a:lnTo>
                <a:cubicBezTo>
                  <a:pt x="3135" y="1686"/>
                  <a:pt x="3158" y="1632"/>
                  <a:pt x="3183" y="1579"/>
                </a:cubicBezTo>
                <a:cubicBezTo>
                  <a:pt x="3439" y="1018"/>
                  <a:pt x="3774" y="684"/>
                  <a:pt x="4080" y="684"/>
                </a:cubicBezTo>
                <a:close/>
                <a:moveTo>
                  <a:pt x="5263" y="2426"/>
                </a:moveTo>
                <a:cubicBezTo>
                  <a:pt x="5359" y="2829"/>
                  <a:pt x="5420" y="3274"/>
                  <a:pt x="5440" y="3738"/>
                </a:cubicBezTo>
                <a:lnTo>
                  <a:pt x="2720" y="3738"/>
                </a:lnTo>
                <a:cubicBezTo>
                  <a:pt x="2740" y="3274"/>
                  <a:pt x="2801" y="2829"/>
                  <a:pt x="2897" y="2426"/>
                </a:cubicBezTo>
                <a:lnTo>
                  <a:pt x="5263" y="2426"/>
                </a:lnTo>
                <a:close/>
                <a:moveTo>
                  <a:pt x="2036" y="3738"/>
                </a:moveTo>
                <a:lnTo>
                  <a:pt x="701" y="3738"/>
                </a:lnTo>
                <a:cubicBezTo>
                  <a:pt x="748" y="3265"/>
                  <a:pt x="893" y="2821"/>
                  <a:pt x="1115" y="2426"/>
                </a:cubicBezTo>
                <a:lnTo>
                  <a:pt x="2197" y="2426"/>
                </a:lnTo>
                <a:cubicBezTo>
                  <a:pt x="2109" y="2837"/>
                  <a:pt x="2054" y="3280"/>
                  <a:pt x="2036" y="3738"/>
                </a:cubicBezTo>
                <a:close/>
                <a:moveTo>
                  <a:pt x="6124" y="4422"/>
                </a:moveTo>
                <a:lnTo>
                  <a:pt x="7459" y="4422"/>
                </a:lnTo>
                <a:cubicBezTo>
                  <a:pt x="7412" y="4894"/>
                  <a:pt x="7267" y="5339"/>
                  <a:pt x="7045" y="5734"/>
                </a:cubicBezTo>
                <a:lnTo>
                  <a:pt x="5963" y="5734"/>
                </a:lnTo>
                <a:cubicBezTo>
                  <a:pt x="6051" y="5323"/>
                  <a:pt x="6106" y="4880"/>
                  <a:pt x="6124" y="4422"/>
                </a:cubicBezTo>
                <a:close/>
                <a:moveTo>
                  <a:pt x="6124" y="3738"/>
                </a:moveTo>
                <a:cubicBezTo>
                  <a:pt x="6106" y="3280"/>
                  <a:pt x="6051" y="2837"/>
                  <a:pt x="5963" y="2426"/>
                </a:cubicBezTo>
                <a:lnTo>
                  <a:pt x="7045" y="2426"/>
                </a:lnTo>
                <a:cubicBezTo>
                  <a:pt x="7267" y="2821"/>
                  <a:pt x="7412" y="3266"/>
                  <a:pt x="7459" y="3738"/>
                </a:cubicBezTo>
                <a:lnTo>
                  <a:pt x="6124" y="3738"/>
                </a:lnTo>
                <a:close/>
                <a:moveTo>
                  <a:pt x="6541" y="1742"/>
                </a:moveTo>
                <a:lnTo>
                  <a:pt x="5776" y="1742"/>
                </a:lnTo>
                <a:cubicBezTo>
                  <a:pt x="5723" y="1585"/>
                  <a:pt x="5664" y="1436"/>
                  <a:pt x="5599" y="1295"/>
                </a:cubicBezTo>
                <a:cubicBezTo>
                  <a:pt x="5545" y="1176"/>
                  <a:pt x="5488" y="1066"/>
                  <a:pt x="5428" y="963"/>
                </a:cubicBezTo>
                <a:cubicBezTo>
                  <a:pt x="5850" y="1146"/>
                  <a:pt x="6228" y="1413"/>
                  <a:pt x="6541" y="1742"/>
                </a:cubicBezTo>
                <a:close/>
                <a:moveTo>
                  <a:pt x="2732" y="963"/>
                </a:moveTo>
                <a:cubicBezTo>
                  <a:pt x="2672" y="1066"/>
                  <a:pt x="2615" y="1176"/>
                  <a:pt x="2561" y="1295"/>
                </a:cubicBezTo>
                <a:cubicBezTo>
                  <a:pt x="2496" y="1436"/>
                  <a:pt x="2437" y="1585"/>
                  <a:pt x="2384" y="1742"/>
                </a:cubicBezTo>
                <a:lnTo>
                  <a:pt x="1619" y="1742"/>
                </a:lnTo>
                <a:cubicBezTo>
                  <a:pt x="1932" y="1413"/>
                  <a:pt x="2310" y="1146"/>
                  <a:pt x="2732" y="963"/>
                </a:cubicBezTo>
                <a:close/>
                <a:moveTo>
                  <a:pt x="1619" y="6418"/>
                </a:moveTo>
                <a:lnTo>
                  <a:pt x="2384" y="6418"/>
                </a:lnTo>
                <a:cubicBezTo>
                  <a:pt x="2437" y="6575"/>
                  <a:pt x="2496" y="6724"/>
                  <a:pt x="2561" y="6865"/>
                </a:cubicBezTo>
                <a:cubicBezTo>
                  <a:pt x="2615" y="6984"/>
                  <a:pt x="2672" y="7094"/>
                  <a:pt x="2732" y="7197"/>
                </a:cubicBezTo>
                <a:cubicBezTo>
                  <a:pt x="2310" y="7014"/>
                  <a:pt x="1932" y="6747"/>
                  <a:pt x="1619" y="6418"/>
                </a:cubicBezTo>
                <a:close/>
                <a:moveTo>
                  <a:pt x="5428" y="7197"/>
                </a:moveTo>
                <a:cubicBezTo>
                  <a:pt x="5488" y="7094"/>
                  <a:pt x="5545" y="6984"/>
                  <a:pt x="5599" y="6865"/>
                </a:cubicBezTo>
                <a:cubicBezTo>
                  <a:pt x="5664" y="6724"/>
                  <a:pt x="5723" y="6575"/>
                  <a:pt x="5776" y="6418"/>
                </a:cubicBezTo>
                <a:lnTo>
                  <a:pt x="6541" y="6418"/>
                </a:lnTo>
                <a:cubicBezTo>
                  <a:pt x="6228" y="6747"/>
                  <a:pt x="5850" y="7014"/>
                  <a:pt x="5428" y="7197"/>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700">
              <a:latin typeface="Arial" panose="020B0604020202090204" pitchFamily="34" charset="0"/>
              <a:ea typeface="微软雅黑" charset="-122"/>
              <a:cs typeface="+mn-ea"/>
              <a:sym typeface="Arial" panose="020B0604020202090204" pitchFamily="34" charset="0"/>
            </a:endParaRPr>
          </a:p>
        </p:txBody>
      </p:sp>
      <p:sp>
        <p:nvSpPr>
          <p:cNvPr id="86" name="pointer-spot-tool-for-maps_40028"/>
          <p:cNvSpPr>
            <a:spLocks noChangeAspect="1"/>
          </p:cNvSpPr>
          <p:nvPr/>
        </p:nvSpPr>
        <p:spPr bwMode="auto">
          <a:xfrm>
            <a:off x="10803632" y="2695295"/>
            <a:ext cx="443784" cy="490334"/>
          </a:xfrm>
          <a:custGeom>
            <a:avLst/>
            <a:gdLst>
              <a:gd name="T0" fmla="*/ 2925 w 3748"/>
              <a:gd name="T1" fmla="*/ 2500 h 4147"/>
              <a:gd name="T2" fmla="*/ 2372 w 3748"/>
              <a:gd name="T3" fmla="*/ 2715 h 4147"/>
              <a:gd name="T4" fmla="*/ 1596 w 3748"/>
              <a:gd name="T5" fmla="*/ 2357 h 4147"/>
              <a:gd name="T6" fmla="*/ 1647 w 3748"/>
              <a:gd name="T7" fmla="*/ 2073 h 4147"/>
              <a:gd name="T8" fmla="*/ 1595 w 3748"/>
              <a:gd name="T9" fmla="*/ 1786 h 4147"/>
              <a:gd name="T10" fmla="*/ 2369 w 3748"/>
              <a:gd name="T11" fmla="*/ 1429 h 4147"/>
              <a:gd name="T12" fmla="*/ 2925 w 3748"/>
              <a:gd name="T13" fmla="*/ 1646 h 4147"/>
              <a:gd name="T14" fmla="*/ 3748 w 3748"/>
              <a:gd name="T15" fmla="*/ 823 h 4147"/>
              <a:gd name="T16" fmla="*/ 2925 w 3748"/>
              <a:gd name="T17" fmla="*/ 0 h 4147"/>
              <a:gd name="T18" fmla="*/ 2102 w 3748"/>
              <a:gd name="T19" fmla="*/ 823 h 4147"/>
              <a:gd name="T20" fmla="*/ 2143 w 3748"/>
              <a:gd name="T21" fmla="*/ 1078 h 4147"/>
              <a:gd name="T22" fmla="*/ 1352 w 3748"/>
              <a:gd name="T23" fmla="*/ 1443 h 4147"/>
              <a:gd name="T24" fmla="*/ 824 w 3748"/>
              <a:gd name="T25" fmla="*/ 1250 h 4147"/>
              <a:gd name="T26" fmla="*/ 0 w 3748"/>
              <a:gd name="T27" fmla="*/ 2073 h 4147"/>
              <a:gd name="T28" fmla="*/ 824 w 3748"/>
              <a:gd name="T29" fmla="*/ 2896 h 4147"/>
              <a:gd name="T30" fmla="*/ 1355 w 3748"/>
              <a:gd name="T31" fmla="*/ 2701 h 4147"/>
              <a:gd name="T32" fmla="*/ 2144 w 3748"/>
              <a:gd name="T33" fmla="*/ 3065 h 4147"/>
              <a:gd name="T34" fmla="*/ 2102 w 3748"/>
              <a:gd name="T35" fmla="*/ 3324 h 4147"/>
              <a:gd name="T36" fmla="*/ 2925 w 3748"/>
              <a:gd name="T37" fmla="*/ 4147 h 4147"/>
              <a:gd name="T38" fmla="*/ 3748 w 3748"/>
              <a:gd name="T39" fmla="*/ 3324 h 4147"/>
              <a:gd name="T40" fmla="*/ 2925 w 3748"/>
              <a:gd name="T41" fmla="*/ 2500 h 4147"/>
              <a:gd name="T42" fmla="*/ 2925 w 3748"/>
              <a:gd name="T43" fmla="*/ 3733 h 4147"/>
              <a:gd name="T44" fmla="*/ 2515 w 3748"/>
              <a:gd name="T45" fmla="*/ 3324 h 4147"/>
              <a:gd name="T46" fmla="*/ 2925 w 3748"/>
              <a:gd name="T47" fmla="*/ 2914 h 4147"/>
              <a:gd name="T48" fmla="*/ 3335 w 3748"/>
              <a:gd name="T49" fmla="*/ 3324 h 4147"/>
              <a:gd name="T50" fmla="*/ 2925 w 3748"/>
              <a:gd name="T51" fmla="*/ 3733 h 4147"/>
              <a:gd name="T52" fmla="*/ 2925 w 3748"/>
              <a:gd name="T53" fmla="*/ 1233 h 4147"/>
              <a:gd name="T54" fmla="*/ 2515 w 3748"/>
              <a:gd name="T55" fmla="*/ 823 h 4147"/>
              <a:gd name="T56" fmla="*/ 2925 w 3748"/>
              <a:gd name="T57" fmla="*/ 413 h 4147"/>
              <a:gd name="T58" fmla="*/ 3335 w 3748"/>
              <a:gd name="T59" fmla="*/ 823 h 4147"/>
              <a:gd name="T60" fmla="*/ 2925 w 3748"/>
              <a:gd name="T61" fmla="*/ 1233 h 4147"/>
              <a:gd name="T62" fmla="*/ 824 w 3748"/>
              <a:gd name="T63" fmla="*/ 1664 h 4147"/>
              <a:gd name="T64" fmla="*/ 1233 w 3748"/>
              <a:gd name="T65" fmla="*/ 2073 h 4147"/>
              <a:gd name="T66" fmla="*/ 1159 w 3748"/>
              <a:gd name="T67" fmla="*/ 2308 h 4147"/>
              <a:gd name="T68" fmla="*/ 1132 w 3748"/>
              <a:gd name="T69" fmla="*/ 2343 h 4147"/>
              <a:gd name="T70" fmla="*/ 824 w 3748"/>
              <a:gd name="T71" fmla="*/ 2483 h 4147"/>
              <a:gd name="T72" fmla="*/ 414 w 3748"/>
              <a:gd name="T73" fmla="*/ 2073 h 4147"/>
              <a:gd name="T74" fmla="*/ 824 w 3748"/>
              <a:gd name="T75" fmla="*/ 1664 h 4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748" h="4147">
                <a:moveTo>
                  <a:pt x="2925" y="2500"/>
                </a:moveTo>
                <a:cubicBezTo>
                  <a:pt x="2719" y="2500"/>
                  <a:pt x="2524" y="2577"/>
                  <a:pt x="2372" y="2715"/>
                </a:cubicBezTo>
                <a:lnTo>
                  <a:pt x="1596" y="2357"/>
                </a:lnTo>
                <a:cubicBezTo>
                  <a:pt x="1630" y="2266"/>
                  <a:pt x="1647" y="2171"/>
                  <a:pt x="1647" y="2073"/>
                </a:cubicBezTo>
                <a:cubicBezTo>
                  <a:pt x="1647" y="1975"/>
                  <a:pt x="1629" y="1878"/>
                  <a:pt x="1595" y="1786"/>
                </a:cubicBezTo>
                <a:lnTo>
                  <a:pt x="2369" y="1429"/>
                </a:lnTo>
                <a:cubicBezTo>
                  <a:pt x="2522" y="1569"/>
                  <a:pt x="2718" y="1646"/>
                  <a:pt x="2925" y="1646"/>
                </a:cubicBezTo>
                <a:cubicBezTo>
                  <a:pt x="3379" y="1646"/>
                  <a:pt x="3748" y="1277"/>
                  <a:pt x="3748" y="823"/>
                </a:cubicBezTo>
                <a:cubicBezTo>
                  <a:pt x="3748" y="369"/>
                  <a:pt x="3379" y="0"/>
                  <a:pt x="2925" y="0"/>
                </a:cubicBezTo>
                <a:cubicBezTo>
                  <a:pt x="2471" y="0"/>
                  <a:pt x="2102" y="369"/>
                  <a:pt x="2102" y="823"/>
                </a:cubicBezTo>
                <a:cubicBezTo>
                  <a:pt x="2102" y="910"/>
                  <a:pt x="2116" y="996"/>
                  <a:pt x="2143" y="1078"/>
                </a:cubicBezTo>
                <a:lnTo>
                  <a:pt x="1352" y="1443"/>
                </a:lnTo>
                <a:cubicBezTo>
                  <a:pt x="1204" y="1319"/>
                  <a:pt x="1017" y="1250"/>
                  <a:pt x="824" y="1250"/>
                </a:cubicBezTo>
                <a:cubicBezTo>
                  <a:pt x="370" y="1250"/>
                  <a:pt x="0" y="1619"/>
                  <a:pt x="0" y="2073"/>
                </a:cubicBezTo>
                <a:cubicBezTo>
                  <a:pt x="0" y="2527"/>
                  <a:pt x="370" y="2896"/>
                  <a:pt x="824" y="2896"/>
                </a:cubicBezTo>
                <a:cubicBezTo>
                  <a:pt x="1018" y="2896"/>
                  <a:pt x="1206" y="2827"/>
                  <a:pt x="1355" y="2701"/>
                </a:cubicBezTo>
                <a:lnTo>
                  <a:pt x="2144" y="3065"/>
                </a:lnTo>
                <a:cubicBezTo>
                  <a:pt x="2116" y="3149"/>
                  <a:pt x="2102" y="3235"/>
                  <a:pt x="2102" y="3324"/>
                </a:cubicBezTo>
                <a:cubicBezTo>
                  <a:pt x="2102" y="3777"/>
                  <a:pt x="2471" y="4147"/>
                  <a:pt x="2925" y="4147"/>
                </a:cubicBezTo>
                <a:cubicBezTo>
                  <a:pt x="3379" y="4147"/>
                  <a:pt x="3748" y="3777"/>
                  <a:pt x="3748" y="3324"/>
                </a:cubicBezTo>
                <a:cubicBezTo>
                  <a:pt x="3748" y="2870"/>
                  <a:pt x="3379" y="2500"/>
                  <a:pt x="2925" y="2500"/>
                </a:cubicBezTo>
                <a:close/>
                <a:moveTo>
                  <a:pt x="2925" y="3733"/>
                </a:moveTo>
                <a:cubicBezTo>
                  <a:pt x="2699" y="3733"/>
                  <a:pt x="2515" y="3550"/>
                  <a:pt x="2515" y="3324"/>
                </a:cubicBezTo>
                <a:cubicBezTo>
                  <a:pt x="2515" y="3098"/>
                  <a:pt x="2699" y="2914"/>
                  <a:pt x="2925" y="2914"/>
                </a:cubicBezTo>
                <a:cubicBezTo>
                  <a:pt x="3151" y="2914"/>
                  <a:pt x="3335" y="3098"/>
                  <a:pt x="3335" y="3324"/>
                </a:cubicBezTo>
                <a:cubicBezTo>
                  <a:pt x="3335" y="3550"/>
                  <a:pt x="3151" y="3733"/>
                  <a:pt x="2925" y="3733"/>
                </a:cubicBezTo>
                <a:close/>
                <a:moveTo>
                  <a:pt x="2925" y="1233"/>
                </a:moveTo>
                <a:cubicBezTo>
                  <a:pt x="2699" y="1233"/>
                  <a:pt x="2515" y="1049"/>
                  <a:pt x="2515" y="823"/>
                </a:cubicBezTo>
                <a:cubicBezTo>
                  <a:pt x="2515" y="597"/>
                  <a:pt x="2699" y="413"/>
                  <a:pt x="2925" y="413"/>
                </a:cubicBezTo>
                <a:cubicBezTo>
                  <a:pt x="3151" y="413"/>
                  <a:pt x="3335" y="597"/>
                  <a:pt x="3335" y="823"/>
                </a:cubicBezTo>
                <a:cubicBezTo>
                  <a:pt x="3335" y="1049"/>
                  <a:pt x="3151" y="1233"/>
                  <a:pt x="2925" y="1233"/>
                </a:cubicBezTo>
                <a:close/>
                <a:moveTo>
                  <a:pt x="824" y="1664"/>
                </a:moveTo>
                <a:cubicBezTo>
                  <a:pt x="1049" y="1664"/>
                  <a:pt x="1233" y="1847"/>
                  <a:pt x="1233" y="2073"/>
                </a:cubicBezTo>
                <a:cubicBezTo>
                  <a:pt x="1233" y="2158"/>
                  <a:pt x="1208" y="2239"/>
                  <a:pt x="1159" y="2308"/>
                </a:cubicBezTo>
                <a:cubicBezTo>
                  <a:pt x="1159" y="2308"/>
                  <a:pt x="1141" y="2332"/>
                  <a:pt x="1132" y="2343"/>
                </a:cubicBezTo>
                <a:cubicBezTo>
                  <a:pt x="1053" y="2432"/>
                  <a:pt x="941" y="2483"/>
                  <a:pt x="824" y="2483"/>
                </a:cubicBezTo>
                <a:cubicBezTo>
                  <a:pt x="598" y="2483"/>
                  <a:pt x="414" y="2299"/>
                  <a:pt x="414" y="2073"/>
                </a:cubicBezTo>
                <a:cubicBezTo>
                  <a:pt x="414" y="1847"/>
                  <a:pt x="598" y="1664"/>
                  <a:pt x="824" y="1664"/>
                </a:cubicBezTo>
                <a:close/>
              </a:path>
            </a:pathLst>
          </a:custGeom>
          <a:solidFill>
            <a:schemeClr val="bg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sz="2700">
              <a:latin typeface="Arial" panose="020B0604020202090204" pitchFamily="34" charset="0"/>
              <a:ea typeface="微软雅黑" charset="-122"/>
              <a:cs typeface="+mn-ea"/>
              <a:sym typeface="Arial" panose="020B0604020202090204" pitchFamily="34" charset="0"/>
            </a:endParaRPr>
          </a:p>
        </p:txBody>
      </p:sp>
      <p:pic>
        <p:nvPicPr>
          <p:cNvPr id="65" name="图片 64" descr="/Users/hwj/Desktop/PPT图片/WechatIMG1117.jpgWechatIMG1117"/>
          <p:cNvPicPr>
            <a:picLocks noChangeAspect="1"/>
          </p:cNvPicPr>
          <p:nvPr>
            <p:custDataLst>
              <p:tags r:id="rId1"/>
            </p:custDataLst>
          </p:nvPr>
        </p:nvPicPr>
        <p:blipFill rotWithShape="1">
          <a:blip r:embed="rId2"/>
          <a:srcRect l="21325" r="21325"/>
          <a:stretch>
            <a:fillRect/>
          </a:stretch>
        </p:blipFill>
        <p:spPr>
          <a:xfrm>
            <a:off x="2667000" y="1943100"/>
            <a:ext cx="1887855" cy="1887855"/>
          </a:xfrm>
          <a:prstGeom prst="ellipse">
            <a:avLst/>
          </a:prstGeom>
          <a:ln w="28575">
            <a:solidFill>
              <a:srgbClr val="861B11"/>
            </a:solidFill>
          </a:ln>
        </p:spPr>
      </p:pic>
      <p:pic>
        <p:nvPicPr>
          <p:cNvPr id="2" name="图片 1" descr="/Users/hwj/Desktop/PPT图片/WechatIMG1120.jpgWechatIMG1120"/>
          <p:cNvPicPr>
            <a:picLocks noChangeAspect="1"/>
          </p:cNvPicPr>
          <p:nvPr>
            <p:custDataLst>
              <p:tags r:id="rId3"/>
            </p:custDataLst>
          </p:nvPr>
        </p:nvPicPr>
        <p:blipFill rotWithShape="1">
          <a:blip r:embed="rId4"/>
          <a:srcRect l="-2440" t="-5788" r="-2440" b="-5788"/>
          <a:stretch>
            <a:fillRect/>
          </a:stretch>
        </p:blipFill>
        <p:spPr>
          <a:xfrm>
            <a:off x="6553200" y="1888490"/>
            <a:ext cx="1887855" cy="1887855"/>
          </a:xfrm>
          <a:prstGeom prst="ellipse">
            <a:avLst/>
          </a:prstGeom>
          <a:ln w="28575">
            <a:solidFill>
              <a:srgbClr val="861B11"/>
            </a:solidFill>
          </a:ln>
        </p:spPr>
      </p:pic>
      <p:pic>
        <p:nvPicPr>
          <p:cNvPr id="3" name="图片 2" descr="/Users/hwj/Desktop/PPT图片/WechatIMG1121.jpgWechatIMG1121"/>
          <p:cNvPicPr>
            <a:picLocks noChangeAspect="1"/>
          </p:cNvPicPr>
          <p:nvPr>
            <p:custDataLst>
              <p:tags r:id="rId5"/>
            </p:custDataLst>
          </p:nvPr>
        </p:nvPicPr>
        <p:blipFill rotWithShape="1">
          <a:blip r:embed="rId6"/>
          <a:srcRect l="4322" r="4322"/>
          <a:stretch>
            <a:fillRect/>
          </a:stretch>
        </p:blipFill>
        <p:spPr>
          <a:xfrm>
            <a:off x="10143490" y="1866900"/>
            <a:ext cx="1887855" cy="1887855"/>
          </a:xfrm>
          <a:prstGeom prst="ellipse">
            <a:avLst/>
          </a:prstGeom>
          <a:ln w="28575">
            <a:solidFill>
              <a:srgbClr val="861B11"/>
            </a:solidFill>
          </a:ln>
        </p:spPr>
      </p:pic>
      <p:pic>
        <p:nvPicPr>
          <p:cNvPr id="4" name="图片 3" descr="/Users/hwj/Desktop/PPT图片/WechatIMG1123.jpgWechatIMG1123"/>
          <p:cNvPicPr>
            <a:picLocks noChangeAspect="1"/>
          </p:cNvPicPr>
          <p:nvPr>
            <p:custDataLst>
              <p:tags r:id="rId7"/>
            </p:custDataLst>
          </p:nvPr>
        </p:nvPicPr>
        <p:blipFill rotWithShape="1">
          <a:blip r:embed="rId8"/>
          <a:srcRect l="-1412" t="-4625" r="-1412" b="-4625"/>
          <a:stretch>
            <a:fillRect/>
          </a:stretch>
        </p:blipFill>
        <p:spPr>
          <a:xfrm>
            <a:off x="13886180" y="1886585"/>
            <a:ext cx="1887855" cy="1887855"/>
          </a:xfrm>
          <a:prstGeom prst="ellipse">
            <a:avLst/>
          </a:prstGeom>
          <a:ln w="28575">
            <a:solidFill>
              <a:srgbClr val="861B11"/>
            </a:solidFill>
          </a:ln>
        </p:spPr>
      </p:pic>
    </p:spTree>
  </p:cSld>
  <p:clrMapOvr>
    <a:masterClrMapping/>
  </p:clrMapOvr>
  <p:transition advTm="33467"/>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4"/>
          </p:nvPr>
        </p:nvSpPr>
        <p:spPr/>
        <p:txBody>
          <a:bodyPr/>
          <a:lstStyle/>
          <a:p>
            <a:r>
              <a:rPr lang="en-US" altLang="zh-CN" sz="2700">
                <a:sym typeface="Arial" panose="020B0604020202090204" pitchFamily="34" charset="0"/>
              </a:rPr>
              <a:t>&lt; </a:t>
            </a:r>
            <a:fld id="{A548B57D-AE10-4CF7-A9DF-59FEFA91B28E}" type="slidenum">
              <a:rPr lang="zh-CN" altLang="en-US" sz="2700" smtClean="0">
                <a:sym typeface="Arial" panose="020B0604020202090204" pitchFamily="34" charset="0"/>
              </a:rPr>
            </a:fld>
            <a:r>
              <a:rPr lang="zh-CN" altLang="en-US" sz="2700">
                <a:sym typeface="Arial" panose="020B0604020202090204" pitchFamily="34" charset="0"/>
              </a:rPr>
              <a:t> </a:t>
            </a:r>
            <a:r>
              <a:rPr lang="en-US" altLang="zh-CN" sz="2700">
                <a:sym typeface="Arial" panose="020B0604020202090204" pitchFamily="34" charset="0"/>
              </a:rPr>
              <a:t>&gt;</a:t>
            </a:r>
            <a:endParaRPr lang="zh-CN" altLang="en-US" sz="2700" dirty="0">
              <a:sym typeface="Arial" panose="020B0604020202090204" pitchFamily="34" charset="0"/>
            </a:endParaRPr>
          </a:p>
        </p:txBody>
      </p:sp>
      <p:sp>
        <p:nvSpPr>
          <p:cNvPr id="3" name="标题 2"/>
          <p:cNvSpPr>
            <a:spLocks noGrp="1"/>
          </p:cNvSpPr>
          <p:nvPr>
            <p:ph type="title"/>
          </p:nvPr>
        </p:nvSpPr>
        <p:spPr/>
        <p:txBody>
          <a:bodyPr/>
          <a:lstStyle/>
          <a:p>
            <a:r>
              <a:rPr lang="en-US" altLang="zh-CN" dirty="0">
                <a:sym typeface="Arial" panose="020B0604020202090204" pitchFamily="34" charset="0"/>
              </a:rPr>
              <a:t>2.3 </a:t>
            </a:r>
            <a:r>
              <a:rPr lang="zh-CN" altLang="en-US" dirty="0">
                <a:sym typeface="Arial" panose="020B0604020202090204" pitchFamily="34" charset="0"/>
              </a:rPr>
              <a:t>研究的创新点</a:t>
            </a:r>
            <a:endParaRPr lang="zh-CN" altLang="en-US" dirty="0">
              <a:sym typeface="Arial" panose="020B0604020202090204" pitchFamily="34" charset="0"/>
            </a:endParaRPr>
          </a:p>
        </p:txBody>
      </p:sp>
      <p:sp>
        <p:nvSpPr>
          <p:cNvPr id="12" name="文本占位符 11"/>
          <p:cNvSpPr>
            <a:spLocks noGrp="1"/>
          </p:cNvSpPr>
          <p:nvPr>
            <p:ph type="body" sz="quarter" idx="10"/>
          </p:nvPr>
        </p:nvSpPr>
        <p:spPr/>
        <p:txBody>
          <a:bodyPr/>
          <a:lstStyle/>
          <a:p>
            <a:endParaRPr lang="zh-CN" altLang="en-US"/>
          </a:p>
        </p:txBody>
      </p:sp>
      <p:pic>
        <p:nvPicPr>
          <p:cNvPr id="19" name="图片 18" descr="/Users/hwj/Desktop/PPT图片/图片2.png图片2"/>
          <p:cNvPicPr>
            <a:picLocks noChangeAspect="1"/>
          </p:cNvPicPr>
          <p:nvPr/>
        </p:nvPicPr>
        <p:blipFill rotWithShape="1">
          <a:blip r:embed="rId1"/>
          <a:srcRect t="32236" b="32236"/>
          <a:stretch>
            <a:fillRect/>
          </a:stretch>
        </p:blipFill>
        <p:spPr>
          <a:xfrm>
            <a:off x="0" y="1470193"/>
            <a:ext cx="18288000" cy="4334823"/>
          </a:xfrm>
          <a:prstGeom prst="rect">
            <a:avLst/>
          </a:prstGeom>
        </p:spPr>
      </p:pic>
      <p:sp>
        <p:nvSpPr>
          <p:cNvPr id="20" name="矩形 19"/>
          <p:cNvSpPr/>
          <p:nvPr/>
        </p:nvSpPr>
        <p:spPr>
          <a:xfrm>
            <a:off x="0" y="1456085"/>
            <a:ext cx="18288000" cy="4345755"/>
          </a:xfrm>
          <a:prstGeom prst="rect">
            <a:avLst/>
          </a:prstGeom>
          <a:gradFill>
            <a:gsLst>
              <a:gs pos="0">
                <a:srgbClr val="9A0001">
                  <a:alpha val="40000"/>
                </a:srgbClr>
              </a:gs>
              <a:gs pos="100000">
                <a:srgbClr val="9A0001">
                  <a:alpha val="59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Arial" panose="020B0604020202090204" pitchFamily="34" charset="0"/>
              <a:ea typeface="微软雅黑" charset="-122"/>
              <a:cs typeface="+mn-ea"/>
              <a:sym typeface="Arial" panose="020B0604020202090204" pitchFamily="34" charset="0"/>
            </a:endParaRPr>
          </a:p>
        </p:txBody>
      </p:sp>
      <p:grpSp>
        <p:nvGrpSpPr>
          <p:cNvPr id="23" name="组合 22"/>
          <p:cNvGrpSpPr/>
          <p:nvPr/>
        </p:nvGrpSpPr>
        <p:grpSpPr>
          <a:xfrm>
            <a:off x="1291590" y="3771265"/>
            <a:ext cx="15704820" cy="5566410"/>
            <a:chOff x="1087122" y="2794000"/>
            <a:chExt cx="10469877" cy="3264927"/>
          </a:xfrm>
        </p:grpSpPr>
        <p:sp>
          <p:nvSpPr>
            <p:cNvPr id="5" name="矩形: 圆角 4"/>
            <p:cNvSpPr/>
            <p:nvPr/>
          </p:nvSpPr>
          <p:spPr>
            <a:xfrm>
              <a:off x="1087122" y="2794000"/>
              <a:ext cx="3119118" cy="3264927"/>
            </a:xfrm>
            <a:prstGeom prst="roundRect">
              <a:avLst>
                <a:gd name="adj" fmla="val 4424"/>
              </a:avLst>
            </a:prstGeom>
            <a:solidFill>
              <a:schemeClr val="bg1"/>
            </a:solidFill>
            <a:ln>
              <a:noFill/>
            </a:ln>
            <a:effectLst>
              <a:outerShdw blurRad="381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Arial" panose="020B0604020202090204" pitchFamily="34" charset="0"/>
                <a:ea typeface="微软雅黑" charset="-122"/>
                <a:cs typeface="+mn-ea"/>
                <a:sym typeface="Arial" panose="020B0604020202090204" pitchFamily="34" charset="0"/>
              </a:endParaRPr>
            </a:p>
          </p:txBody>
        </p:sp>
        <p:sp>
          <p:nvSpPr>
            <p:cNvPr id="21" name="矩形: 圆角 20"/>
            <p:cNvSpPr/>
            <p:nvPr/>
          </p:nvSpPr>
          <p:spPr>
            <a:xfrm>
              <a:off x="4762502" y="2794000"/>
              <a:ext cx="3119118" cy="3264927"/>
            </a:xfrm>
            <a:prstGeom prst="roundRect">
              <a:avLst>
                <a:gd name="adj" fmla="val 4424"/>
              </a:avLst>
            </a:prstGeom>
            <a:solidFill>
              <a:schemeClr val="bg1"/>
            </a:solidFill>
            <a:ln>
              <a:noFill/>
            </a:ln>
            <a:effectLst>
              <a:outerShdw blurRad="381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Arial" panose="020B0604020202090204" pitchFamily="34" charset="0"/>
                <a:ea typeface="微软雅黑" charset="-122"/>
                <a:cs typeface="+mn-ea"/>
                <a:sym typeface="Arial" panose="020B0604020202090204" pitchFamily="34" charset="0"/>
              </a:endParaRPr>
            </a:p>
          </p:txBody>
        </p:sp>
        <p:sp>
          <p:nvSpPr>
            <p:cNvPr id="22" name="矩形: 圆角 21"/>
            <p:cNvSpPr/>
            <p:nvPr/>
          </p:nvSpPr>
          <p:spPr>
            <a:xfrm>
              <a:off x="8437881" y="2794000"/>
              <a:ext cx="3119118" cy="3264927"/>
            </a:xfrm>
            <a:prstGeom prst="roundRect">
              <a:avLst>
                <a:gd name="adj" fmla="val 4424"/>
              </a:avLst>
            </a:prstGeom>
            <a:solidFill>
              <a:schemeClr val="bg1"/>
            </a:solidFill>
            <a:ln>
              <a:noFill/>
            </a:ln>
            <a:effectLst>
              <a:outerShdw blurRad="38100" sx="101000" sy="101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700">
                <a:latin typeface="Arial" panose="020B0604020202090204" pitchFamily="34" charset="0"/>
                <a:ea typeface="微软雅黑" charset="-122"/>
                <a:cs typeface="+mn-ea"/>
                <a:sym typeface="Arial" panose="020B0604020202090204" pitchFamily="34" charset="0"/>
              </a:endParaRPr>
            </a:p>
          </p:txBody>
        </p:sp>
      </p:grpSp>
      <p:sp>
        <p:nvSpPr>
          <p:cNvPr id="24" name="Freeform 113"/>
          <p:cNvSpPr>
            <a:spLocks noChangeArrowheads="1"/>
          </p:cNvSpPr>
          <p:nvPr/>
        </p:nvSpPr>
        <p:spPr bwMode="auto">
          <a:xfrm>
            <a:off x="14365226" y="4344389"/>
            <a:ext cx="583689" cy="640014"/>
          </a:xfrm>
          <a:custGeom>
            <a:avLst/>
            <a:gdLst>
              <a:gd name="connsiteX0" fmla="*/ 130776 w 510187"/>
              <a:gd name="connsiteY0" fmla="*/ 398252 h 559418"/>
              <a:gd name="connsiteX1" fmla="*/ 180826 w 510187"/>
              <a:gd name="connsiteY1" fmla="*/ 398252 h 559418"/>
              <a:gd name="connsiteX2" fmla="*/ 195356 w 510187"/>
              <a:gd name="connsiteY2" fmla="*/ 420815 h 559418"/>
              <a:gd name="connsiteX3" fmla="*/ 140463 w 510187"/>
              <a:gd name="connsiteY3" fmla="*/ 420815 h 559418"/>
              <a:gd name="connsiteX4" fmla="*/ 48435 w 510187"/>
              <a:gd name="connsiteY4" fmla="*/ 535243 h 559418"/>
              <a:gd name="connsiteX5" fmla="*/ 461752 w 510187"/>
              <a:gd name="connsiteY5" fmla="*/ 535243 h 559418"/>
              <a:gd name="connsiteX6" fmla="*/ 369724 w 510187"/>
              <a:gd name="connsiteY6" fmla="*/ 420815 h 559418"/>
              <a:gd name="connsiteX7" fmla="*/ 316445 w 510187"/>
              <a:gd name="connsiteY7" fmla="*/ 420815 h 559418"/>
              <a:gd name="connsiteX8" fmla="*/ 329361 w 510187"/>
              <a:gd name="connsiteY8" fmla="*/ 398252 h 559418"/>
              <a:gd name="connsiteX9" fmla="*/ 381026 w 510187"/>
              <a:gd name="connsiteY9" fmla="*/ 398252 h 559418"/>
              <a:gd name="connsiteX10" fmla="*/ 510187 w 510187"/>
              <a:gd name="connsiteY10" fmla="*/ 559418 h 559418"/>
              <a:gd name="connsiteX11" fmla="*/ 0 w 510187"/>
              <a:gd name="connsiteY11" fmla="*/ 559418 h 559418"/>
              <a:gd name="connsiteX12" fmla="*/ 254964 w 510187"/>
              <a:gd name="connsiteY12" fmla="*/ 79000 h 559418"/>
              <a:gd name="connsiteX13" fmla="*/ 175836 w 510187"/>
              <a:gd name="connsiteY13" fmla="*/ 159612 h 559418"/>
              <a:gd name="connsiteX14" fmla="*/ 254964 w 510187"/>
              <a:gd name="connsiteY14" fmla="*/ 238611 h 559418"/>
              <a:gd name="connsiteX15" fmla="*/ 335706 w 510187"/>
              <a:gd name="connsiteY15" fmla="*/ 159612 h 559418"/>
              <a:gd name="connsiteX16" fmla="*/ 254964 w 510187"/>
              <a:gd name="connsiteY16" fmla="*/ 79000 h 559418"/>
              <a:gd name="connsiteX17" fmla="*/ 254964 w 510187"/>
              <a:gd name="connsiteY17" fmla="*/ 0 h 559418"/>
              <a:gd name="connsiteX18" fmla="*/ 414834 w 510187"/>
              <a:gd name="connsiteY18" fmla="*/ 159612 h 559418"/>
              <a:gd name="connsiteX19" fmla="*/ 254964 w 510187"/>
              <a:gd name="connsiteY19" fmla="*/ 478835 h 559418"/>
              <a:gd name="connsiteX20" fmla="*/ 95093 w 510187"/>
              <a:gd name="connsiteY20" fmla="*/ 159612 h 559418"/>
              <a:gd name="connsiteX21" fmla="*/ 254964 w 510187"/>
              <a:gd name="connsiteY21" fmla="*/ 0 h 559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510187" h="559418">
                <a:moveTo>
                  <a:pt x="130776" y="398252"/>
                </a:moveTo>
                <a:lnTo>
                  <a:pt x="180826" y="398252"/>
                </a:lnTo>
                <a:cubicBezTo>
                  <a:pt x="185669" y="404699"/>
                  <a:pt x="190513" y="412757"/>
                  <a:pt x="195356" y="420815"/>
                </a:cubicBezTo>
                <a:lnTo>
                  <a:pt x="140463" y="420815"/>
                </a:lnTo>
                <a:lnTo>
                  <a:pt x="48435" y="535243"/>
                </a:lnTo>
                <a:lnTo>
                  <a:pt x="461752" y="535243"/>
                </a:lnTo>
                <a:lnTo>
                  <a:pt x="369724" y="420815"/>
                </a:lnTo>
                <a:lnTo>
                  <a:pt x="316445" y="420815"/>
                </a:lnTo>
                <a:cubicBezTo>
                  <a:pt x="319674" y="412757"/>
                  <a:pt x="324518" y="404699"/>
                  <a:pt x="329361" y="398252"/>
                </a:cubicBezTo>
                <a:lnTo>
                  <a:pt x="381026" y="398252"/>
                </a:lnTo>
                <a:lnTo>
                  <a:pt x="510187" y="559418"/>
                </a:lnTo>
                <a:lnTo>
                  <a:pt x="0" y="559418"/>
                </a:lnTo>
                <a:close/>
                <a:moveTo>
                  <a:pt x="254964" y="79000"/>
                </a:moveTo>
                <a:cubicBezTo>
                  <a:pt x="211363" y="79000"/>
                  <a:pt x="175836" y="116081"/>
                  <a:pt x="175836" y="159612"/>
                </a:cubicBezTo>
                <a:cubicBezTo>
                  <a:pt x="175836" y="203142"/>
                  <a:pt x="211363" y="238611"/>
                  <a:pt x="254964" y="238611"/>
                </a:cubicBezTo>
                <a:cubicBezTo>
                  <a:pt x="300179" y="238611"/>
                  <a:pt x="335706" y="203142"/>
                  <a:pt x="335706" y="159612"/>
                </a:cubicBezTo>
                <a:cubicBezTo>
                  <a:pt x="335706" y="116081"/>
                  <a:pt x="300179" y="79000"/>
                  <a:pt x="254964" y="79000"/>
                </a:cubicBezTo>
                <a:close/>
                <a:moveTo>
                  <a:pt x="254964" y="0"/>
                </a:moveTo>
                <a:cubicBezTo>
                  <a:pt x="343781" y="0"/>
                  <a:pt x="414834" y="70939"/>
                  <a:pt x="414834" y="159612"/>
                </a:cubicBezTo>
                <a:cubicBezTo>
                  <a:pt x="414834" y="246673"/>
                  <a:pt x="254964" y="478835"/>
                  <a:pt x="254964" y="478835"/>
                </a:cubicBezTo>
                <a:cubicBezTo>
                  <a:pt x="254964" y="478835"/>
                  <a:pt x="95093" y="246673"/>
                  <a:pt x="95093" y="159612"/>
                </a:cubicBezTo>
                <a:cubicBezTo>
                  <a:pt x="95093" y="70939"/>
                  <a:pt x="167761" y="0"/>
                  <a:pt x="254964" y="0"/>
                </a:cubicBezTo>
                <a:close/>
              </a:path>
            </a:pathLst>
          </a:custGeom>
          <a:solidFill>
            <a:srgbClr val="861B11"/>
          </a:soli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20000"/>
              </a:lnSpc>
              <a:defRPr/>
            </a:pPr>
            <a:endParaRPr lang="zh-CN" altLang="en-US" sz="2700">
              <a:latin typeface="Arial" panose="020B0604020202090204" pitchFamily="34" charset="0"/>
              <a:ea typeface="微软雅黑" charset="-122"/>
              <a:cs typeface="+mn-ea"/>
              <a:sym typeface="Arial" panose="020B0604020202090204" pitchFamily="34" charset="0"/>
            </a:endParaRPr>
          </a:p>
        </p:txBody>
      </p:sp>
      <p:sp>
        <p:nvSpPr>
          <p:cNvPr id="25" name="Freeform 115"/>
          <p:cNvSpPr>
            <a:spLocks noChangeArrowheads="1"/>
          </p:cNvSpPr>
          <p:nvPr/>
        </p:nvSpPr>
        <p:spPr bwMode="auto">
          <a:xfrm>
            <a:off x="3259235" y="4329306"/>
            <a:ext cx="657767" cy="655097"/>
          </a:xfrm>
          <a:custGeom>
            <a:avLst/>
            <a:gdLst>
              <a:gd name="connsiteX0" fmla="*/ 0 w 608344"/>
              <a:gd name="connsiteY0" fmla="*/ 537850 h 605875"/>
              <a:gd name="connsiteX1" fmla="*/ 608344 w 608344"/>
              <a:gd name="connsiteY1" fmla="*/ 537850 h 605875"/>
              <a:gd name="connsiteX2" fmla="*/ 608344 w 608344"/>
              <a:gd name="connsiteY2" fmla="*/ 605875 h 605875"/>
              <a:gd name="connsiteX3" fmla="*/ 0 w 608344"/>
              <a:gd name="connsiteY3" fmla="*/ 605875 h 605875"/>
              <a:gd name="connsiteX4" fmla="*/ 25404 w 608344"/>
              <a:gd name="connsiteY4" fmla="*/ 377807 h 605875"/>
              <a:gd name="connsiteX5" fmla="*/ 195114 w 608344"/>
              <a:gd name="connsiteY5" fmla="*/ 377807 h 605875"/>
              <a:gd name="connsiteX6" fmla="*/ 195114 w 608344"/>
              <a:gd name="connsiteY6" fmla="*/ 510258 h 605875"/>
              <a:gd name="connsiteX7" fmla="*/ 25404 w 608344"/>
              <a:gd name="connsiteY7" fmla="*/ 510258 h 605875"/>
              <a:gd name="connsiteX8" fmla="*/ 219317 w 608344"/>
              <a:gd name="connsiteY8" fmla="*/ 262927 h 605875"/>
              <a:gd name="connsiteX9" fmla="*/ 389027 w 608344"/>
              <a:gd name="connsiteY9" fmla="*/ 262927 h 605875"/>
              <a:gd name="connsiteX10" fmla="*/ 389027 w 608344"/>
              <a:gd name="connsiteY10" fmla="*/ 510259 h 605875"/>
              <a:gd name="connsiteX11" fmla="*/ 219317 w 608344"/>
              <a:gd name="connsiteY11" fmla="*/ 510259 h 605875"/>
              <a:gd name="connsiteX12" fmla="*/ 412313 w 608344"/>
              <a:gd name="connsiteY12" fmla="*/ 133369 h 605875"/>
              <a:gd name="connsiteX13" fmla="*/ 582093 w 608344"/>
              <a:gd name="connsiteY13" fmla="*/ 133369 h 605875"/>
              <a:gd name="connsiteX14" fmla="*/ 582093 w 608344"/>
              <a:gd name="connsiteY14" fmla="*/ 510259 h 605875"/>
              <a:gd name="connsiteX15" fmla="*/ 412313 w 608344"/>
              <a:gd name="connsiteY15" fmla="*/ 510259 h 605875"/>
              <a:gd name="connsiteX16" fmla="*/ 463479 w 608344"/>
              <a:gd name="connsiteY16" fmla="*/ 0 h 605875"/>
              <a:gd name="connsiteX17" fmla="*/ 554150 w 608344"/>
              <a:gd name="connsiteY17" fmla="*/ 52977 h 605875"/>
              <a:gd name="connsiteX18" fmla="*/ 462928 w 608344"/>
              <a:gd name="connsiteY18" fmla="*/ 104963 h 605875"/>
              <a:gd name="connsiteX19" fmla="*/ 463038 w 608344"/>
              <a:gd name="connsiteY19" fmla="*/ 73574 h 605875"/>
              <a:gd name="connsiteX20" fmla="*/ 360565 w 608344"/>
              <a:gd name="connsiteY20" fmla="*/ 73023 h 605875"/>
              <a:gd name="connsiteX21" fmla="*/ 359462 w 608344"/>
              <a:gd name="connsiteY21" fmla="*/ 192195 h 605875"/>
              <a:gd name="connsiteX22" fmla="*/ 183305 w 608344"/>
              <a:gd name="connsiteY22" fmla="*/ 192195 h 605875"/>
              <a:gd name="connsiteX23" fmla="*/ 183305 w 608344"/>
              <a:gd name="connsiteY23" fmla="*/ 320508 h 605875"/>
              <a:gd name="connsiteX24" fmla="*/ 51160 w 608344"/>
              <a:gd name="connsiteY24" fmla="*/ 320508 h 605875"/>
              <a:gd name="connsiteX25" fmla="*/ 51160 w 608344"/>
              <a:gd name="connsiteY25" fmla="*/ 278435 h 605875"/>
              <a:gd name="connsiteX26" fmla="*/ 141058 w 608344"/>
              <a:gd name="connsiteY26" fmla="*/ 278435 h 605875"/>
              <a:gd name="connsiteX27" fmla="*/ 141058 w 608344"/>
              <a:gd name="connsiteY27" fmla="*/ 150121 h 605875"/>
              <a:gd name="connsiteX28" fmla="*/ 317656 w 608344"/>
              <a:gd name="connsiteY28" fmla="*/ 150121 h 605875"/>
              <a:gd name="connsiteX29" fmla="*/ 318760 w 608344"/>
              <a:gd name="connsiteY29" fmla="*/ 30729 h 605875"/>
              <a:gd name="connsiteX30" fmla="*/ 463259 w 608344"/>
              <a:gd name="connsiteY30" fmla="*/ 31500 h 605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605875">
                <a:moveTo>
                  <a:pt x="0" y="537850"/>
                </a:moveTo>
                <a:lnTo>
                  <a:pt x="608344" y="537850"/>
                </a:lnTo>
                <a:lnTo>
                  <a:pt x="608344" y="605875"/>
                </a:lnTo>
                <a:lnTo>
                  <a:pt x="0" y="605875"/>
                </a:lnTo>
                <a:close/>
                <a:moveTo>
                  <a:pt x="25404" y="377807"/>
                </a:moveTo>
                <a:lnTo>
                  <a:pt x="195114" y="377807"/>
                </a:lnTo>
                <a:lnTo>
                  <a:pt x="195114" y="510258"/>
                </a:lnTo>
                <a:lnTo>
                  <a:pt x="25404" y="510258"/>
                </a:lnTo>
                <a:close/>
                <a:moveTo>
                  <a:pt x="219317" y="262927"/>
                </a:moveTo>
                <a:lnTo>
                  <a:pt x="389027" y="262927"/>
                </a:lnTo>
                <a:lnTo>
                  <a:pt x="389027" y="510259"/>
                </a:lnTo>
                <a:lnTo>
                  <a:pt x="219317" y="510259"/>
                </a:lnTo>
                <a:close/>
                <a:moveTo>
                  <a:pt x="412313" y="133369"/>
                </a:moveTo>
                <a:lnTo>
                  <a:pt x="582093" y="133369"/>
                </a:lnTo>
                <a:lnTo>
                  <a:pt x="582093" y="510259"/>
                </a:lnTo>
                <a:lnTo>
                  <a:pt x="412313" y="510259"/>
                </a:lnTo>
                <a:close/>
                <a:moveTo>
                  <a:pt x="463479" y="0"/>
                </a:moveTo>
                <a:lnTo>
                  <a:pt x="554150" y="52977"/>
                </a:lnTo>
                <a:lnTo>
                  <a:pt x="462928" y="104963"/>
                </a:lnTo>
                <a:lnTo>
                  <a:pt x="463038" y="73574"/>
                </a:lnTo>
                <a:lnTo>
                  <a:pt x="360565" y="73023"/>
                </a:lnTo>
                <a:lnTo>
                  <a:pt x="359462" y="192195"/>
                </a:lnTo>
                <a:lnTo>
                  <a:pt x="183305" y="192195"/>
                </a:lnTo>
                <a:lnTo>
                  <a:pt x="183305" y="320508"/>
                </a:lnTo>
                <a:lnTo>
                  <a:pt x="51160" y="320508"/>
                </a:lnTo>
                <a:lnTo>
                  <a:pt x="51160" y="278435"/>
                </a:lnTo>
                <a:lnTo>
                  <a:pt x="141058" y="278435"/>
                </a:lnTo>
                <a:lnTo>
                  <a:pt x="141058" y="150121"/>
                </a:lnTo>
                <a:lnTo>
                  <a:pt x="317656" y="150121"/>
                </a:lnTo>
                <a:lnTo>
                  <a:pt x="318760" y="30729"/>
                </a:lnTo>
                <a:lnTo>
                  <a:pt x="463259" y="31500"/>
                </a:lnTo>
                <a:close/>
              </a:path>
            </a:pathLst>
          </a:custGeom>
          <a:solidFill>
            <a:srgbClr val="861B11"/>
          </a:soli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20000"/>
              </a:lnSpc>
              <a:defRPr/>
            </a:pPr>
            <a:endParaRPr lang="zh-CN" altLang="en-US" sz="2700">
              <a:latin typeface="Arial" panose="020B0604020202090204" pitchFamily="34" charset="0"/>
              <a:ea typeface="微软雅黑" charset="-122"/>
              <a:cs typeface="+mn-ea"/>
              <a:sym typeface="Arial" panose="020B0604020202090204" pitchFamily="34" charset="0"/>
            </a:endParaRPr>
          </a:p>
        </p:txBody>
      </p:sp>
      <p:sp>
        <p:nvSpPr>
          <p:cNvPr id="26" name="Freeform 5"/>
          <p:cNvSpPr>
            <a:spLocks noChangeArrowheads="1"/>
          </p:cNvSpPr>
          <p:nvPr/>
        </p:nvSpPr>
        <p:spPr bwMode="auto">
          <a:xfrm>
            <a:off x="8795771" y="4423098"/>
            <a:ext cx="696459" cy="561305"/>
          </a:xfrm>
          <a:custGeom>
            <a:avLst/>
            <a:gdLst>
              <a:gd name="connsiteX0" fmla="*/ 50882 w 608344"/>
              <a:gd name="connsiteY0" fmla="*/ 115887 h 490289"/>
              <a:gd name="connsiteX1" fmla="*/ 50882 w 608344"/>
              <a:gd name="connsiteY1" fmla="*/ 201112 h 490289"/>
              <a:gd name="connsiteX2" fmla="*/ 438489 w 608344"/>
              <a:gd name="connsiteY2" fmla="*/ 201112 h 490289"/>
              <a:gd name="connsiteX3" fmla="*/ 438489 w 608344"/>
              <a:gd name="connsiteY3" fmla="*/ 162825 h 490289"/>
              <a:gd name="connsiteX4" fmla="*/ 219567 w 608344"/>
              <a:gd name="connsiteY4" fmla="*/ 162825 h 490289"/>
              <a:gd name="connsiteX5" fmla="*/ 174400 w 608344"/>
              <a:gd name="connsiteY5" fmla="*/ 135399 h 490289"/>
              <a:gd name="connsiteX6" fmla="*/ 165459 w 608344"/>
              <a:gd name="connsiteY6" fmla="*/ 118372 h 490289"/>
              <a:gd name="connsiteX7" fmla="*/ 164260 w 608344"/>
              <a:gd name="connsiteY7" fmla="*/ 115887 h 490289"/>
              <a:gd name="connsiteX8" fmla="*/ 50697 w 608344"/>
              <a:gd name="connsiteY8" fmla="*/ 64991 h 490289"/>
              <a:gd name="connsiteX9" fmla="*/ 164445 w 608344"/>
              <a:gd name="connsiteY9" fmla="*/ 64991 h 490289"/>
              <a:gd name="connsiteX10" fmla="*/ 210718 w 608344"/>
              <a:gd name="connsiteY10" fmla="*/ 94995 h 490289"/>
              <a:gd name="connsiteX11" fmla="*/ 219567 w 608344"/>
              <a:gd name="connsiteY11" fmla="*/ 112022 h 490289"/>
              <a:gd name="connsiteX12" fmla="*/ 438674 w 608344"/>
              <a:gd name="connsiteY12" fmla="*/ 112022 h 490289"/>
              <a:gd name="connsiteX13" fmla="*/ 489371 w 608344"/>
              <a:gd name="connsiteY13" fmla="*/ 162641 h 490289"/>
              <a:gd name="connsiteX14" fmla="*/ 489371 w 608344"/>
              <a:gd name="connsiteY14" fmla="*/ 445560 h 490289"/>
              <a:gd name="connsiteX15" fmla="*/ 444665 w 608344"/>
              <a:gd name="connsiteY15" fmla="*/ 490289 h 490289"/>
              <a:gd name="connsiteX16" fmla="*/ 44798 w 608344"/>
              <a:gd name="connsiteY16" fmla="*/ 490289 h 490289"/>
              <a:gd name="connsiteX17" fmla="*/ 0 w 608344"/>
              <a:gd name="connsiteY17" fmla="*/ 445560 h 490289"/>
              <a:gd name="connsiteX18" fmla="*/ 0 w 608344"/>
              <a:gd name="connsiteY18" fmla="*/ 115611 h 490289"/>
              <a:gd name="connsiteX19" fmla="*/ 50697 w 608344"/>
              <a:gd name="connsiteY19" fmla="*/ 64991 h 490289"/>
              <a:gd name="connsiteX20" fmla="*/ 261904 w 608344"/>
              <a:gd name="connsiteY20" fmla="*/ 0 h 490289"/>
              <a:gd name="connsiteX21" fmla="*/ 519660 w 608344"/>
              <a:gd name="connsiteY21" fmla="*/ 0 h 490289"/>
              <a:gd name="connsiteX22" fmla="*/ 608344 w 608344"/>
              <a:gd name="connsiteY22" fmla="*/ 88635 h 490289"/>
              <a:gd name="connsiteX23" fmla="*/ 608344 w 608344"/>
              <a:gd name="connsiteY23" fmla="*/ 335764 h 490289"/>
              <a:gd name="connsiteX24" fmla="*/ 578107 w 608344"/>
              <a:gd name="connsiteY24" fmla="*/ 365953 h 490289"/>
              <a:gd name="connsiteX25" fmla="*/ 547961 w 608344"/>
              <a:gd name="connsiteY25" fmla="*/ 335764 h 490289"/>
              <a:gd name="connsiteX26" fmla="*/ 547961 w 608344"/>
              <a:gd name="connsiteY26" fmla="*/ 88635 h 490289"/>
              <a:gd name="connsiteX27" fmla="*/ 519660 w 608344"/>
              <a:gd name="connsiteY27" fmla="*/ 60379 h 490289"/>
              <a:gd name="connsiteX28" fmla="*/ 261904 w 608344"/>
              <a:gd name="connsiteY28" fmla="*/ 60379 h 490289"/>
              <a:gd name="connsiteX29" fmla="*/ 231666 w 608344"/>
              <a:gd name="connsiteY29" fmla="*/ 30190 h 490289"/>
              <a:gd name="connsiteX30" fmla="*/ 261904 w 608344"/>
              <a:gd name="connsiteY30" fmla="*/ 0 h 49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608344" h="490289">
                <a:moveTo>
                  <a:pt x="50882" y="115887"/>
                </a:moveTo>
                <a:lnTo>
                  <a:pt x="50882" y="201112"/>
                </a:lnTo>
                <a:lnTo>
                  <a:pt x="438489" y="201112"/>
                </a:lnTo>
                <a:lnTo>
                  <a:pt x="438489" y="162825"/>
                </a:lnTo>
                <a:lnTo>
                  <a:pt x="219567" y="162825"/>
                </a:lnTo>
                <a:cubicBezTo>
                  <a:pt x="200578" y="162825"/>
                  <a:pt x="183065" y="152241"/>
                  <a:pt x="174400" y="135399"/>
                </a:cubicBezTo>
                <a:lnTo>
                  <a:pt x="165459" y="118372"/>
                </a:lnTo>
                <a:cubicBezTo>
                  <a:pt x="165090" y="117544"/>
                  <a:pt x="164629" y="116715"/>
                  <a:pt x="164260" y="115887"/>
                </a:cubicBezTo>
                <a:close/>
                <a:moveTo>
                  <a:pt x="50697" y="64991"/>
                </a:moveTo>
                <a:lnTo>
                  <a:pt x="164445" y="64991"/>
                </a:lnTo>
                <a:cubicBezTo>
                  <a:pt x="184447" y="64991"/>
                  <a:pt x="202514" y="76772"/>
                  <a:pt x="210718" y="94995"/>
                </a:cubicBezTo>
                <a:lnTo>
                  <a:pt x="219567" y="112022"/>
                </a:lnTo>
                <a:lnTo>
                  <a:pt x="438674" y="112022"/>
                </a:lnTo>
                <a:cubicBezTo>
                  <a:pt x="466696" y="112022"/>
                  <a:pt x="489371" y="134662"/>
                  <a:pt x="489371" y="162641"/>
                </a:cubicBezTo>
                <a:lnTo>
                  <a:pt x="489371" y="445560"/>
                </a:lnTo>
                <a:cubicBezTo>
                  <a:pt x="489371" y="470225"/>
                  <a:pt x="469369" y="490289"/>
                  <a:pt x="444665" y="490289"/>
                </a:cubicBezTo>
                <a:lnTo>
                  <a:pt x="44798" y="490289"/>
                </a:lnTo>
                <a:cubicBezTo>
                  <a:pt x="20002" y="490289"/>
                  <a:pt x="0" y="470225"/>
                  <a:pt x="0" y="445560"/>
                </a:cubicBezTo>
                <a:lnTo>
                  <a:pt x="0" y="115611"/>
                </a:lnTo>
                <a:cubicBezTo>
                  <a:pt x="0" y="87632"/>
                  <a:pt x="22675" y="64991"/>
                  <a:pt x="50697" y="64991"/>
                </a:cubicBezTo>
                <a:close/>
                <a:moveTo>
                  <a:pt x="261904" y="0"/>
                </a:moveTo>
                <a:lnTo>
                  <a:pt x="519660" y="0"/>
                </a:lnTo>
                <a:cubicBezTo>
                  <a:pt x="568611" y="0"/>
                  <a:pt x="608344" y="39762"/>
                  <a:pt x="608344" y="88635"/>
                </a:cubicBezTo>
                <a:lnTo>
                  <a:pt x="608344" y="335764"/>
                </a:lnTo>
                <a:cubicBezTo>
                  <a:pt x="608344" y="352423"/>
                  <a:pt x="594885" y="365953"/>
                  <a:pt x="578107" y="365953"/>
                </a:cubicBezTo>
                <a:cubicBezTo>
                  <a:pt x="561421" y="365953"/>
                  <a:pt x="547961" y="352423"/>
                  <a:pt x="547961" y="335764"/>
                </a:cubicBezTo>
                <a:lnTo>
                  <a:pt x="547961" y="88635"/>
                </a:lnTo>
                <a:cubicBezTo>
                  <a:pt x="547961" y="72988"/>
                  <a:pt x="535240" y="60379"/>
                  <a:pt x="519660" y="60379"/>
                </a:cubicBezTo>
                <a:lnTo>
                  <a:pt x="261904" y="60379"/>
                </a:lnTo>
                <a:cubicBezTo>
                  <a:pt x="245218" y="60379"/>
                  <a:pt x="231666" y="46849"/>
                  <a:pt x="231666" y="30190"/>
                </a:cubicBezTo>
                <a:cubicBezTo>
                  <a:pt x="231666" y="13530"/>
                  <a:pt x="245218" y="0"/>
                  <a:pt x="261904" y="0"/>
                </a:cubicBezTo>
                <a:close/>
              </a:path>
            </a:pathLst>
          </a:custGeom>
          <a:solidFill>
            <a:srgbClr val="861B11"/>
          </a:solidFill>
          <a:ln>
            <a:noFill/>
          </a:ln>
          <a:effectLst/>
        </p:spPr>
        <p:txBody>
          <a:bodyPr wrap="none"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eaLnBrk="1" hangingPunct="1">
              <a:lnSpc>
                <a:spcPct val="120000"/>
              </a:lnSpc>
              <a:defRPr/>
            </a:pPr>
            <a:endParaRPr lang="zh-CN" altLang="en-US" sz="2700">
              <a:latin typeface="Arial" panose="020B0604020202090204" pitchFamily="34" charset="0"/>
              <a:ea typeface="微软雅黑" charset="-122"/>
              <a:cs typeface="+mn-ea"/>
              <a:sym typeface="Arial" panose="020B0604020202090204" pitchFamily="34" charset="0"/>
            </a:endParaRPr>
          </a:p>
        </p:txBody>
      </p:sp>
      <p:sp>
        <p:nvSpPr>
          <p:cNvPr id="10" name="文本框 9"/>
          <p:cNvSpPr txBox="1"/>
          <p:nvPr/>
        </p:nvSpPr>
        <p:spPr>
          <a:xfrm>
            <a:off x="1291592" y="5332952"/>
            <a:ext cx="4340789" cy="506730"/>
          </a:xfrm>
          <a:prstGeom prst="rect">
            <a:avLst/>
          </a:prstGeom>
          <a:noFill/>
        </p:spPr>
        <p:txBody>
          <a:bodyPr wrap="square" rtlCol="0">
            <a:spAutoFit/>
          </a:bodyPr>
          <a:lstStyle/>
          <a:p>
            <a:pPr algn="ctr"/>
            <a:r>
              <a:rPr lang="zh-CN" altLang="en-US" sz="2700" b="1" dirty="0">
                <a:solidFill>
                  <a:schemeClr val="tx1">
                    <a:lumMod val="75000"/>
                    <a:lumOff val="25000"/>
                  </a:schemeClr>
                </a:solidFill>
                <a:latin typeface="宋体" charset="0"/>
                <a:ea typeface="宋体" charset="0"/>
                <a:cs typeface="+mn-ea"/>
                <a:sym typeface="Arial" panose="020B0604020202090204" pitchFamily="34" charset="0"/>
              </a:rPr>
              <a:t>融合火灾环境动态因素</a:t>
            </a:r>
            <a:endParaRPr lang="zh-CN" altLang="en-US" sz="2700" b="1" dirty="0">
              <a:solidFill>
                <a:schemeClr val="tx1">
                  <a:lumMod val="75000"/>
                  <a:lumOff val="25000"/>
                </a:schemeClr>
              </a:solidFill>
              <a:latin typeface="宋体" charset="0"/>
              <a:ea typeface="宋体" charset="0"/>
              <a:cs typeface="+mn-ea"/>
              <a:sym typeface="Arial" panose="020B0604020202090204" pitchFamily="34" charset="0"/>
            </a:endParaRPr>
          </a:p>
        </p:txBody>
      </p:sp>
      <p:sp>
        <p:nvSpPr>
          <p:cNvPr id="27" name="文本框 26"/>
          <p:cNvSpPr txBox="1"/>
          <p:nvPr/>
        </p:nvSpPr>
        <p:spPr>
          <a:xfrm>
            <a:off x="6973605" y="5332952"/>
            <a:ext cx="4340789" cy="506730"/>
          </a:xfrm>
          <a:prstGeom prst="rect">
            <a:avLst/>
          </a:prstGeom>
          <a:noFill/>
        </p:spPr>
        <p:txBody>
          <a:bodyPr wrap="square" rtlCol="0">
            <a:spAutoFit/>
          </a:bodyPr>
          <a:lstStyle/>
          <a:p>
            <a:pPr algn="ctr"/>
            <a:r>
              <a:rPr lang="zh-CN" altLang="en-US" sz="2700" b="1" dirty="0">
                <a:solidFill>
                  <a:schemeClr val="tx1">
                    <a:lumMod val="75000"/>
                    <a:lumOff val="25000"/>
                  </a:schemeClr>
                </a:solidFill>
                <a:latin typeface="宋体" charset="0"/>
                <a:ea typeface="宋体" charset="0"/>
                <a:cs typeface="宋体" charset="0"/>
                <a:sym typeface="Arial" panose="020B0604020202090204" pitchFamily="34" charset="0"/>
              </a:rPr>
              <a:t>改进的A-star算法</a:t>
            </a:r>
            <a:endParaRPr lang="zh-CN" altLang="en-US" sz="2700" b="1" dirty="0">
              <a:solidFill>
                <a:schemeClr val="tx1">
                  <a:lumMod val="75000"/>
                  <a:lumOff val="25000"/>
                </a:schemeClr>
              </a:solidFill>
              <a:latin typeface="宋体" charset="0"/>
              <a:ea typeface="宋体" charset="0"/>
              <a:cs typeface="宋体" charset="0"/>
              <a:sym typeface="Arial" panose="020B0604020202090204" pitchFamily="34" charset="0"/>
            </a:endParaRPr>
          </a:p>
        </p:txBody>
      </p:sp>
      <p:sp>
        <p:nvSpPr>
          <p:cNvPr id="28" name="文本框 27"/>
          <p:cNvSpPr txBox="1"/>
          <p:nvPr/>
        </p:nvSpPr>
        <p:spPr>
          <a:xfrm>
            <a:off x="12486675" y="5180552"/>
            <a:ext cx="4340789" cy="922020"/>
          </a:xfrm>
          <a:prstGeom prst="rect">
            <a:avLst/>
          </a:prstGeom>
          <a:noFill/>
        </p:spPr>
        <p:txBody>
          <a:bodyPr wrap="square" rtlCol="0">
            <a:spAutoFit/>
          </a:bodyPr>
          <a:lstStyle/>
          <a:p>
            <a:pPr algn="ctr"/>
            <a:r>
              <a:rPr lang="zh-CN" altLang="en-US" sz="2700" b="1" dirty="0">
                <a:solidFill>
                  <a:schemeClr val="tx1">
                    <a:lumMod val="75000"/>
                    <a:lumOff val="25000"/>
                  </a:schemeClr>
                </a:solidFill>
                <a:latin typeface="宋体" charset="0"/>
                <a:ea typeface="宋体" charset="0"/>
                <a:cs typeface="+mn-ea"/>
                <a:sym typeface="Arial" panose="020B0604020202090204" pitchFamily="34" charset="0"/>
              </a:rPr>
              <a:t>火灾模拟与疏散仿真的有机结合</a:t>
            </a:r>
            <a:endParaRPr lang="zh-CN" altLang="en-US" sz="2700" b="1" dirty="0">
              <a:solidFill>
                <a:schemeClr val="tx1">
                  <a:lumMod val="75000"/>
                  <a:lumOff val="25000"/>
                </a:schemeClr>
              </a:solidFill>
              <a:latin typeface="宋体" charset="0"/>
              <a:ea typeface="宋体" charset="0"/>
              <a:cs typeface="+mn-ea"/>
              <a:sym typeface="Arial" panose="020B0604020202090204" pitchFamily="34" charset="0"/>
            </a:endParaRPr>
          </a:p>
        </p:txBody>
      </p:sp>
      <p:sp>
        <p:nvSpPr>
          <p:cNvPr id="30" name="矩形 29"/>
          <p:cNvSpPr/>
          <p:nvPr/>
        </p:nvSpPr>
        <p:spPr>
          <a:xfrm>
            <a:off x="1677786" y="5980025"/>
            <a:ext cx="3835285" cy="3322955"/>
          </a:xfrm>
          <a:prstGeom prst="rect">
            <a:avLst/>
          </a:prstGeom>
        </p:spPr>
        <p:txBody>
          <a:bodyPr wrap="square">
            <a:spAutoFit/>
          </a:bodyPr>
          <a:lstStyle/>
          <a:p>
            <a:pPr lvl="0" algn="just">
              <a:lnSpc>
                <a:spcPct val="100000"/>
              </a:lnSpc>
              <a:spcBef>
                <a:spcPts val="0"/>
              </a:spcBef>
              <a:spcAft>
                <a:spcPts val="0"/>
              </a:spcAft>
              <a:defRPr/>
            </a:pPr>
            <a:r>
              <a:rPr lang="zh-CN" altLang="en-US" sz="2100" kern="0" dirty="0">
                <a:solidFill>
                  <a:schemeClr val="tx1">
                    <a:lumMod val="85000"/>
                    <a:lumOff val="15000"/>
                  </a:schemeClr>
                </a:solidFill>
                <a:latin typeface="宋体" charset="0"/>
                <a:ea typeface="宋体" charset="0"/>
                <a:cs typeface="宋体" charset="0"/>
                <a:sym typeface="Arial" panose="020B0604020202090204" pitchFamily="34" charset="0"/>
              </a:rPr>
              <a:t>本研究将火灾环境中烟气、温度、能见度、CO浓度等风险参数引入路径规划算法中，并将其与路径代价函数进行耦合，使模型不仅能识别距离最短的路径，还能规避风险水平较高的区域。弥补了多数疏散路径规划算法主要基于几何距离或静态权重，无法反映真实环境的不足。</a:t>
            </a:r>
            <a:endParaRPr lang="zh-CN" altLang="en-US" sz="2100" kern="0" dirty="0">
              <a:solidFill>
                <a:schemeClr val="tx1">
                  <a:lumMod val="85000"/>
                  <a:lumOff val="15000"/>
                </a:schemeClr>
              </a:solidFill>
              <a:latin typeface="宋体" charset="0"/>
              <a:ea typeface="宋体" charset="0"/>
              <a:cs typeface="宋体" charset="0"/>
              <a:sym typeface="Arial" panose="020B0604020202090204" pitchFamily="34" charset="0"/>
            </a:endParaRPr>
          </a:p>
        </p:txBody>
      </p:sp>
      <p:sp>
        <p:nvSpPr>
          <p:cNvPr id="31" name="矩形 30"/>
          <p:cNvSpPr/>
          <p:nvPr/>
        </p:nvSpPr>
        <p:spPr>
          <a:xfrm>
            <a:off x="7226357" y="6086070"/>
            <a:ext cx="3835285" cy="2999740"/>
          </a:xfrm>
          <a:prstGeom prst="rect">
            <a:avLst/>
          </a:prstGeom>
        </p:spPr>
        <p:txBody>
          <a:bodyPr wrap="square">
            <a:spAutoFit/>
          </a:bodyPr>
          <a:lstStyle/>
          <a:p>
            <a:pPr lvl="0" algn="just">
              <a:lnSpc>
                <a:spcPct val="100000"/>
              </a:lnSpc>
              <a:spcBef>
                <a:spcPts val="0"/>
              </a:spcBef>
              <a:spcAft>
                <a:spcPts val="0"/>
              </a:spcAft>
              <a:buClrTx/>
              <a:buSzTx/>
              <a:buFontTx/>
              <a:defRPr/>
            </a:pPr>
            <a:r>
              <a:rPr lang="zh-CN" altLang="en-US" sz="2100" kern="0" dirty="0">
                <a:solidFill>
                  <a:schemeClr val="tx1">
                    <a:lumMod val="85000"/>
                    <a:lumOff val="15000"/>
                  </a:schemeClr>
                </a:solidFill>
                <a:latin typeface="宋体" charset="0"/>
                <a:ea typeface="宋体" charset="0"/>
                <a:cs typeface="宋体" charset="0"/>
                <a:sym typeface="Arial" panose="020B0604020202090204" pitchFamily="34" charset="0"/>
              </a:rPr>
              <a:t>针对经典A-star算法只能在静态环境中进行一次性求解的问题，本研究提出了基于动态更新机制的改进算法。在优化评价函数时，不仅引入火灾风险权重因子，还增加了时间维度的更新策略。该方法突破了静态算法的局限，显著提高了疏散路径的适应性和实时性</a:t>
            </a:r>
            <a:endParaRPr lang="zh-CN" altLang="en-US" sz="2100" kern="0" dirty="0">
              <a:solidFill>
                <a:schemeClr val="tx1">
                  <a:lumMod val="85000"/>
                  <a:lumOff val="15000"/>
                </a:schemeClr>
              </a:solidFill>
              <a:latin typeface="宋体" charset="0"/>
              <a:ea typeface="宋体" charset="0"/>
              <a:cs typeface="宋体" charset="0"/>
              <a:sym typeface="Arial" panose="020B0604020202090204" pitchFamily="34" charset="0"/>
            </a:endParaRPr>
          </a:p>
        </p:txBody>
      </p:sp>
      <p:sp>
        <p:nvSpPr>
          <p:cNvPr id="32" name="矩形 31"/>
          <p:cNvSpPr/>
          <p:nvPr/>
        </p:nvSpPr>
        <p:spPr>
          <a:xfrm>
            <a:off x="12739425" y="6086070"/>
            <a:ext cx="3835285" cy="2676525"/>
          </a:xfrm>
          <a:prstGeom prst="rect">
            <a:avLst/>
          </a:prstGeom>
        </p:spPr>
        <p:txBody>
          <a:bodyPr wrap="square">
            <a:spAutoFit/>
          </a:bodyPr>
          <a:lstStyle/>
          <a:p>
            <a:pPr lvl="0" algn="just">
              <a:lnSpc>
                <a:spcPct val="100000"/>
              </a:lnSpc>
              <a:spcBef>
                <a:spcPts val="0"/>
              </a:spcBef>
              <a:spcAft>
                <a:spcPts val="0"/>
              </a:spcAft>
              <a:buClrTx/>
              <a:buSzTx/>
              <a:buFontTx/>
              <a:defRPr/>
            </a:pPr>
            <a:r>
              <a:rPr lang="zh-CN" altLang="en-US" sz="2100" kern="0" dirty="0">
                <a:solidFill>
                  <a:schemeClr val="tx1">
                    <a:lumMod val="85000"/>
                    <a:lumOff val="15000"/>
                  </a:schemeClr>
                </a:solidFill>
                <a:latin typeface="宋体" charset="0"/>
                <a:ea typeface="宋体" charset="0"/>
                <a:cs typeface="宋体" charset="0"/>
                <a:sym typeface="Arial" panose="020B0604020202090204" pitchFamily="34" charset="0"/>
              </a:rPr>
              <a:t>以往研究往往将火灾模拟和人员疏散仿真分开进行，缺乏数据与模型之间的有效耦合。本研究将Pyrosim火灾模拟结果直接输入到Anylogic疏散仿真模型中，形成“火灾环境—路径规划—疏散结果”的完整研究链路。</a:t>
            </a:r>
            <a:endParaRPr lang="zh-CN" altLang="en-US" sz="2100" kern="0" dirty="0">
              <a:solidFill>
                <a:schemeClr val="tx1">
                  <a:lumMod val="85000"/>
                  <a:lumOff val="15000"/>
                </a:schemeClr>
              </a:solidFill>
              <a:latin typeface="宋体" charset="0"/>
              <a:ea typeface="宋体" charset="0"/>
              <a:cs typeface="宋体" charset="0"/>
              <a:sym typeface="Arial" panose="020B0604020202090204" pitchFamily="34" charset="0"/>
            </a:endParaRPr>
          </a:p>
        </p:txBody>
      </p:sp>
    </p:spTree>
  </p:cSld>
  <p:clrMapOvr>
    <a:masterClrMapping/>
  </p:clrMapOvr>
  <p:transition advTm="12080"/>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2317736" y="2910812"/>
            <a:ext cx="3673568" cy="922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150" normalizeH="0" baseline="0" noProof="0" dirty="0">
                <a:ln>
                  <a:noFill/>
                </a:ln>
                <a:solidFill>
                  <a:srgbClr val="595959"/>
                </a:solidFill>
                <a:effectLst/>
                <a:uLnTx/>
                <a:uFillTx/>
                <a:latin typeface="Arial" panose="020B0604020202090204" pitchFamily="34" charset="0"/>
                <a:ea typeface="微软雅黑" charset="-122"/>
                <a:cs typeface="+mn-ea"/>
                <a:sym typeface="Arial" panose="020B0604020202090204" pitchFamily="34" charset="0"/>
              </a:rPr>
              <a:t>PART 03</a:t>
            </a:r>
            <a:endParaRPr kumimoji="0" lang="zh-CN" altLang="en-US" sz="5400" b="0" i="0" u="none" strike="noStrike" kern="1200" cap="none" spc="150" normalizeH="0" baseline="0" noProof="0" dirty="0">
              <a:ln>
                <a:noFill/>
              </a:ln>
              <a:solidFill>
                <a:srgbClr val="595959"/>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24" name="文本框 23"/>
          <p:cNvSpPr txBox="1"/>
          <p:nvPr/>
        </p:nvSpPr>
        <p:spPr>
          <a:xfrm>
            <a:off x="2272665" y="4442460"/>
            <a:ext cx="9940290" cy="1337945"/>
          </a:xfrm>
          <a:prstGeom prst="rect">
            <a:avLst/>
          </a:prstGeom>
          <a:noFill/>
        </p:spPr>
        <p:txBody>
          <a:bodyPr wrap="square" rtlCol="0">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8100" b="1" i="0" u="none" strike="noStrike" kern="1200" cap="none" spc="300" normalizeH="0" baseline="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rPr>
              <a:t>研究方法与技术</a:t>
            </a:r>
            <a:r>
              <a:rPr kumimoji="0" lang="zh-CN" altLang="en-US" sz="8100" b="1" i="0" u="none" strike="noStrike" kern="1200" cap="none" spc="300" normalizeH="0" baseline="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rPr>
              <a:t>路线</a:t>
            </a:r>
            <a:endParaRPr kumimoji="0" lang="zh-CN" altLang="en-US" sz="8100" b="1" i="0" u="none" strike="noStrike" kern="1200" cap="none" spc="300" normalizeH="0" baseline="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70" name="矩形 69"/>
          <p:cNvSpPr/>
          <p:nvPr/>
        </p:nvSpPr>
        <p:spPr>
          <a:xfrm>
            <a:off x="2450009" y="4169864"/>
            <a:ext cx="997917" cy="68580"/>
          </a:xfrm>
          <a:prstGeom prst="rect">
            <a:avLst/>
          </a:prstGeom>
          <a:solidFill>
            <a:srgbClr val="861B11"/>
          </a:solidFill>
          <a:ln>
            <a:noFill/>
          </a:ln>
        </p:spPr>
        <p:txBody>
          <a:bodyPr vert="horz" wrap="square" lIns="137160" tIns="68580" rIns="137160" bIns="68580" numCol="1" anchor="t" anchorCtr="0" compatLnSpc="1"/>
          <a:lstStyle/>
          <a:p>
            <a:endParaRPr lang="zh-CN" altLang="en-US" sz="2700">
              <a:solidFill>
                <a:srgbClr val="FF0000"/>
              </a:solidFill>
              <a:latin typeface="Arial" panose="020B0604020202090204" pitchFamily="34" charset="0"/>
              <a:ea typeface="微软雅黑" charset="-122"/>
              <a:cs typeface="+mn-ea"/>
              <a:sym typeface="Arial" panose="020B0604020202090204" pitchFamily="34" charset="0"/>
            </a:endParaRPr>
          </a:p>
        </p:txBody>
      </p:sp>
      <p:sp>
        <p:nvSpPr>
          <p:cNvPr id="72" name="矩形 71"/>
          <p:cNvSpPr/>
          <p:nvPr/>
        </p:nvSpPr>
        <p:spPr>
          <a:xfrm>
            <a:off x="2272665" y="5866130"/>
            <a:ext cx="10861040" cy="737235"/>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rPr>
              <a:t>Methodology and </a:t>
            </a:r>
            <a:r>
              <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rPr>
              <a:t>technical roadmap</a:t>
            </a:r>
            <a:endPar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endParaRPr>
          </a:p>
        </p:txBody>
      </p:sp>
      <p:pic>
        <p:nvPicPr>
          <p:cNvPr id="2" name="图片 1"/>
          <p:cNvPicPr>
            <a:picLocks noChangeAspect="1"/>
          </p:cNvPicPr>
          <p:nvPr>
            <p:custDataLst>
              <p:tags r:id="rId1"/>
            </p:custDataLst>
          </p:nvPr>
        </p:nvPicPr>
        <p:blipFill>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14984145" y="-495207"/>
            <a:ext cx="2618234" cy="2618816"/>
          </a:xfrm>
          <a:prstGeom prst="rect">
            <a:avLst/>
          </a:prstGeom>
        </p:spPr>
      </p:pic>
      <p:sp>
        <p:nvSpPr>
          <p:cNvPr id="4" name="Freeform 5"/>
          <p:cNvSpPr/>
          <p:nvPr>
            <p:custDataLst>
              <p:tags r:id="rId4"/>
            </p:custDataLst>
          </p:nvPr>
        </p:nvSpPr>
        <p:spPr>
          <a:xfrm rot="862994">
            <a:off x="-8112194" y="7634155"/>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5">
              <a:alphaModFix amt="19999"/>
              <a:duotone>
                <a:schemeClr val="accent2">
                  <a:shade val="45000"/>
                  <a:satMod val="135000"/>
                </a:schemeClr>
                <a:prstClr val="white"/>
              </a:duotone>
            </a:blip>
            <a:stretch>
              <a:fillRect/>
            </a:stretch>
          </a:blipFill>
          <a:ln cap="sq">
            <a:noFill/>
            <a:prstDash val="solid"/>
            <a:miter/>
          </a:ln>
        </p:spPr>
        <p:txBody>
          <a:bodyPr/>
          <a:p>
            <a:endParaRPr lang="zh-CN" altLang="en-US"/>
          </a:p>
        </p:txBody>
      </p:sp>
      <p:sp>
        <p:nvSpPr>
          <p:cNvPr id="5" name="Freeform 4"/>
          <p:cNvSpPr/>
          <p:nvPr>
            <p:custDataLst>
              <p:tags r:id="rId6"/>
            </p:custDataLst>
          </p:nvPr>
        </p:nvSpPr>
        <p:spPr>
          <a:xfrm rot="-1204851" flipV="1">
            <a:off x="5745427" y="8194128"/>
            <a:ext cx="13996660" cy="4723021"/>
          </a:xfrm>
          <a:custGeom>
            <a:avLst/>
            <a:gdLst/>
            <a:ahLst/>
            <a:cxnLst/>
            <a:rect l="l" t="t" r="r" b="b"/>
            <a:pathLst>
              <a:path w="13996660" h="4723021">
                <a:moveTo>
                  <a:pt x="0" y="4723021"/>
                </a:moveTo>
                <a:lnTo>
                  <a:pt x="13996660" y="4723021"/>
                </a:lnTo>
                <a:lnTo>
                  <a:pt x="13996660" y="0"/>
                </a:lnTo>
                <a:lnTo>
                  <a:pt x="0" y="0"/>
                </a:lnTo>
                <a:lnTo>
                  <a:pt x="0" y="4723021"/>
                </a:lnTo>
                <a:close/>
              </a:path>
            </a:pathLst>
          </a:custGeom>
          <a:blipFill>
            <a:blip r:embed="rId5">
              <a:alphaModFix amt="18000"/>
              <a:duotone>
                <a:schemeClr val="accent2">
                  <a:shade val="45000"/>
                  <a:satMod val="135000"/>
                </a:schemeClr>
                <a:prstClr val="white"/>
              </a:duotone>
            </a:blip>
            <a:stretch>
              <a:fillRect r="-24401"/>
            </a:stretch>
          </a:blipFill>
          <a:ln cap="sq">
            <a:noFill/>
            <a:prstDash val="solid"/>
            <a:miter/>
          </a:ln>
        </p:spPr>
        <p:txBody>
          <a:bodyPr/>
          <a:p>
            <a:endParaRPr lang="zh-CN" altLang="en-US"/>
          </a:p>
        </p:txBody>
      </p:sp>
    </p:spTree>
  </p:cSld>
  <p:clrMapOvr>
    <a:masterClrMapping/>
  </p:clrMapOvr>
  <p:transition advTm="3726"/>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9"/>
          <p:cNvSpPr>
            <a:spLocks noGrp="1"/>
          </p:cNvSpPr>
          <p:nvPr>
            <p:ph type="sldNum" sz="quarter" idx="4"/>
          </p:nvPr>
        </p:nvSpPr>
        <p:spPr/>
        <p:txBody>
          <a:bodyPr/>
          <a:lstStyle/>
          <a:p>
            <a:r>
              <a:rPr lang="en-US" altLang="zh-CN" sz="2700">
                <a:sym typeface="Arial" panose="020B0604020202090204" pitchFamily="34" charset="0"/>
              </a:rPr>
              <a:t>&lt; </a:t>
            </a:r>
            <a:fld id="{A548B57D-AE10-4CF7-A9DF-59FEFA91B28E}" type="slidenum">
              <a:rPr lang="zh-CN" altLang="en-US" sz="2700" smtClean="0">
                <a:sym typeface="Arial" panose="020B0604020202090204" pitchFamily="34" charset="0"/>
              </a:rPr>
            </a:fld>
            <a:r>
              <a:rPr lang="zh-CN" altLang="en-US" sz="2700">
                <a:sym typeface="Arial" panose="020B0604020202090204" pitchFamily="34" charset="0"/>
              </a:rPr>
              <a:t> </a:t>
            </a:r>
            <a:r>
              <a:rPr lang="en-US" altLang="zh-CN" sz="2700">
                <a:sym typeface="Arial" panose="020B0604020202090204" pitchFamily="34" charset="0"/>
              </a:rPr>
              <a:t>&gt;</a:t>
            </a:r>
            <a:endParaRPr lang="zh-CN" altLang="en-US" sz="2700" dirty="0">
              <a:sym typeface="Arial" panose="020B0604020202090204" pitchFamily="34" charset="0"/>
            </a:endParaRPr>
          </a:p>
        </p:txBody>
      </p:sp>
      <p:sp>
        <p:nvSpPr>
          <p:cNvPr id="6" name="标题 5"/>
          <p:cNvSpPr>
            <a:spLocks noGrp="1"/>
          </p:cNvSpPr>
          <p:nvPr>
            <p:ph type="title"/>
          </p:nvPr>
        </p:nvSpPr>
        <p:spPr/>
        <p:txBody>
          <a:bodyPr/>
          <a:lstStyle/>
          <a:p>
            <a:r>
              <a:rPr lang="en-US" altLang="zh-CN">
                <a:sym typeface="Arial" panose="020B0604020202090204" pitchFamily="34" charset="0"/>
              </a:rPr>
              <a:t>3.1 </a:t>
            </a:r>
            <a:r>
              <a:rPr>
                <a:sym typeface="Arial" panose="020B0604020202090204" pitchFamily="34" charset="0"/>
              </a:rPr>
              <a:t>研究</a:t>
            </a:r>
            <a:r>
              <a:rPr>
                <a:sym typeface="Arial" panose="020B0604020202090204" pitchFamily="34" charset="0"/>
              </a:rPr>
              <a:t>方法</a:t>
            </a:r>
            <a:endParaRPr>
              <a:sym typeface="Arial" panose="020B0604020202090204" pitchFamily="34" charset="0"/>
            </a:endParaRPr>
          </a:p>
        </p:txBody>
      </p:sp>
      <p:sp>
        <p:nvSpPr>
          <p:cNvPr id="12" name="Freeform 10"/>
          <p:cNvSpPr/>
          <p:nvPr>
            <p:custDataLst>
              <p:tags r:id="rId1"/>
            </p:custDataLst>
          </p:nvPr>
        </p:nvSpPr>
        <p:spPr>
          <a:xfrm>
            <a:off x="5981406" y="2857500"/>
            <a:ext cx="6391927" cy="4642137"/>
          </a:xfrm>
          <a:custGeom>
            <a:avLst/>
            <a:gdLst/>
            <a:ahLst/>
            <a:cxnLst/>
            <a:rect l="l" t="t" r="r" b="b"/>
            <a:pathLst>
              <a:path w="6391927" h="4642137">
                <a:moveTo>
                  <a:pt x="0" y="0"/>
                </a:moveTo>
                <a:lnTo>
                  <a:pt x="6391928" y="0"/>
                </a:lnTo>
                <a:lnTo>
                  <a:pt x="6391928" y="4642137"/>
                </a:lnTo>
                <a:lnTo>
                  <a:pt x="0" y="4642137"/>
                </a:lnTo>
                <a:lnTo>
                  <a:pt x="0" y="0"/>
                </a:lnTo>
                <a:close/>
              </a:path>
            </a:pathLst>
          </a:custGeom>
          <a:blipFill>
            <a:blip r:embed="rId2">
              <a:duotone>
                <a:schemeClr val="accent2">
                  <a:shade val="45000"/>
                  <a:satMod val="135000"/>
                </a:schemeClr>
                <a:prstClr val="white"/>
              </a:duotone>
            </a:blip>
            <a:stretch>
              <a:fillRect/>
            </a:stretch>
          </a:blipFill>
        </p:spPr>
        <p:txBody>
          <a:bodyPr/>
          <a:p>
            <a:endParaRPr lang="zh-CN" altLang="en-US"/>
          </a:p>
        </p:txBody>
      </p:sp>
      <p:sp>
        <p:nvSpPr>
          <p:cNvPr id="14" name="Freeform 11"/>
          <p:cNvSpPr/>
          <p:nvPr>
            <p:custDataLst>
              <p:tags r:id="rId3"/>
            </p:custDataLst>
          </p:nvPr>
        </p:nvSpPr>
        <p:spPr>
          <a:xfrm rot="7308462">
            <a:off x="6253565" y="2857359"/>
            <a:ext cx="6391927" cy="4642137"/>
          </a:xfrm>
          <a:custGeom>
            <a:avLst/>
            <a:gdLst/>
            <a:ahLst/>
            <a:cxnLst/>
            <a:rect l="l" t="t" r="r" b="b"/>
            <a:pathLst>
              <a:path w="6391927" h="4642137">
                <a:moveTo>
                  <a:pt x="0" y="0"/>
                </a:moveTo>
                <a:lnTo>
                  <a:pt x="6391927" y="0"/>
                </a:lnTo>
                <a:lnTo>
                  <a:pt x="6391927" y="4642137"/>
                </a:lnTo>
                <a:lnTo>
                  <a:pt x="0" y="4642137"/>
                </a:lnTo>
                <a:lnTo>
                  <a:pt x="0" y="0"/>
                </a:lnTo>
                <a:close/>
              </a:path>
            </a:pathLst>
          </a:custGeom>
          <a:blipFill>
            <a:blip r:embed="rId4">
              <a:duotone>
                <a:schemeClr val="accent2">
                  <a:shade val="45000"/>
                  <a:satMod val="135000"/>
                </a:schemeClr>
                <a:prstClr val="white"/>
              </a:duotone>
              <a:extLst>
                <a:ext uri="{BEBA8EAE-BF5A-486C-A8C5-ECC9F3942E4B}">
                  <a14:imgProps xmlns:a14="http://schemas.microsoft.com/office/drawing/2010/main">
                    <a14:imgLayer r:embed="rId5">
                      <a14:imgEffect>
                        <a14:colorTemperature colorTemp="6568"/>
                      </a14:imgEffect>
                      <a14:imgEffect>
                        <a14:saturation sat="400000"/>
                      </a14:imgEffect>
                    </a14:imgLayer>
                  </a14:imgProps>
                </a:ext>
              </a:extLst>
            </a:blip>
            <a:stretch>
              <a:fillRect/>
            </a:stretch>
          </a:blipFill>
        </p:spPr>
        <p:txBody>
          <a:bodyPr/>
          <a:p>
            <a:endParaRPr lang="zh-CN" altLang="en-US" dirty="0">
              <a:solidFill>
                <a:srgbClr val="789AD2"/>
              </a:solidFill>
            </a:endParaRPr>
          </a:p>
        </p:txBody>
      </p:sp>
      <p:sp>
        <p:nvSpPr>
          <p:cNvPr id="22" name="Freeform 22"/>
          <p:cNvSpPr/>
          <p:nvPr>
            <p:custDataLst>
              <p:tags r:id="rId6"/>
            </p:custDataLst>
          </p:nvPr>
        </p:nvSpPr>
        <p:spPr>
          <a:xfrm>
            <a:off x="1236666" y="2159910"/>
            <a:ext cx="534927" cy="518879"/>
          </a:xfrm>
          <a:custGeom>
            <a:avLst/>
            <a:gdLst/>
            <a:ahLst/>
            <a:cxnLst/>
            <a:rect l="l" t="t" r="r" b="b"/>
            <a:pathLst>
              <a:path w="534927" h="518879">
                <a:moveTo>
                  <a:pt x="0" y="0"/>
                </a:moveTo>
                <a:lnTo>
                  <a:pt x="534927" y="0"/>
                </a:lnTo>
                <a:lnTo>
                  <a:pt x="534927" y="518880"/>
                </a:lnTo>
                <a:lnTo>
                  <a:pt x="0" y="5188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p>
            <a:endParaRPr lang="zh-CN" altLang="en-US"/>
          </a:p>
        </p:txBody>
      </p:sp>
      <p:sp>
        <p:nvSpPr>
          <p:cNvPr id="23" name="TextBox 23"/>
          <p:cNvSpPr txBox="1"/>
          <p:nvPr>
            <p:custDataLst>
              <p:tags r:id="rId9"/>
            </p:custDataLst>
          </p:nvPr>
        </p:nvSpPr>
        <p:spPr>
          <a:xfrm>
            <a:off x="1866265" y="2178050"/>
            <a:ext cx="4114800" cy="559435"/>
          </a:xfrm>
          <a:prstGeom prst="rect">
            <a:avLst/>
          </a:prstGeom>
        </p:spPr>
        <p:txBody>
          <a:bodyPr lIns="0" tIns="0" rIns="0" bIns="0" rtlCol="0" anchor="t">
            <a:noAutofit/>
          </a:bodyPr>
          <a:p>
            <a:pPr algn="ctr">
              <a:lnSpc>
                <a:spcPts val="3640"/>
              </a:lnSpc>
            </a:pPr>
            <a:r>
              <a:rPr lang="zh-CN" altLang="en-US" sz="2600" b="1" dirty="0">
                <a:solidFill>
                  <a:srgbClr val="000000"/>
                </a:solidFill>
                <a:latin typeface="思源宋体-超粗体" panose="02010600030101010101" charset="-122"/>
                <a:ea typeface="思源宋体-超粗体" panose="02010600030101010101" charset="-122"/>
                <a:cs typeface="思源黑体 2 Bold"/>
                <a:sym typeface="思源黑体 2 Bold"/>
              </a:rPr>
              <a:t>基于图论的网络建模法</a:t>
            </a:r>
            <a:endParaRPr lang="zh-CN" altLang="en-US" sz="2600" b="1" dirty="0">
              <a:solidFill>
                <a:srgbClr val="000000"/>
              </a:solidFill>
              <a:latin typeface="思源宋体-超粗体" panose="02010600030101010101" charset="-122"/>
              <a:ea typeface="思源宋体-超粗体" panose="02010600030101010101" charset="-122"/>
              <a:cs typeface="思源黑体 2 Bold"/>
              <a:sym typeface="思源黑体 2 Bold"/>
            </a:endParaRPr>
          </a:p>
        </p:txBody>
      </p:sp>
      <p:sp>
        <p:nvSpPr>
          <p:cNvPr id="24" name="TextBox 24"/>
          <p:cNvSpPr txBox="1"/>
          <p:nvPr>
            <p:custDataLst>
              <p:tags r:id="rId10"/>
            </p:custDataLst>
          </p:nvPr>
        </p:nvSpPr>
        <p:spPr>
          <a:xfrm>
            <a:off x="1029335" y="2889250"/>
            <a:ext cx="4872355" cy="2342515"/>
          </a:xfrm>
          <a:prstGeom prst="rect">
            <a:avLst/>
          </a:prstGeom>
        </p:spPr>
        <p:txBody>
          <a:bodyPr wrap="square" lIns="0" tIns="0" rIns="0" bIns="0" rtlCol="0" anchor="t">
            <a:noAutofit/>
          </a:bodyPr>
          <a:p>
            <a:pPr marL="215900" lvl="1" indent="0" algn="l">
              <a:lnSpc>
                <a:spcPts val="3000"/>
              </a:lnSpc>
              <a:buFont typeface="Arial" panose="020B0604020202090204"/>
              <a:buNone/>
            </a:pPr>
            <a:r>
              <a:rPr lang="en-US" sz="2000" dirty="0">
                <a:solidFill>
                  <a:srgbClr val="000000"/>
                </a:solidFill>
                <a:latin typeface="思源宋体 2"/>
                <a:ea typeface="思源宋体 2"/>
                <a:cs typeface="思源宋体 2"/>
                <a:sym typeface="思源宋体 2"/>
              </a:rPr>
              <a:t>在目标地铁站的建筑平面图、结构布局及功能分区等信息基础上，依据图论理论，</a:t>
            </a:r>
            <a:r>
              <a:rPr lang="zh-CN" altLang="en-US" sz="2000" dirty="0">
                <a:solidFill>
                  <a:srgbClr val="000000"/>
                </a:solidFill>
                <a:latin typeface="思源宋体 2"/>
                <a:ea typeface="思源宋体 2"/>
                <a:cs typeface="思源宋体 2"/>
                <a:sym typeface="思源宋体 2"/>
              </a:rPr>
              <a:t>将</a:t>
            </a:r>
            <a:r>
              <a:rPr lang="en-US" sz="2000" dirty="0">
                <a:solidFill>
                  <a:srgbClr val="000000"/>
                </a:solidFill>
                <a:latin typeface="思源宋体 2"/>
                <a:ea typeface="思源宋体 2"/>
                <a:cs typeface="思源宋体 2"/>
                <a:sym typeface="思源宋体 2"/>
              </a:rPr>
              <a:t>关键位置抽象为网络节点，将节点之间的通行通道抽象为连边。进一步构建邻接矩阵、连边距离矩阵和通行能力矩阵，形成完整的疏散网络模型。</a:t>
            </a:r>
            <a:endParaRPr lang="en-US" sz="2000" dirty="0">
              <a:solidFill>
                <a:srgbClr val="000000"/>
              </a:solidFill>
              <a:latin typeface="思源宋体 2"/>
              <a:ea typeface="思源宋体 2"/>
              <a:cs typeface="思源宋体 2"/>
              <a:sym typeface="思源宋体 2"/>
            </a:endParaRPr>
          </a:p>
        </p:txBody>
      </p:sp>
      <p:sp>
        <p:nvSpPr>
          <p:cNvPr id="25" name="TextBox 25"/>
          <p:cNvSpPr txBox="1"/>
          <p:nvPr>
            <p:custDataLst>
              <p:tags r:id="rId11"/>
            </p:custDataLst>
          </p:nvPr>
        </p:nvSpPr>
        <p:spPr>
          <a:xfrm>
            <a:off x="694858" y="6024732"/>
            <a:ext cx="5286548" cy="466725"/>
          </a:xfrm>
          <a:prstGeom prst="rect">
            <a:avLst/>
          </a:prstGeom>
        </p:spPr>
        <p:txBody>
          <a:bodyPr lIns="0" tIns="0" rIns="0" bIns="0" rtlCol="0" anchor="t">
            <a:spAutoFit/>
          </a:bodyPr>
          <a:p>
            <a:pPr algn="ctr">
              <a:lnSpc>
                <a:spcPts val="3640"/>
              </a:lnSpc>
            </a:pPr>
            <a:r>
              <a:rPr lang="zh-CN" altLang="en-US" sz="2600" b="1" dirty="0">
                <a:solidFill>
                  <a:srgbClr val="000000"/>
                </a:solidFill>
                <a:latin typeface="思源宋体-超粗体" panose="02010600030101010101" charset="-122"/>
                <a:ea typeface="思源宋体-超粗体" panose="02010600030101010101" charset="-122"/>
                <a:cs typeface="思源黑体 2 Bold"/>
                <a:sym typeface="思源黑体 2 Bold"/>
              </a:rPr>
              <a:t>图搜索方法</a:t>
            </a:r>
            <a:endParaRPr lang="zh-CN" altLang="en-US" sz="2600" b="1" dirty="0">
              <a:solidFill>
                <a:srgbClr val="000000"/>
              </a:solidFill>
              <a:latin typeface="思源宋体-超粗体" panose="02010600030101010101" charset="-122"/>
              <a:ea typeface="思源宋体-超粗体" panose="02010600030101010101" charset="-122"/>
              <a:cs typeface="思源黑体 2 Bold"/>
              <a:sym typeface="思源黑体 2 Bold"/>
            </a:endParaRPr>
          </a:p>
        </p:txBody>
      </p:sp>
      <p:sp>
        <p:nvSpPr>
          <p:cNvPr id="15" name="TextBox 26"/>
          <p:cNvSpPr txBox="1"/>
          <p:nvPr>
            <p:custDataLst>
              <p:tags r:id="rId12"/>
            </p:custDataLst>
          </p:nvPr>
        </p:nvSpPr>
        <p:spPr>
          <a:xfrm>
            <a:off x="940435" y="6737985"/>
            <a:ext cx="4954905" cy="2693035"/>
          </a:xfrm>
          <a:prstGeom prst="rect">
            <a:avLst/>
          </a:prstGeom>
        </p:spPr>
        <p:txBody>
          <a:bodyPr wrap="square" lIns="0" tIns="0" rIns="0" bIns="0" rtlCol="0" anchor="t">
            <a:spAutoFit/>
          </a:bodyPr>
          <a:p>
            <a:pPr marL="215900" lvl="1" indent="0" algn="just">
              <a:lnSpc>
                <a:spcPts val="3000"/>
              </a:lnSpc>
              <a:buFont typeface="Arial" panose="020B0604020202090204"/>
              <a:buNone/>
            </a:pPr>
            <a:r>
              <a:rPr lang="en-US" sz="2000" dirty="0">
                <a:solidFill>
                  <a:srgbClr val="000000"/>
                </a:solidFill>
                <a:latin typeface="思源宋体 2"/>
                <a:ea typeface="思源宋体 2"/>
                <a:cs typeface="思源宋体 2"/>
                <a:sym typeface="思源宋体 2"/>
              </a:rPr>
              <a:t>在路径优化阶段，本研究选择图搜索方法，在经典A-star算法的框架下引入火灾风险因子，通过对A-star算法的评价函数进行改进，使得算法在搜索过程中能够主动避开风险较高区域。同时，研究引入动态更新机制，算法实时调整搜索环境信息，实现动态路径规划。</a:t>
            </a:r>
            <a:endParaRPr lang="en-US" sz="2000" dirty="0">
              <a:solidFill>
                <a:srgbClr val="000000"/>
              </a:solidFill>
              <a:latin typeface="思源宋体 2"/>
              <a:ea typeface="思源宋体 2"/>
              <a:cs typeface="思源宋体 2"/>
              <a:sym typeface="思源宋体 2"/>
            </a:endParaRPr>
          </a:p>
        </p:txBody>
      </p:sp>
      <p:sp>
        <p:nvSpPr>
          <p:cNvPr id="16" name="Freeform 27"/>
          <p:cNvSpPr/>
          <p:nvPr>
            <p:custDataLst>
              <p:tags r:id="rId13"/>
            </p:custDataLst>
          </p:nvPr>
        </p:nvSpPr>
        <p:spPr>
          <a:xfrm>
            <a:off x="1253200" y="5954994"/>
            <a:ext cx="518394" cy="494418"/>
          </a:xfrm>
          <a:custGeom>
            <a:avLst/>
            <a:gdLst/>
            <a:ahLst/>
            <a:cxnLst/>
            <a:rect l="l" t="t" r="r" b="b"/>
            <a:pathLst>
              <a:path w="518394" h="494418">
                <a:moveTo>
                  <a:pt x="0" y="0"/>
                </a:moveTo>
                <a:lnTo>
                  <a:pt x="518393" y="0"/>
                </a:lnTo>
                <a:lnTo>
                  <a:pt x="518393" y="494418"/>
                </a:lnTo>
                <a:lnTo>
                  <a:pt x="0" y="49441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p>
            <a:endParaRPr lang="zh-CN" altLang="en-US"/>
          </a:p>
        </p:txBody>
      </p:sp>
      <p:sp>
        <p:nvSpPr>
          <p:cNvPr id="17" name="TextBox 28"/>
          <p:cNvSpPr txBox="1"/>
          <p:nvPr>
            <p:custDataLst>
              <p:tags r:id="rId16"/>
            </p:custDataLst>
          </p:nvPr>
        </p:nvSpPr>
        <p:spPr>
          <a:xfrm>
            <a:off x="13494385" y="2153285"/>
            <a:ext cx="4124960" cy="438150"/>
          </a:xfrm>
          <a:prstGeom prst="rect">
            <a:avLst/>
          </a:prstGeom>
        </p:spPr>
        <p:txBody>
          <a:bodyPr lIns="0" tIns="0" rIns="0" bIns="0" rtlCol="0" anchor="t">
            <a:noAutofit/>
          </a:bodyPr>
          <a:p>
            <a:pPr algn="ctr">
              <a:lnSpc>
                <a:spcPts val="3640"/>
              </a:lnSpc>
            </a:pPr>
            <a:r>
              <a:rPr lang="zh-CN" altLang="en-US" sz="2600" b="1" dirty="0">
                <a:solidFill>
                  <a:srgbClr val="000000"/>
                </a:solidFill>
                <a:latin typeface="思源宋体-超粗体" panose="02010600030101010101" charset="-122"/>
                <a:ea typeface="思源宋体-超粗体" panose="02010600030101010101" charset="-122"/>
                <a:cs typeface="思源黑体 2 Bold"/>
                <a:sym typeface="思源黑体 2 Bold"/>
              </a:rPr>
              <a:t>基于CFD的火灾场景仿真</a:t>
            </a:r>
            <a:endParaRPr lang="zh-CN" altLang="en-US" sz="2600" b="1" dirty="0">
              <a:solidFill>
                <a:srgbClr val="000000"/>
              </a:solidFill>
              <a:latin typeface="思源宋体-超粗体" panose="02010600030101010101" charset="-122"/>
              <a:ea typeface="思源宋体-超粗体" panose="02010600030101010101" charset="-122"/>
              <a:cs typeface="思源黑体 2 Bold"/>
              <a:sym typeface="思源黑体 2 Bold"/>
            </a:endParaRPr>
          </a:p>
        </p:txBody>
      </p:sp>
      <p:sp>
        <p:nvSpPr>
          <p:cNvPr id="18" name="TextBox 29"/>
          <p:cNvSpPr txBox="1"/>
          <p:nvPr>
            <p:custDataLst>
              <p:tags r:id="rId17"/>
            </p:custDataLst>
          </p:nvPr>
        </p:nvSpPr>
        <p:spPr>
          <a:xfrm>
            <a:off x="12602845" y="2942590"/>
            <a:ext cx="4954905" cy="2308225"/>
          </a:xfrm>
          <a:prstGeom prst="rect">
            <a:avLst/>
          </a:prstGeom>
        </p:spPr>
        <p:txBody>
          <a:bodyPr wrap="square" lIns="0" tIns="0" rIns="0" bIns="0" rtlCol="0" anchor="t">
            <a:spAutoFit/>
          </a:bodyPr>
          <a:p>
            <a:pPr marL="215900" lvl="1" indent="0" algn="l">
              <a:lnSpc>
                <a:spcPts val="3000"/>
              </a:lnSpc>
              <a:buFont typeface="Arial" panose="020B0604020202090204"/>
              <a:buNone/>
            </a:pPr>
            <a:r>
              <a:rPr lang="zh-CN" altLang="en-US" sz="2000" dirty="0">
                <a:solidFill>
                  <a:srgbClr val="000000"/>
                </a:solidFill>
                <a:latin typeface="思源宋体 2"/>
                <a:ea typeface="思源宋体 2"/>
                <a:cs typeface="思源宋体 2"/>
                <a:sym typeface="思源宋体 2"/>
              </a:rPr>
              <a:t>本</a:t>
            </a:r>
            <a:r>
              <a:rPr lang="en-US" sz="2000" dirty="0">
                <a:solidFill>
                  <a:srgbClr val="000000"/>
                </a:solidFill>
                <a:latin typeface="思源宋体 2"/>
                <a:ea typeface="思源宋体 2"/>
                <a:cs typeface="思源宋体 2"/>
                <a:sym typeface="思源宋体 2"/>
              </a:rPr>
              <a:t>研究基于计算流体动力学原理，使用Pyrosim对地铁站火灾进行模拟。模拟过程中设置典型火源条件，并考虑通风系统、空间布局对烟气和热量传输的影响。通过仿真获得关键指标的时空分布，并作为后续路径规划和仿真输入数据。</a:t>
            </a:r>
            <a:endParaRPr lang="en-US" sz="2000" dirty="0">
              <a:solidFill>
                <a:srgbClr val="000000"/>
              </a:solidFill>
              <a:latin typeface="思源宋体 2"/>
              <a:ea typeface="思源宋体 2"/>
              <a:cs typeface="思源宋体 2"/>
              <a:sym typeface="思源宋体 2"/>
            </a:endParaRPr>
          </a:p>
        </p:txBody>
      </p:sp>
      <p:sp>
        <p:nvSpPr>
          <p:cNvPr id="19" name="Freeform 30"/>
          <p:cNvSpPr/>
          <p:nvPr>
            <p:custDataLst>
              <p:tags r:id="rId18"/>
            </p:custDataLst>
          </p:nvPr>
        </p:nvSpPr>
        <p:spPr>
          <a:xfrm>
            <a:off x="12891125" y="2159910"/>
            <a:ext cx="518394" cy="494418"/>
          </a:xfrm>
          <a:custGeom>
            <a:avLst/>
            <a:gdLst/>
            <a:ahLst/>
            <a:cxnLst/>
            <a:rect l="l" t="t" r="r" b="b"/>
            <a:pathLst>
              <a:path w="518394" h="494418">
                <a:moveTo>
                  <a:pt x="0" y="0"/>
                </a:moveTo>
                <a:lnTo>
                  <a:pt x="518394" y="0"/>
                </a:lnTo>
                <a:lnTo>
                  <a:pt x="518394" y="494419"/>
                </a:lnTo>
                <a:lnTo>
                  <a:pt x="0" y="494419"/>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p>
            <a:endParaRPr lang="zh-CN" altLang="en-US"/>
          </a:p>
        </p:txBody>
      </p:sp>
      <p:sp>
        <p:nvSpPr>
          <p:cNvPr id="20" name="Freeform 31"/>
          <p:cNvSpPr/>
          <p:nvPr>
            <p:custDataLst>
              <p:tags r:id="rId19"/>
            </p:custDataLst>
          </p:nvPr>
        </p:nvSpPr>
        <p:spPr>
          <a:xfrm>
            <a:off x="12874592" y="5942764"/>
            <a:ext cx="534927" cy="518879"/>
          </a:xfrm>
          <a:custGeom>
            <a:avLst/>
            <a:gdLst/>
            <a:ahLst/>
            <a:cxnLst/>
            <a:rect l="l" t="t" r="r" b="b"/>
            <a:pathLst>
              <a:path w="534927" h="518879">
                <a:moveTo>
                  <a:pt x="0" y="0"/>
                </a:moveTo>
                <a:lnTo>
                  <a:pt x="534927" y="0"/>
                </a:lnTo>
                <a:lnTo>
                  <a:pt x="534927" y="518879"/>
                </a:lnTo>
                <a:lnTo>
                  <a:pt x="0" y="51887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p>
            <a:endParaRPr lang="zh-CN" altLang="en-US"/>
          </a:p>
        </p:txBody>
      </p:sp>
      <p:sp>
        <p:nvSpPr>
          <p:cNvPr id="21" name="TextBox 32"/>
          <p:cNvSpPr txBox="1"/>
          <p:nvPr>
            <p:custDataLst>
              <p:tags r:id="rId20"/>
            </p:custDataLst>
          </p:nvPr>
        </p:nvSpPr>
        <p:spPr>
          <a:xfrm>
            <a:off x="13265150" y="6024880"/>
            <a:ext cx="4354195" cy="410210"/>
          </a:xfrm>
          <a:prstGeom prst="rect">
            <a:avLst/>
          </a:prstGeom>
        </p:spPr>
        <p:txBody>
          <a:bodyPr wrap="square" lIns="0" tIns="0" rIns="0" bIns="0" rtlCol="0" anchor="t">
            <a:noAutofit/>
          </a:bodyPr>
          <a:p>
            <a:pPr algn="ctr">
              <a:lnSpc>
                <a:spcPts val="3640"/>
              </a:lnSpc>
            </a:pPr>
            <a:r>
              <a:rPr lang="zh-CN" altLang="en-US" sz="2600" b="1" dirty="0">
                <a:solidFill>
                  <a:srgbClr val="000000"/>
                </a:solidFill>
                <a:latin typeface="思源宋体-超粗体" panose="02010600030101010101" charset="-122"/>
                <a:ea typeface="思源宋体-超粗体" panose="02010600030101010101" charset="-122"/>
                <a:cs typeface="思源黑体 2 Bold"/>
                <a:sym typeface="思源黑体 2 Bold"/>
              </a:rPr>
              <a:t>基于多智能体的仿真建模</a:t>
            </a:r>
            <a:endParaRPr lang="zh-CN" altLang="en-US" sz="2600" b="1" dirty="0">
              <a:solidFill>
                <a:srgbClr val="000000"/>
              </a:solidFill>
              <a:latin typeface="思源宋体-超粗体" panose="02010600030101010101" charset="-122"/>
              <a:ea typeface="思源宋体-超粗体" panose="02010600030101010101" charset="-122"/>
              <a:cs typeface="思源黑体 2 Bold"/>
              <a:sym typeface="思源黑体 2 Bold"/>
            </a:endParaRPr>
          </a:p>
        </p:txBody>
      </p:sp>
      <p:sp>
        <p:nvSpPr>
          <p:cNvPr id="38" name="TextBox 33"/>
          <p:cNvSpPr txBox="1"/>
          <p:nvPr>
            <p:custDataLst>
              <p:tags r:id="rId21"/>
            </p:custDataLst>
          </p:nvPr>
        </p:nvSpPr>
        <p:spPr>
          <a:xfrm>
            <a:off x="12661900" y="6737985"/>
            <a:ext cx="4807585" cy="1923415"/>
          </a:xfrm>
          <a:prstGeom prst="rect">
            <a:avLst/>
          </a:prstGeom>
        </p:spPr>
        <p:txBody>
          <a:bodyPr wrap="square" lIns="0" tIns="0" rIns="0" bIns="0" rtlCol="0" anchor="t">
            <a:spAutoFit/>
          </a:bodyPr>
          <a:p>
            <a:pPr marL="215900" lvl="1" indent="0" algn="just">
              <a:lnSpc>
                <a:spcPts val="3000"/>
              </a:lnSpc>
              <a:buFont typeface="Arial" panose="020B0604020202090204"/>
              <a:buNone/>
            </a:pPr>
            <a:r>
              <a:rPr lang="en-US" sz="2000" dirty="0">
                <a:solidFill>
                  <a:srgbClr val="000000"/>
                </a:solidFill>
                <a:latin typeface="思源宋体 2"/>
                <a:ea typeface="思源宋体 2"/>
                <a:cs typeface="思源宋体 2"/>
                <a:sym typeface="思源宋体 2"/>
              </a:rPr>
              <a:t>本文设计多种疏散情景，</a:t>
            </a:r>
            <a:r>
              <a:rPr lang="zh-CN" altLang="en-US" sz="2000" dirty="0">
                <a:solidFill>
                  <a:srgbClr val="000000"/>
                </a:solidFill>
                <a:latin typeface="思源宋体 2"/>
                <a:ea typeface="思源宋体 2"/>
                <a:cs typeface="思源宋体 2"/>
                <a:sym typeface="思源宋体 2"/>
              </a:rPr>
              <a:t>使用</a:t>
            </a:r>
            <a:r>
              <a:rPr lang="en-US" sz="2000" dirty="0">
                <a:solidFill>
                  <a:srgbClr val="000000"/>
                </a:solidFill>
                <a:latin typeface="思源宋体 2"/>
                <a:ea typeface="思源宋体 2"/>
                <a:cs typeface="思源宋体 2"/>
                <a:sym typeface="思源宋体 2"/>
              </a:rPr>
              <a:t>Anylogic</a:t>
            </a:r>
            <a:r>
              <a:rPr lang="en-US" sz="2000" dirty="0">
                <a:solidFill>
                  <a:srgbClr val="000000"/>
                </a:solidFill>
                <a:latin typeface="思源宋体 2"/>
                <a:ea typeface="思源宋体 2"/>
                <a:cs typeface="思源宋体 2"/>
                <a:sym typeface="思源宋体 2"/>
              </a:rPr>
              <a:t>模拟人员在不同条件下的疏散路径选择和疏散效率。通过对比分析不同情景下的疏散时间、人员密度变化及疏散路径分布，全面评估所提改进算法的合理性与有效性。</a:t>
            </a:r>
            <a:endParaRPr lang="en-US" sz="2000" dirty="0">
              <a:solidFill>
                <a:srgbClr val="000000"/>
              </a:solidFill>
              <a:latin typeface="思源宋体 2"/>
              <a:ea typeface="思源宋体 2"/>
              <a:cs typeface="思源宋体 2"/>
              <a:sym typeface="思源宋体 2"/>
            </a:endParaRPr>
          </a:p>
        </p:txBody>
      </p:sp>
      <p:pic>
        <p:nvPicPr>
          <p:cNvPr id="48" name="图片 47"/>
          <p:cNvPicPr>
            <a:picLocks noChangeAspect="1"/>
          </p:cNvPicPr>
          <p:nvPr>
            <p:custDataLst>
              <p:tags r:id="rId22"/>
            </p:custDataLst>
          </p:nvPr>
        </p:nvPicPr>
        <p:blipFill>
          <a:blip r:embed="rId23" cstate="print">
            <a:extLst>
              <a:ext uri="{28A0092B-C50C-407E-A947-70E740481C1C}">
                <a14:useLocalDpi xmlns:a14="http://schemas.microsoft.com/office/drawing/2010/main" val="0"/>
              </a:ext>
            </a:extLst>
          </a:blip>
          <a:srcRect l="8181" r="50753"/>
          <a:stretch>
            <a:fillRect/>
          </a:stretch>
        </p:blipFill>
        <p:spPr>
          <a:xfrm>
            <a:off x="7590093" y="2019300"/>
            <a:ext cx="3656715" cy="5914058"/>
          </a:xfrm>
          <a:prstGeom prst="roundRect">
            <a:avLst>
              <a:gd name="adj" fmla="val 50000"/>
            </a:avLst>
          </a:prstGeom>
          <a:ln w="28575">
            <a:solidFill>
              <a:srgbClr val="861B11"/>
            </a:solidFill>
          </a:ln>
        </p:spPr>
      </p:pic>
    </p:spTree>
  </p:cSld>
  <p:clrMapOvr>
    <a:masterClrMapping/>
  </p:clrMapOvr>
  <p:transition advTm="3247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灯片编号占位符 9"/>
          <p:cNvSpPr>
            <a:spLocks noGrp="1"/>
          </p:cNvSpPr>
          <p:nvPr>
            <p:ph type="sldNum" sz="quarter" idx="4"/>
          </p:nvPr>
        </p:nvSpPr>
        <p:spPr/>
        <p:txBody>
          <a:bodyPr/>
          <a:lstStyle/>
          <a:p>
            <a:r>
              <a:rPr lang="en-US" altLang="zh-CN" sz="2700">
                <a:sym typeface="Arial" panose="020B0604020202090204" pitchFamily="34" charset="0"/>
              </a:rPr>
              <a:t>&lt; </a:t>
            </a:r>
            <a:fld id="{A548B57D-AE10-4CF7-A9DF-59FEFA91B28E}" type="slidenum">
              <a:rPr lang="zh-CN" altLang="en-US" sz="2700" smtClean="0">
                <a:sym typeface="Arial" panose="020B0604020202090204" pitchFamily="34" charset="0"/>
              </a:rPr>
            </a:fld>
            <a:r>
              <a:rPr lang="zh-CN" altLang="en-US" sz="2700">
                <a:sym typeface="Arial" panose="020B0604020202090204" pitchFamily="34" charset="0"/>
              </a:rPr>
              <a:t> </a:t>
            </a:r>
            <a:r>
              <a:rPr lang="en-US" altLang="zh-CN" sz="2700">
                <a:sym typeface="Arial" panose="020B0604020202090204" pitchFamily="34" charset="0"/>
              </a:rPr>
              <a:t>&gt;</a:t>
            </a:r>
            <a:endParaRPr lang="zh-CN" altLang="en-US" sz="2700" dirty="0">
              <a:sym typeface="Arial" panose="020B0604020202090204" pitchFamily="34" charset="0"/>
            </a:endParaRPr>
          </a:p>
        </p:txBody>
      </p:sp>
      <p:sp>
        <p:nvSpPr>
          <p:cNvPr id="6" name="标题 5"/>
          <p:cNvSpPr>
            <a:spLocks noGrp="1"/>
          </p:cNvSpPr>
          <p:nvPr>
            <p:ph type="title"/>
          </p:nvPr>
        </p:nvSpPr>
        <p:spPr/>
        <p:txBody>
          <a:bodyPr/>
          <a:lstStyle/>
          <a:p>
            <a:r>
              <a:rPr lang="en-US" altLang="zh-CN">
                <a:sym typeface="Arial" panose="020B0604020202090204" pitchFamily="34" charset="0"/>
              </a:rPr>
              <a:t>3.2 </a:t>
            </a:r>
            <a:r>
              <a:rPr>
                <a:sym typeface="Arial" panose="020B0604020202090204" pitchFamily="34" charset="0"/>
              </a:rPr>
              <a:t>技术</a:t>
            </a:r>
            <a:r>
              <a:rPr>
                <a:sym typeface="Arial" panose="020B0604020202090204" pitchFamily="34" charset="0"/>
              </a:rPr>
              <a:t>路线</a:t>
            </a:r>
            <a:endParaRPr>
              <a:sym typeface="Arial" panose="020B0604020202090204" pitchFamily="34" charset="0"/>
            </a:endParaRPr>
          </a:p>
        </p:txBody>
      </p:sp>
      <p:pic>
        <p:nvPicPr>
          <p:cNvPr id="2" name="图片 -2147482611"/>
          <p:cNvPicPr>
            <a:picLocks noChangeAspect="1"/>
          </p:cNvPicPr>
          <p:nvPr>
            <p:custDataLst>
              <p:tags r:id="rId1"/>
            </p:custDataLst>
          </p:nvPr>
        </p:nvPicPr>
        <p:blipFill>
          <a:blip r:embed="rId2"/>
          <a:stretch>
            <a:fillRect/>
          </a:stretch>
        </p:blipFill>
        <p:spPr>
          <a:xfrm>
            <a:off x="6629400" y="469265"/>
            <a:ext cx="10144760" cy="9560560"/>
          </a:xfrm>
          <a:prstGeom prst="rect">
            <a:avLst/>
          </a:prstGeom>
          <a:noFill/>
          <a:ln w="9525">
            <a:noFill/>
          </a:ln>
        </p:spPr>
      </p:pic>
      <p:sp>
        <p:nvSpPr>
          <p:cNvPr id="26" name="文本框 25"/>
          <p:cNvSpPr txBox="1"/>
          <p:nvPr>
            <p:custDataLst>
              <p:tags r:id="rId3"/>
            </p:custDataLst>
          </p:nvPr>
        </p:nvSpPr>
        <p:spPr>
          <a:xfrm>
            <a:off x="838200" y="1714500"/>
            <a:ext cx="2921635" cy="521970"/>
          </a:xfrm>
          <a:prstGeom prst="rect">
            <a:avLst/>
          </a:prstGeom>
          <a:solidFill>
            <a:srgbClr val="861B11"/>
          </a:solidFill>
        </p:spPr>
        <p:txBody>
          <a:bodyPr wrap="square" rtlCol="0">
            <a:spAutoFit/>
          </a:bodyPr>
          <a:p>
            <a:pPr algn="ctr"/>
            <a:r>
              <a:rPr lang="zh-CN" altLang="en-US" sz="2800" dirty="0">
                <a:solidFill>
                  <a:schemeClr val="bg1"/>
                </a:solidFill>
                <a:latin typeface="思源宋体-超粗体" panose="02010600030101010101" charset="-122"/>
                <a:ea typeface="思源宋体-超粗体" panose="02010600030101010101" charset="-122"/>
              </a:rPr>
              <a:t>第一章</a:t>
            </a:r>
            <a:r>
              <a:rPr lang="en-US" altLang="zh-CN" sz="2800" dirty="0">
                <a:solidFill>
                  <a:schemeClr val="bg1"/>
                </a:solidFill>
                <a:latin typeface="思源宋体-超粗体" panose="02010600030101010101" charset="-122"/>
                <a:ea typeface="思源宋体-超粗体" panose="02010600030101010101" charset="-122"/>
              </a:rPr>
              <a:t>、</a:t>
            </a:r>
            <a:r>
              <a:rPr lang="zh-CN" altLang="en-US" sz="2800" dirty="0">
                <a:solidFill>
                  <a:schemeClr val="bg1"/>
                </a:solidFill>
                <a:latin typeface="思源宋体-超粗体" panose="02010600030101010101" charset="-122"/>
                <a:ea typeface="思源宋体-超粗体" panose="02010600030101010101" charset="-122"/>
              </a:rPr>
              <a:t>第二章</a:t>
            </a:r>
            <a:endParaRPr lang="zh-CN" altLang="en-US" sz="2800" dirty="0">
              <a:solidFill>
                <a:schemeClr val="bg1"/>
              </a:solidFill>
              <a:latin typeface="思源宋体-超粗体" panose="02010600030101010101" charset="-122"/>
              <a:ea typeface="思源宋体-超粗体" panose="02010600030101010101" charset="-122"/>
            </a:endParaRPr>
          </a:p>
        </p:txBody>
      </p:sp>
      <p:sp>
        <p:nvSpPr>
          <p:cNvPr id="5" name="文本框 4"/>
          <p:cNvSpPr txBox="1"/>
          <p:nvPr>
            <p:custDataLst>
              <p:tags r:id="rId4"/>
            </p:custDataLst>
          </p:nvPr>
        </p:nvSpPr>
        <p:spPr>
          <a:xfrm>
            <a:off x="838279" y="3085963"/>
            <a:ext cx="2514600" cy="521970"/>
          </a:xfrm>
          <a:prstGeom prst="rect">
            <a:avLst/>
          </a:prstGeom>
          <a:solidFill>
            <a:srgbClr val="861B11"/>
          </a:solidFill>
        </p:spPr>
        <p:txBody>
          <a:bodyPr wrap="square" rtlCol="0">
            <a:spAutoFit/>
          </a:bodyPr>
          <a:p>
            <a:pPr algn="ctr"/>
            <a:r>
              <a:rPr lang="zh-CN" altLang="en-US" sz="2800" dirty="0">
                <a:solidFill>
                  <a:schemeClr val="bg1"/>
                </a:solidFill>
                <a:latin typeface="思源宋体-超粗体" panose="02010600030101010101" charset="-122"/>
                <a:ea typeface="思源宋体-超粗体" panose="02010600030101010101" charset="-122"/>
              </a:rPr>
              <a:t>三</a:t>
            </a:r>
            <a:r>
              <a:rPr lang="en-US" altLang="zh-CN" sz="2800" dirty="0">
                <a:solidFill>
                  <a:schemeClr val="bg1"/>
                </a:solidFill>
                <a:latin typeface="思源宋体-超粗体" panose="02010600030101010101" charset="-122"/>
                <a:ea typeface="思源宋体-超粗体" panose="02010600030101010101" charset="-122"/>
              </a:rPr>
              <a:t>、</a:t>
            </a:r>
            <a:r>
              <a:rPr lang="zh-CN" altLang="en-US" sz="2800" dirty="0">
                <a:solidFill>
                  <a:schemeClr val="bg1"/>
                </a:solidFill>
                <a:latin typeface="思源宋体-超粗体" panose="02010600030101010101" charset="-122"/>
                <a:ea typeface="思源宋体-超粗体" panose="02010600030101010101" charset="-122"/>
              </a:rPr>
              <a:t>四</a:t>
            </a:r>
            <a:r>
              <a:rPr lang="en-US" altLang="zh-CN" sz="2800" dirty="0">
                <a:solidFill>
                  <a:schemeClr val="bg1"/>
                </a:solidFill>
                <a:latin typeface="思源宋体-超粗体" panose="02010600030101010101" charset="-122"/>
                <a:ea typeface="思源宋体-超粗体" panose="02010600030101010101" charset="-122"/>
              </a:rPr>
              <a:t>、</a:t>
            </a:r>
            <a:r>
              <a:rPr lang="zh-CN" altLang="en-US" sz="2800" dirty="0">
                <a:solidFill>
                  <a:schemeClr val="bg1"/>
                </a:solidFill>
                <a:latin typeface="思源宋体-超粗体" panose="02010600030101010101" charset="-122"/>
                <a:ea typeface="思源宋体-超粗体" panose="02010600030101010101" charset="-122"/>
              </a:rPr>
              <a:t>五章</a:t>
            </a:r>
            <a:endParaRPr lang="zh-CN" altLang="en-US" sz="2800" dirty="0">
              <a:solidFill>
                <a:schemeClr val="bg1"/>
              </a:solidFill>
              <a:latin typeface="思源宋体-超粗体" panose="02010600030101010101" charset="-122"/>
              <a:ea typeface="思源宋体-超粗体" panose="02010600030101010101" charset="-122"/>
            </a:endParaRPr>
          </a:p>
        </p:txBody>
      </p:sp>
      <p:sp>
        <p:nvSpPr>
          <p:cNvPr id="7" name="文本框 6"/>
          <p:cNvSpPr txBox="1"/>
          <p:nvPr>
            <p:custDataLst>
              <p:tags r:id="rId5"/>
            </p:custDataLst>
          </p:nvPr>
        </p:nvSpPr>
        <p:spPr>
          <a:xfrm>
            <a:off x="838279" y="8877163"/>
            <a:ext cx="2514600" cy="521970"/>
          </a:xfrm>
          <a:prstGeom prst="rect">
            <a:avLst/>
          </a:prstGeom>
          <a:solidFill>
            <a:srgbClr val="861B11"/>
          </a:solidFill>
        </p:spPr>
        <p:txBody>
          <a:bodyPr wrap="square" rtlCol="0">
            <a:spAutoFit/>
          </a:bodyPr>
          <a:p>
            <a:pPr algn="ctr"/>
            <a:r>
              <a:rPr lang="zh-CN" altLang="en-US" sz="2800" dirty="0">
                <a:solidFill>
                  <a:schemeClr val="bg1"/>
                </a:solidFill>
                <a:latin typeface="思源宋体-超粗体" panose="02010600030101010101" charset="-122"/>
                <a:ea typeface="思源宋体-超粗体" panose="02010600030101010101" charset="-122"/>
              </a:rPr>
              <a:t>第六章</a:t>
            </a:r>
            <a:endParaRPr lang="zh-CN" altLang="en-US" sz="2800" dirty="0">
              <a:solidFill>
                <a:schemeClr val="bg1"/>
              </a:solidFill>
              <a:latin typeface="思源宋体-超粗体" panose="02010600030101010101" charset="-122"/>
              <a:ea typeface="思源宋体-超粗体" panose="02010600030101010101" charset="-122"/>
            </a:endParaRPr>
          </a:p>
        </p:txBody>
      </p:sp>
      <p:cxnSp>
        <p:nvCxnSpPr>
          <p:cNvPr id="8" name="肘形连接符 7"/>
          <p:cNvCxnSpPr>
            <a:endCxn id="26" idx="3"/>
          </p:cNvCxnSpPr>
          <p:nvPr/>
        </p:nvCxnSpPr>
        <p:spPr>
          <a:xfrm rot="10800000" flipV="1">
            <a:off x="3759835" y="1191895"/>
            <a:ext cx="3054350" cy="783590"/>
          </a:xfrm>
          <a:prstGeom prst="bentConnector3">
            <a:avLst>
              <a:gd name="adj1" fmla="val 50000"/>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cxnSp>
        <p:nvCxnSpPr>
          <p:cNvPr id="9" name="直接箭头连接符 8"/>
          <p:cNvCxnSpPr>
            <a:endCxn id="5" idx="3"/>
          </p:cNvCxnSpPr>
          <p:nvPr/>
        </p:nvCxnSpPr>
        <p:spPr>
          <a:xfrm flipH="1">
            <a:off x="3352800" y="3345180"/>
            <a:ext cx="3482975" cy="1905"/>
          </a:xfrm>
          <a:prstGeom prst="straightConnector1">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cxnSp>
        <p:nvCxnSpPr>
          <p:cNvPr id="11" name="直接箭头连接符 10"/>
          <p:cNvCxnSpPr/>
          <p:nvPr/>
        </p:nvCxnSpPr>
        <p:spPr>
          <a:xfrm flipH="1">
            <a:off x="3505200" y="9180195"/>
            <a:ext cx="3330575" cy="1905"/>
          </a:xfrm>
          <a:prstGeom prst="straightConnector1">
            <a:avLst/>
          </a:prstGeom>
          <a:ln>
            <a:solidFill>
              <a:schemeClr val="tx1">
                <a:lumMod val="50000"/>
                <a:lumOff val="50000"/>
              </a:schemeClr>
            </a:solidFill>
            <a:tailEnd type="arrow"/>
          </a:ln>
        </p:spPr>
        <p:style>
          <a:lnRef idx="2">
            <a:schemeClr val="accent1"/>
          </a:lnRef>
          <a:fillRef idx="0">
            <a:srgbClr val="FFFFFF"/>
          </a:fillRef>
          <a:effectRef idx="0">
            <a:srgbClr val="FFFFFF"/>
          </a:effectRef>
          <a:fontRef idx="minor">
            <a:schemeClr val="tx1"/>
          </a:fontRef>
        </p:style>
      </p:cxnSp>
      <p:sp>
        <p:nvSpPr>
          <p:cNvPr id="12" name="文本框 11"/>
          <p:cNvSpPr txBox="1"/>
          <p:nvPr>
            <p:custDataLst>
              <p:tags r:id="rId6"/>
            </p:custDataLst>
          </p:nvPr>
        </p:nvSpPr>
        <p:spPr>
          <a:xfrm>
            <a:off x="793115" y="3695700"/>
            <a:ext cx="5612130" cy="4659630"/>
          </a:xfrm>
          <a:prstGeom prst="rect">
            <a:avLst/>
          </a:prstGeom>
          <a:noFill/>
        </p:spPr>
        <p:txBody>
          <a:bodyPr wrap="square" rtlCol="0">
            <a:noAutofit/>
          </a:bodyPr>
          <a:p>
            <a:pPr marL="342900" indent="-342900" algn="just" fontAlgn="auto">
              <a:lnSpc>
                <a:spcPct val="120000"/>
              </a:lnSpc>
              <a:buFont typeface="Arial" panose="020B0604020202090204" pitchFamily="34" charset="0"/>
              <a:buChar char="•"/>
            </a:pPr>
            <a:r>
              <a:rPr lang="en-US" altLang="zh-CN" sz="2200"/>
              <a:t>首先模拟地铁站火灾发展过程，获取</a:t>
            </a:r>
            <a:r>
              <a:rPr lang="en-US" altLang="zh-CN" sz="2200" b="1"/>
              <a:t>烟气、能见度、温度、CO</a:t>
            </a:r>
            <a:r>
              <a:rPr lang="en-US" altLang="zh-CN" sz="2200"/>
              <a:t>等指标的分布数据；</a:t>
            </a:r>
            <a:endParaRPr lang="en-US" altLang="zh-CN" sz="2200"/>
          </a:p>
          <a:p>
            <a:pPr marL="342900" indent="-342900" algn="just" fontAlgn="auto">
              <a:lnSpc>
                <a:spcPct val="120000"/>
              </a:lnSpc>
              <a:buFont typeface="Arial" panose="020B0604020202090204" pitchFamily="34" charset="0"/>
              <a:buChar char="•"/>
            </a:pPr>
            <a:endParaRPr lang="en-US" altLang="zh-CN" sz="2200"/>
          </a:p>
          <a:p>
            <a:pPr marL="342900" indent="-342900" algn="just" fontAlgn="auto">
              <a:lnSpc>
                <a:spcPct val="120000"/>
              </a:lnSpc>
              <a:buFont typeface="Arial" panose="020B0604020202090204" pitchFamily="34" charset="0"/>
              <a:buChar char="•"/>
            </a:pPr>
            <a:r>
              <a:rPr lang="en-US" altLang="zh-CN" sz="2200"/>
              <a:t>在此基础上构建考虑环境变化和火灾风险的A-star算法，找到兼具安全性和快速性的疏散路径；</a:t>
            </a:r>
            <a:endParaRPr lang="en-US" altLang="zh-CN" sz="2200"/>
          </a:p>
          <a:p>
            <a:pPr marL="342900" indent="-342900" algn="just" fontAlgn="auto">
              <a:lnSpc>
                <a:spcPct val="120000"/>
              </a:lnSpc>
              <a:buFont typeface="Arial" panose="020B0604020202090204" pitchFamily="34" charset="0"/>
              <a:buChar char="•"/>
            </a:pPr>
            <a:endParaRPr lang="en-US" altLang="zh-CN" sz="2200"/>
          </a:p>
          <a:p>
            <a:pPr marL="342900" indent="-342900" algn="just" fontAlgn="auto">
              <a:lnSpc>
                <a:spcPct val="120000"/>
              </a:lnSpc>
              <a:buFont typeface="Arial" panose="020B0604020202090204" pitchFamily="34" charset="0"/>
              <a:buChar char="•"/>
            </a:pPr>
            <a:r>
              <a:rPr lang="en-US" altLang="zh-CN" sz="2200"/>
              <a:t>最后进行人员疏散仿真，对疏散路径的有效性和合理性进行</a:t>
            </a:r>
            <a:r>
              <a:rPr lang="en-US" altLang="zh-CN" sz="2200" b="1"/>
              <a:t>验证</a:t>
            </a:r>
            <a:r>
              <a:rPr lang="en-US" altLang="zh-CN" sz="2200"/>
              <a:t>，揭示地铁人群疏散的结果和现有措施的不足，为地铁站安全设计与运营管理提供参考性建议。</a:t>
            </a:r>
            <a:endParaRPr lang="en-US" altLang="zh-CN" sz="2200"/>
          </a:p>
        </p:txBody>
      </p:sp>
    </p:spTree>
  </p:cSld>
  <p:clrMapOvr>
    <a:masterClrMapping/>
  </p:clrMapOvr>
  <p:transition advTm="39358"/>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2317736" y="2910812"/>
            <a:ext cx="3673568" cy="922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150" normalizeH="0" baseline="0" noProof="0" dirty="0">
                <a:ln>
                  <a:noFill/>
                </a:ln>
                <a:solidFill>
                  <a:srgbClr val="595959"/>
                </a:solidFill>
                <a:effectLst/>
                <a:uLnTx/>
                <a:uFillTx/>
                <a:latin typeface="Arial" panose="020B0604020202090204" pitchFamily="34" charset="0"/>
                <a:ea typeface="微软雅黑" charset="-122"/>
                <a:cs typeface="+mn-ea"/>
                <a:sym typeface="Arial" panose="020B0604020202090204" pitchFamily="34" charset="0"/>
              </a:rPr>
              <a:t>PART 04</a:t>
            </a:r>
            <a:endParaRPr kumimoji="0" lang="zh-CN" altLang="en-US" sz="5400" b="0" i="0" u="none" strike="noStrike" kern="1200" cap="none" spc="150" normalizeH="0" baseline="0" noProof="0" dirty="0">
              <a:ln>
                <a:noFill/>
              </a:ln>
              <a:solidFill>
                <a:srgbClr val="595959"/>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24" name="文本框 23"/>
          <p:cNvSpPr txBox="1"/>
          <p:nvPr/>
        </p:nvSpPr>
        <p:spPr>
          <a:xfrm>
            <a:off x="2272665" y="4442460"/>
            <a:ext cx="13232130" cy="1393825"/>
          </a:xfrm>
          <a:prstGeom prst="rect">
            <a:avLst/>
          </a:prstGeom>
          <a:noFill/>
        </p:spPr>
        <p:txBody>
          <a:bodyPr wrap="square" rtlCol="0">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8100" b="1" spc="30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rPr>
              <a:t>试验方案及其可行性研究</a:t>
            </a:r>
            <a:endParaRPr lang="zh-CN" altLang="en-US" sz="8100" dirty="0">
              <a:sym typeface="Arial" panose="020B0604020202090204" pitchFamily="34" charset="0"/>
            </a:endParaRPr>
          </a:p>
          <a:p>
            <a:pPr marL="0" marR="0" lvl="0" indent="0" algn="dist" defTabSz="914400" rtl="0" eaLnBrk="1" fontAlgn="auto" latinLnBrk="0" hangingPunct="1">
              <a:lnSpc>
                <a:spcPct val="100000"/>
              </a:lnSpc>
              <a:spcBef>
                <a:spcPts val="0"/>
              </a:spcBef>
              <a:spcAft>
                <a:spcPts val="0"/>
              </a:spcAft>
              <a:buClrTx/>
              <a:buSzTx/>
              <a:buFontTx/>
              <a:buNone/>
              <a:defRPr/>
            </a:pPr>
            <a:endParaRPr kumimoji="0" lang="zh-CN" altLang="en-US" sz="8100" b="1" i="0" u="none" strike="noStrike" kern="1200" cap="none" spc="300" normalizeH="0" baseline="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70" name="矩形 69"/>
          <p:cNvSpPr/>
          <p:nvPr/>
        </p:nvSpPr>
        <p:spPr>
          <a:xfrm>
            <a:off x="2450009" y="4169864"/>
            <a:ext cx="997917" cy="68580"/>
          </a:xfrm>
          <a:prstGeom prst="rect">
            <a:avLst/>
          </a:prstGeom>
          <a:solidFill>
            <a:srgbClr val="861B11"/>
          </a:solidFill>
          <a:ln>
            <a:noFill/>
          </a:ln>
        </p:spPr>
        <p:txBody>
          <a:bodyPr vert="horz" wrap="square" lIns="137160" tIns="68580" rIns="137160" bIns="68580" numCol="1" anchor="t" anchorCtr="0" compatLnSpc="1"/>
          <a:lstStyle/>
          <a:p>
            <a:endParaRPr lang="zh-CN" altLang="en-US" sz="2700">
              <a:solidFill>
                <a:srgbClr val="FF0000"/>
              </a:solidFill>
              <a:latin typeface="Arial" panose="020B0604020202090204" pitchFamily="34" charset="0"/>
              <a:ea typeface="微软雅黑" charset="-122"/>
              <a:cs typeface="+mn-ea"/>
              <a:sym typeface="Arial" panose="020B0604020202090204" pitchFamily="34" charset="0"/>
            </a:endParaRPr>
          </a:p>
        </p:txBody>
      </p:sp>
      <p:sp>
        <p:nvSpPr>
          <p:cNvPr id="72" name="矩形 71"/>
          <p:cNvSpPr/>
          <p:nvPr/>
        </p:nvSpPr>
        <p:spPr>
          <a:xfrm>
            <a:off x="2272665" y="5866130"/>
            <a:ext cx="10861040" cy="737235"/>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rPr>
              <a:t>Experimental </a:t>
            </a:r>
            <a:r>
              <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rPr>
              <a:t>plan and feasibility study</a:t>
            </a:r>
            <a:endPar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endParaRPr>
          </a:p>
        </p:txBody>
      </p:sp>
      <p:pic>
        <p:nvPicPr>
          <p:cNvPr id="2" name="图片 1"/>
          <p:cNvPicPr>
            <a:picLocks noChangeAspect="1"/>
          </p:cNvPicPr>
          <p:nvPr>
            <p:custDataLst>
              <p:tags r:id="rId1"/>
            </p:custDataLst>
          </p:nvPr>
        </p:nvPicPr>
        <p:blipFill>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14984145" y="-495207"/>
            <a:ext cx="2618234" cy="2618816"/>
          </a:xfrm>
          <a:prstGeom prst="rect">
            <a:avLst/>
          </a:prstGeom>
        </p:spPr>
      </p:pic>
      <p:sp>
        <p:nvSpPr>
          <p:cNvPr id="4" name="Freeform 5"/>
          <p:cNvSpPr/>
          <p:nvPr>
            <p:custDataLst>
              <p:tags r:id="rId4"/>
            </p:custDataLst>
          </p:nvPr>
        </p:nvSpPr>
        <p:spPr>
          <a:xfrm rot="862994">
            <a:off x="-8112194" y="7634155"/>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5">
              <a:alphaModFix amt="19999"/>
              <a:duotone>
                <a:schemeClr val="accent2">
                  <a:shade val="45000"/>
                  <a:satMod val="135000"/>
                </a:schemeClr>
                <a:prstClr val="white"/>
              </a:duotone>
            </a:blip>
            <a:stretch>
              <a:fillRect/>
            </a:stretch>
          </a:blipFill>
          <a:ln cap="sq">
            <a:noFill/>
            <a:prstDash val="solid"/>
            <a:miter/>
          </a:ln>
        </p:spPr>
        <p:txBody>
          <a:bodyPr/>
          <a:p>
            <a:endParaRPr lang="zh-CN" altLang="en-US"/>
          </a:p>
        </p:txBody>
      </p:sp>
      <p:sp>
        <p:nvSpPr>
          <p:cNvPr id="5" name="Freeform 4"/>
          <p:cNvSpPr/>
          <p:nvPr>
            <p:custDataLst>
              <p:tags r:id="rId6"/>
            </p:custDataLst>
          </p:nvPr>
        </p:nvSpPr>
        <p:spPr>
          <a:xfrm rot="-1204851" flipV="1">
            <a:off x="5745427" y="8194128"/>
            <a:ext cx="13996660" cy="4723021"/>
          </a:xfrm>
          <a:custGeom>
            <a:avLst/>
            <a:gdLst/>
            <a:ahLst/>
            <a:cxnLst/>
            <a:rect l="l" t="t" r="r" b="b"/>
            <a:pathLst>
              <a:path w="13996660" h="4723021">
                <a:moveTo>
                  <a:pt x="0" y="4723021"/>
                </a:moveTo>
                <a:lnTo>
                  <a:pt x="13996660" y="4723021"/>
                </a:lnTo>
                <a:lnTo>
                  <a:pt x="13996660" y="0"/>
                </a:lnTo>
                <a:lnTo>
                  <a:pt x="0" y="0"/>
                </a:lnTo>
                <a:lnTo>
                  <a:pt x="0" y="4723021"/>
                </a:lnTo>
                <a:close/>
              </a:path>
            </a:pathLst>
          </a:custGeom>
          <a:blipFill>
            <a:blip r:embed="rId5">
              <a:alphaModFix amt="18000"/>
              <a:duotone>
                <a:schemeClr val="accent2">
                  <a:shade val="45000"/>
                  <a:satMod val="135000"/>
                </a:schemeClr>
                <a:prstClr val="white"/>
              </a:duotone>
            </a:blip>
            <a:stretch>
              <a:fillRect r="-24401"/>
            </a:stretch>
          </a:blipFill>
          <a:ln cap="sq">
            <a:noFill/>
            <a:prstDash val="solid"/>
            <a:miter/>
          </a:ln>
        </p:spPr>
        <p:txBody>
          <a:bodyPr/>
          <a:p>
            <a:endParaRPr lang="zh-CN" altLang="en-US"/>
          </a:p>
        </p:txBody>
      </p:sp>
    </p:spTree>
  </p:cSld>
  <p:clrMapOvr>
    <a:masterClrMapping/>
  </p:clrMapOvr>
  <p:transition advTm="3487"/>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lang="en-US" altLang="zh-CN">
                <a:sym typeface="Arial" panose="020B0604020202090204" pitchFamily="34" charset="0"/>
              </a:rPr>
              <a:t>4.1 </a:t>
            </a:r>
            <a:r>
              <a:rPr>
                <a:sym typeface="Arial" panose="020B0604020202090204" pitchFamily="34" charset="0"/>
              </a:rPr>
              <a:t>试验</a:t>
            </a:r>
            <a:r>
              <a:rPr>
                <a:sym typeface="Arial" panose="020B0604020202090204" pitchFamily="34" charset="0"/>
              </a:rPr>
              <a:t>方案</a:t>
            </a:r>
            <a:endParaRPr>
              <a:sym typeface="Arial" panose="020B0604020202090204" pitchFamily="34" charset="0"/>
            </a:endParaRPr>
          </a:p>
        </p:txBody>
      </p:sp>
      <p:sp>
        <p:nvSpPr>
          <p:cNvPr id="3" name="文本占位符 2"/>
          <p:cNvSpPr>
            <a:spLocks noGrp="1"/>
          </p:cNvSpPr>
          <p:nvPr>
            <p:ph type="body" sz="quarter" idx="10"/>
            <p:custDataLst>
              <p:tags r:id="rId1"/>
            </p:custDataLst>
          </p:nvPr>
        </p:nvSpPr>
        <p:spPr>
          <a:xfrm>
            <a:off x="1524000" y="1409700"/>
            <a:ext cx="6779260" cy="2414270"/>
          </a:xfrm>
        </p:spPr>
        <p:txBody>
          <a:bodyPr anchor="t" anchorCtr="0">
            <a:normAutofit/>
          </a:bodyPr>
          <a:p>
            <a:pPr marL="0" indent="0">
              <a:lnSpc>
                <a:spcPct val="150000"/>
              </a:lnSpc>
              <a:buNone/>
            </a:pPr>
            <a:r>
              <a:rPr sz="2400">
                <a:latin typeface="Times New Roman" panose="02020503050405090304"/>
                <a:ea typeface="宋体"/>
                <a:sym typeface="+mn-ea"/>
              </a:rPr>
              <a:t>首先，基于目标地铁站的建筑平面图与功能分区，选取其中一个简单的部分建立节点</a:t>
            </a:r>
            <a:r>
              <a:rPr lang="en-US" altLang="zh-CN" sz="2400">
                <a:latin typeface="Times New Roman" panose="02020503050405090304"/>
                <a:ea typeface="宋体"/>
                <a:sym typeface="+mn-ea"/>
              </a:rPr>
              <a:t>—</a:t>
            </a:r>
            <a:r>
              <a:rPr sz="2400">
                <a:latin typeface="Times New Roman" panose="02020503050405090304"/>
                <a:ea typeface="宋体"/>
                <a:sym typeface="+mn-ea"/>
              </a:rPr>
              <a:t>连边形式的简易疏散网络模型，并通过邻接矩阵、距离矩阵与通行能力矩阵实现结构化表达。</a:t>
            </a:r>
            <a:endParaRPr lang="zh-CN" altLang="en-US" sz="2400" dirty="0">
              <a:sym typeface="Arial" panose="020B0604020202090204" pitchFamily="34" charset="0"/>
            </a:endParaRPr>
          </a:p>
        </p:txBody>
      </p:sp>
      <p:pic>
        <p:nvPicPr>
          <p:cNvPr id="4" name="图片 3"/>
          <p:cNvPicPr>
            <a:picLocks noChangeAspect="1"/>
          </p:cNvPicPr>
          <p:nvPr>
            <p:custDataLst>
              <p:tags r:id="rId2"/>
            </p:custDataLst>
          </p:nvPr>
        </p:nvPicPr>
        <p:blipFill>
          <a:blip r:embed="rId3"/>
          <a:stretch>
            <a:fillRect/>
          </a:stretch>
        </p:blipFill>
        <p:spPr>
          <a:xfrm>
            <a:off x="1371600" y="3695700"/>
            <a:ext cx="6280785" cy="6232525"/>
          </a:xfrm>
          <a:prstGeom prst="rect">
            <a:avLst/>
          </a:prstGeom>
        </p:spPr>
      </p:pic>
      <p:sp>
        <p:nvSpPr>
          <p:cNvPr id="13" name="文本框 12"/>
          <p:cNvSpPr txBox="1"/>
          <p:nvPr>
            <p:custDataLst>
              <p:tags r:id="rId4"/>
            </p:custDataLst>
          </p:nvPr>
        </p:nvSpPr>
        <p:spPr>
          <a:xfrm>
            <a:off x="793115" y="1562100"/>
            <a:ext cx="551180" cy="469265"/>
          </a:xfrm>
          <a:prstGeom prst="rect">
            <a:avLst/>
          </a:prstGeom>
          <a:solidFill>
            <a:srgbClr val="861B11"/>
          </a:solidFill>
        </p:spPr>
        <p:txBody>
          <a:bodyPr wrap="square" rtlCol="0">
            <a:noAutofit/>
          </a:bodyPr>
          <a:p>
            <a:pPr algn="ctr"/>
            <a:r>
              <a:rPr lang="en-US" altLang="zh-CN" sz="2800" dirty="0">
                <a:solidFill>
                  <a:schemeClr val="bg1"/>
                </a:solidFill>
                <a:latin typeface="思源宋体-超粗体" panose="02010600030101010101" charset="-122"/>
                <a:ea typeface="思源宋体-超粗体" panose="02010600030101010101" charset="-122"/>
              </a:rPr>
              <a:t>1</a:t>
            </a:r>
            <a:endParaRPr lang="en-US" altLang="zh-CN" sz="2800" dirty="0">
              <a:solidFill>
                <a:schemeClr val="bg1"/>
              </a:solidFill>
              <a:latin typeface="思源宋体-超粗体" panose="02010600030101010101" charset="-122"/>
              <a:ea typeface="思源宋体-超粗体" panose="02010600030101010101" charset="-122"/>
            </a:endParaRPr>
          </a:p>
        </p:txBody>
      </p:sp>
      <p:grpSp>
        <p:nvGrpSpPr>
          <p:cNvPr id="11" name="组合 10"/>
          <p:cNvGrpSpPr/>
          <p:nvPr/>
        </p:nvGrpSpPr>
        <p:grpSpPr>
          <a:xfrm>
            <a:off x="8991600" y="6134100"/>
            <a:ext cx="8173720" cy="3026410"/>
            <a:chOff x="14880" y="9660"/>
            <a:chExt cx="12872" cy="4766"/>
          </a:xfrm>
        </p:grpSpPr>
        <p:sp>
          <p:nvSpPr>
            <p:cNvPr id="5" name="文本占位符 2"/>
            <p:cNvSpPr>
              <a:spLocks noGrp="1"/>
            </p:cNvSpPr>
            <p:nvPr>
              <p:custDataLst>
                <p:tags r:id="rId5"/>
              </p:custDataLst>
            </p:nvPr>
          </p:nvSpPr>
          <p:spPr>
            <a:xfrm>
              <a:off x="16080" y="9660"/>
              <a:ext cx="11672" cy="4766"/>
            </a:xfrm>
            <a:prstGeom prst="rect">
              <a:avLst/>
            </a:prstGeom>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90204" pitchFamily="34" charset="0"/>
                <a:buChar char="•"/>
                <a:defRPr lang="zh-CN" altLang="en-US" sz="3000" b="1" kern="1200" dirty="0" smtClean="0">
                  <a:solidFill>
                    <a:schemeClr val="tx1">
                      <a:lumMod val="75000"/>
                      <a:lumOff val="25000"/>
                    </a:schemeClr>
                  </a:solidFill>
                  <a:latin typeface="+mn-lt"/>
                  <a:ea typeface="+mn-ea"/>
                  <a:cs typeface="+mn-ea"/>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lnSpc>
                  <a:spcPct val="150000"/>
                </a:lnSpc>
                <a:spcBef>
                  <a:spcPts val="20"/>
                </a:spcBef>
                <a:spcAft>
                  <a:spcPts val="0"/>
                </a:spcAft>
                <a:buNone/>
              </a:pPr>
              <a:r>
                <a:rPr sz="2400">
                  <a:latin typeface="Times New Roman" panose="02020503050405090304"/>
                  <a:ea typeface="宋体"/>
                  <a:sym typeface="+mn-ea"/>
                </a:rPr>
                <a:t>利用</a:t>
              </a:r>
              <a:r>
                <a:rPr lang="en-US" altLang="zh-CN" sz="2400">
                  <a:latin typeface="Times New Roman" panose="02020503050405090304"/>
                  <a:ea typeface="Times New Roman" panose="02020503050405090304"/>
                  <a:sym typeface="+mn-ea"/>
                </a:rPr>
                <a:t>PyroSim</a:t>
              </a:r>
              <a:r>
                <a:rPr sz="2400">
                  <a:latin typeface="Times New Roman" panose="02020503050405090304"/>
                  <a:ea typeface="宋体"/>
                  <a:sym typeface="+mn-ea"/>
                </a:rPr>
                <a:t>进行火灾模拟，设置典型火源位置、热释放速率以及不同通风条件，获取温度、烟气浓度、能见度和</a:t>
              </a:r>
              <a:r>
                <a:rPr lang="en-US" altLang="zh-CN" sz="2400">
                  <a:latin typeface="Times New Roman" panose="02020503050405090304"/>
                  <a:ea typeface="Times New Roman" panose="02020503050405090304"/>
                  <a:sym typeface="+mn-ea"/>
                </a:rPr>
                <a:t>CO</a:t>
              </a:r>
              <a:r>
                <a:rPr sz="2400">
                  <a:latin typeface="Times New Roman" panose="02020503050405090304"/>
                  <a:ea typeface="宋体"/>
                  <a:sym typeface="+mn-ea"/>
                </a:rPr>
                <a:t>浓度等随时间变化的环境数据。将这些数据经过预处理与风险量化，转化为疏散网络中节点与连边的动态权重。</a:t>
              </a:r>
              <a:endParaRPr lang="zh-CN" altLang="en-US" sz="2400" dirty="0">
                <a:sym typeface="Arial" panose="020B0604020202090204" pitchFamily="34" charset="0"/>
              </a:endParaRPr>
            </a:p>
          </p:txBody>
        </p:sp>
        <p:sp>
          <p:nvSpPr>
            <p:cNvPr id="7" name="文本框 6"/>
            <p:cNvSpPr txBox="1"/>
            <p:nvPr>
              <p:custDataLst>
                <p:tags r:id="rId6"/>
              </p:custDataLst>
            </p:nvPr>
          </p:nvSpPr>
          <p:spPr>
            <a:xfrm>
              <a:off x="14880" y="10020"/>
              <a:ext cx="868" cy="739"/>
            </a:xfrm>
            <a:prstGeom prst="rect">
              <a:avLst/>
            </a:prstGeom>
            <a:solidFill>
              <a:srgbClr val="861B11"/>
            </a:solidFill>
          </p:spPr>
          <p:txBody>
            <a:bodyPr wrap="square" rtlCol="0">
              <a:noAutofit/>
            </a:bodyPr>
            <a:p>
              <a:pPr algn="ctr"/>
              <a:r>
                <a:rPr lang="en-US" altLang="zh-CN" sz="2800" dirty="0">
                  <a:solidFill>
                    <a:schemeClr val="bg1"/>
                  </a:solidFill>
                  <a:latin typeface="思源宋体-超粗体" panose="02010600030101010101" charset="-122"/>
                  <a:ea typeface="思源宋体-超粗体" panose="02010600030101010101" charset="-122"/>
                </a:rPr>
                <a:t>2</a:t>
              </a:r>
              <a:endParaRPr lang="en-US" altLang="zh-CN" sz="2800" dirty="0">
                <a:solidFill>
                  <a:schemeClr val="bg1"/>
                </a:solidFill>
                <a:latin typeface="思源宋体-超粗体" panose="02010600030101010101" charset="-122"/>
                <a:ea typeface="思源宋体-超粗体" panose="02010600030101010101" charset="-122"/>
              </a:endParaRPr>
            </a:p>
          </p:txBody>
        </p:sp>
      </p:grpSp>
      <p:pic>
        <p:nvPicPr>
          <p:cNvPr id="10" name="1126_1758364548">
            <a:hlinkClick r:id="" action="ppaction://media"/>
          </p:cNvPr>
          <p:cNvPicPr/>
          <p:nvPr>
            <a:videoFile r:link="rId7"/>
            <p:extLst>
              <p:ext uri="{DAA4B4D4-6D71-4841-9C94-3DE7FCFB9230}">
                <p14:media xmlns:p14="http://schemas.microsoft.com/office/powerpoint/2010/main" r:embed="rId8"/>
              </p:ext>
            </p:extLst>
            <p:custDataLst>
              <p:tags r:id="rId9"/>
            </p:custDataLst>
          </p:nvPr>
        </p:nvPicPr>
        <p:blipFill>
          <a:blip r:embed="rId10"/>
          <a:stretch>
            <a:fillRect/>
          </a:stretch>
        </p:blipFill>
        <p:spPr>
          <a:xfrm>
            <a:off x="8915400" y="1423670"/>
            <a:ext cx="8348980" cy="4250690"/>
          </a:xfrm>
          <a:prstGeom prst="rect">
            <a:avLst/>
          </a:prstGeom>
        </p:spPr>
      </p:pic>
    </p:spTree>
  </p:cSld>
  <p:clrMapOvr>
    <a:masterClrMapping/>
  </p:clrMapOvr>
  <p:transition advTm="37175"/>
  <p:timing>
    <p:tnLst>
      <p:par>
        <p:cTn id="1" dur="indefinite" restart="never" nodeType="tmRoot">
          <p:childTnLst>
            <p:video fullScrn="0">
              <p:cMediaNode>
                <p:cTn id="2" fill="hold" display="1">
                  <p:stCondLst>
                    <p:cond delay="indefinite"/>
                  </p:stCondLst>
                </p:cTn>
                <p:tgtEl>
                  <p:spTgt spid="10"/>
                </p:tgtEl>
              </p:cMediaNode>
            </p:video>
            <p:seq concurrent="1" nextAc="seek">
              <p:cTn id="3" restart="whenNotActive" fill="hold" evtFilter="cancelBubble" nodeType="interactiveSeq">
                <p:stCondLst>
                  <p:cond evt="onClick" delay="0">
                    <p:tgtEl>
                      <p:spTgt spid="10"/>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0"/>
                                        </p:tgtEl>
                                      </p:cBhvr>
                                    </p:cmd>
                                  </p:childTnLst>
                                </p:cTn>
                              </p:par>
                            </p:childTnLst>
                          </p:cTn>
                        </p:par>
                      </p:childTnLst>
                    </p:cTn>
                  </p:par>
                </p:childTnLst>
              </p:cTn>
              <p:nextCondLst>
                <p:cond evt="onClick" delay="0">
                  <p:tgtEl>
                    <p:spTgt spid="10"/>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p:cNvPicPr>
            <a:picLocks noChangeAspect="1"/>
          </p:cNvPicPr>
          <p:nvPr>
            <p:custDataLst>
              <p:tags r:id="rId1"/>
            </p:custDataLst>
          </p:nvPr>
        </p:nvPicPr>
        <p:blipFill>
          <a:blip r:embed="rId2"/>
          <a:stretch>
            <a:fillRect/>
          </a:stretch>
        </p:blipFill>
        <p:spPr>
          <a:xfrm>
            <a:off x="11506200" y="1463040"/>
            <a:ext cx="5914390" cy="3487420"/>
          </a:xfrm>
          <a:prstGeom prst="rect">
            <a:avLst/>
          </a:prstGeom>
        </p:spPr>
      </p:pic>
      <p:sp>
        <p:nvSpPr>
          <p:cNvPr id="6" name="标题 5"/>
          <p:cNvSpPr>
            <a:spLocks noGrp="1"/>
          </p:cNvSpPr>
          <p:nvPr>
            <p:ph type="title"/>
          </p:nvPr>
        </p:nvSpPr>
        <p:spPr/>
        <p:txBody>
          <a:bodyPr/>
          <a:lstStyle/>
          <a:p>
            <a:r>
              <a:rPr lang="en-US" altLang="zh-CN">
                <a:sym typeface="Arial" panose="020B0604020202090204" pitchFamily="34" charset="0"/>
              </a:rPr>
              <a:t>4.1 </a:t>
            </a:r>
            <a:r>
              <a:rPr>
                <a:sym typeface="Arial" panose="020B0604020202090204" pitchFamily="34" charset="0"/>
              </a:rPr>
              <a:t>试验</a:t>
            </a:r>
            <a:r>
              <a:rPr>
                <a:sym typeface="Arial" panose="020B0604020202090204" pitchFamily="34" charset="0"/>
              </a:rPr>
              <a:t>方案</a:t>
            </a:r>
            <a:endParaRPr>
              <a:sym typeface="Arial" panose="020B0604020202090204" pitchFamily="34" charset="0"/>
            </a:endParaRPr>
          </a:p>
        </p:txBody>
      </p:sp>
      <p:pic>
        <p:nvPicPr>
          <p:cNvPr id="5" name="图片 4" descr="2"/>
          <p:cNvPicPr>
            <a:picLocks noChangeAspect="1"/>
          </p:cNvPicPr>
          <p:nvPr/>
        </p:nvPicPr>
        <p:blipFill>
          <a:blip r:embed="rId3"/>
          <a:srcRect b="2403"/>
          <a:stretch>
            <a:fillRect/>
          </a:stretch>
        </p:blipFill>
        <p:spPr>
          <a:xfrm>
            <a:off x="10899140" y="5024755"/>
            <a:ext cx="6824345" cy="4995545"/>
          </a:xfrm>
          <a:prstGeom prst="rect">
            <a:avLst/>
          </a:prstGeom>
        </p:spPr>
      </p:pic>
      <p:sp>
        <p:nvSpPr>
          <p:cNvPr id="12" name="文本占位符 2"/>
          <p:cNvSpPr>
            <a:spLocks noGrp="1"/>
          </p:cNvSpPr>
          <p:nvPr>
            <p:custDataLst>
              <p:tags r:id="rId4"/>
            </p:custDataLst>
          </p:nvPr>
        </p:nvSpPr>
        <p:spPr>
          <a:xfrm>
            <a:off x="1350645" y="1332865"/>
            <a:ext cx="10097135" cy="1115060"/>
          </a:xfrm>
          <a:prstGeom prst="rect">
            <a:avLst/>
          </a:prstGeom>
        </p:spPr>
        <p:txBody>
          <a:bodyPr vert="horz" lIns="91440" tIns="45720" rIns="91440" bIns="45720" rtlCol="0" anchor="ctr">
            <a:normAutofit lnSpcReduction="10000"/>
          </a:bodyPr>
          <a:lstStyle>
            <a:lvl1pPr marL="342900" indent="-342900" algn="l" defTabSz="914400" rtl="0" eaLnBrk="1" latinLnBrk="0" hangingPunct="1">
              <a:spcBef>
                <a:spcPct val="20000"/>
              </a:spcBef>
              <a:buFont typeface="Arial" panose="020B0604020202090204" pitchFamily="34" charset="0"/>
              <a:buChar char="•"/>
              <a:defRPr lang="zh-CN" altLang="en-US" sz="3000" b="1" kern="1200" dirty="0" smtClean="0">
                <a:solidFill>
                  <a:schemeClr val="tx1">
                    <a:lumMod val="75000"/>
                    <a:lumOff val="25000"/>
                  </a:schemeClr>
                </a:solidFill>
                <a:latin typeface="+mn-lt"/>
                <a:ea typeface="+mn-ea"/>
                <a:cs typeface="+mn-ea"/>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fontAlgn="auto">
              <a:lnSpc>
                <a:spcPct val="130000"/>
              </a:lnSpc>
              <a:spcBef>
                <a:spcPts val="0"/>
              </a:spcBef>
              <a:spcAft>
                <a:spcPts val="0"/>
              </a:spcAft>
              <a:buNone/>
            </a:pPr>
            <a:r>
              <a:rPr sz="2400">
                <a:latin typeface="Times New Roman" panose="02020503050405090304"/>
                <a:ea typeface="宋体"/>
                <a:sym typeface="+mn-ea"/>
              </a:rPr>
              <a:t>在经典</a:t>
            </a:r>
            <a:r>
              <a:rPr lang="en-US" altLang="zh-CN" sz="2400">
                <a:latin typeface="Times New Roman" panose="02020503050405090304"/>
                <a:ea typeface="Times New Roman" panose="02020503050405090304"/>
                <a:sym typeface="+mn-ea"/>
              </a:rPr>
              <a:t>A</a:t>
            </a:r>
            <a:r>
              <a:rPr sz="2400">
                <a:latin typeface="Times New Roman" panose="02020503050405090304"/>
                <a:ea typeface="宋体"/>
                <a:sym typeface="+mn-ea"/>
              </a:rPr>
              <a:t>算法的基础上，加入火灾风险因子与动态更新机制，使其在每个时间步长内实时刷新环境信息，实现动态路径规划。</a:t>
            </a:r>
            <a:endParaRPr lang="zh-CN" altLang="en-US" sz="2400" dirty="0">
              <a:sym typeface="Arial" panose="020B0604020202090204" pitchFamily="34" charset="0"/>
            </a:endParaRPr>
          </a:p>
        </p:txBody>
      </p:sp>
      <p:sp>
        <p:nvSpPr>
          <p:cNvPr id="13" name="文本框 12"/>
          <p:cNvSpPr txBox="1"/>
          <p:nvPr>
            <p:custDataLst>
              <p:tags r:id="rId5"/>
            </p:custDataLst>
          </p:nvPr>
        </p:nvSpPr>
        <p:spPr>
          <a:xfrm>
            <a:off x="793115" y="1562100"/>
            <a:ext cx="551180" cy="469265"/>
          </a:xfrm>
          <a:prstGeom prst="rect">
            <a:avLst/>
          </a:prstGeom>
          <a:solidFill>
            <a:srgbClr val="861B11"/>
          </a:solidFill>
        </p:spPr>
        <p:txBody>
          <a:bodyPr wrap="square" rtlCol="0">
            <a:noAutofit/>
          </a:bodyPr>
          <a:p>
            <a:pPr algn="ctr"/>
            <a:r>
              <a:rPr lang="en-US" altLang="zh-CN" sz="2800" dirty="0">
                <a:solidFill>
                  <a:schemeClr val="bg1"/>
                </a:solidFill>
                <a:latin typeface="思源宋体-超粗体" panose="02010600030101010101" charset="-122"/>
                <a:ea typeface="思源宋体-超粗体" panose="02010600030101010101" charset="-122"/>
              </a:rPr>
              <a:t>3</a:t>
            </a:r>
            <a:endParaRPr lang="en-US" altLang="zh-CN" sz="2800" dirty="0">
              <a:solidFill>
                <a:schemeClr val="bg1"/>
              </a:solidFill>
              <a:latin typeface="思源宋体-超粗体" panose="02010600030101010101" charset="-122"/>
              <a:ea typeface="思源宋体-超粗体" panose="02010600030101010101" charset="-122"/>
            </a:endParaRPr>
          </a:p>
        </p:txBody>
      </p:sp>
      <p:pic>
        <p:nvPicPr>
          <p:cNvPr id="14" name="1129_1758365305">
            <a:hlinkClick r:id="" action="ppaction://media"/>
          </p:cNvPr>
          <p:cNvPicPr/>
          <p:nvPr>
            <a:videoFile r:link="rId6"/>
            <p:extLst>
              <p:ext uri="{DAA4B4D4-6D71-4841-9C94-3DE7FCFB9230}">
                <p14:media xmlns:p14="http://schemas.microsoft.com/office/powerpoint/2010/main" r:embed="rId7"/>
              </p:ext>
            </p:extLst>
            <p:custDataLst>
              <p:tags r:id="rId8"/>
            </p:custDataLst>
          </p:nvPr>
        </p:nvPicPr>
        <p:blipFill>
          <a:blip r:embed="rId9"/>
          <a:stretch>
            <a:fillRect/>
          </a:stretch>
        </p:blipFill>
        <p:spPr>
          <a:xfrm>
            <a:off x="990600" y="4838700"/>
            <a:ext cx="10002520" cy="4751705"/>
          </a:xfrm>
          <a:prstGeom prst="rect">
            <a:avLst/>
          </a:prstGeom>
        </p:spPr>
      </p:pic>
      <p:sp>
        <p:nvSpPr>
          <p:cNvPr id="16" name="文本占位符 2"/>
          <p:cNvSpPr>
            <a:spLocks noGrp="1"/>
          </p:cNvSpPr>
          <p:nvPr>
            <p:custDataLst>
              <p:tags r:id="rId10"/>
            </p:custDataLst>
          </p:nvPr>
        </p:nvSpPr>
        <p:spPr>
          <a:xfrm>
            <a:off x="1376045" y="2781300"/>
            <a:ext cx="9661525" cy="2224405"/>
          </a:xfrm>
          <a:prstGeom prst="rect">
            <a:avLst/>
          </a:prstGeom>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90204" pitchFamily="34" charset="0"/>
              <a:buChar char="•"/>
              <a:defRPr lang="zh-CN" altLang="en-US" sz="3000" b="1" kern="1200" dirty="0" smtClean="0">
                <a:solidFill>
                  <a:schemeClr val="tx1">
                    <a:lumMod val="75000"/>
                    <a:lumOff val="25000"/>
                  </a:schemeClr>
                </a:solidFill>
                <a:latin typeface="+mn-lt"/>
                <a:ea typeface="+mn-ea"/>
                <a:cs typeface="+mn-ea"/>
              </a:defRPr>
            </a:lvl1pPr>
            <a:lvl2pPr marL="742950" indent="-285750" algn="l" defTabSz="914400" rtl="0" eaLnBrk="1" latinLnBrk="0" hangingPunct="1">
              <a:spcBef>
                <a:spcPct val="20000"/>
              </a:spcBef>
              <a:buFont typeface="Arial" panose="020B060402020209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9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90204" pitchFamily="34" charset="0"/>
              <a:buChar char="•"/>
              <a:defRPr sz="2000" kern="1200">
                <a:solidFill>
                  <a:schemeClr val="tx1"/>
                </a:solidFill>
                <a:latin typeface="+mn-lt"/>
                <a:ea typeface="+mn-ea"/>
                <a:cs typeface="+mn-cs"/>
              </a:defRPr>
            </a:lvl9pPr>
          </a:lstStyle>
          <a:p>
            <a:pPr marL="0" indent="0">
              <a:lnSpc>
                <a:spcPct val="150000"/>
              </a:lnSpc>
              <a:spcBef>
                <a:spcPts val="20"/>
              </a:spcBef>
              <a:spcAft>
                <a:spcPts val="0"/>
              </a:spcAft>
              <a:buNone/>
            </a:pPr>
            <a:r>
              <a:rPr sz="2400">
                <a:latin typeface="Times New Roman" panose="02020503050405090304"/>
                <a:ea typeface="Times New Roman" panose="02020503050405090304"/>
                <a:sym typeface="+mn-ea"/>
              </a:rPr>
              <a:t>使用</a:t>
            </a:r>
            <a:r>
              <a:rPr lang="en-US" altLang="zh-CN" sz="2400">
                <a:latin typeface="Times New Roman" panose="02020503050405090304"/>
                <a:ea typeface="Times New Roman" panose="02020503050405090304"/>
                <a:sym typeface="+mn-ea"/>
              </a:rPr>
              <a:t>AnyLogic</a:t>
            </a:r>
            <a:r>
              <a:rPr sz="2400">
                <a:latin typeface="Times New Roman" panose="02020503050405090304"/>
                <a:ea typeface="宋体"/>
                <a:sym typeface="+mn-ea"/>
              </a:rPr>
              <a:t>仿真平台，模拟不同客流规模与火灾情景下的人员疏散过程，分析疏散时间、路径合理性等指标，从而验证所提方法的科学性与实用性。</a:t>
            </a:r>
            <a:endParaRPr lang="zh-CN" altLang="en-US" sz="2400" dirty="0">
              <a:sym typeface="Arial" panose="020B0604020202090204" pitchFamily="34" charset="0"/>
            </a:endParaRPr>
          </a:p>
        </p:txBody>
      </p:sp>
      <p:sp>
        <p:nvSpPr>
          <p:cNvPr id="17" name="文本框 16"/>
          <p:cNvSpPr txBox="1"/>
          <p:nvPr>
            <p:custDataLst>
              <p:tags r:id="rId11"/>
            </p:custDataLst>
          </p:nvPr>
        </p:nvSpPr>
        <p:spPr>
          <a:xfrm>
            <a:off x="762000" y="2857500"/>
            <a:ext cx="551180" cy="469265"/>
          </a:xfrm>
          <a:prstGeom prst="rect">
            <a:avLst/>
          </a:prstGeom>
          <a:solidFill>
            <a:srgbClr val="861B11"/>
          </a:solidFill>
        </p:spPr>
        <p:txBody>
          <a:bodyPr wrap="square" rtlCol="0">
            <a:noAutofit/>
          </a:bodyPr>
          <a:p>
            <a:pPr algn="ctr"/>
            <a:r>
              <a:rPr lang="en-US" altLang="zh-CN" sz="2800" dirty="0">
                <a:solidFill>
                  <a:schemeClr val="bg1"/>
                </a:solidFill>
                <a:latin typeface="思源宋体-超粗体" panose="02010600030101010101" charset="-122"/>
                <a:ea typeface="思源宋体-超粗体" panose="02010600030101010101" charset="-122"/>
              </a:rPr>
              <a:t>4</a:t>
            </a:r>
            <a:endParaRPr lang="en-US" altLang="zh-CN" sz="2800" dirty="0">
              <a:solidFill>
                <a:schemeClr val="bg1"/>
              </a:solidFill>
              <a:latin typeface="思源宋体-超粗体" panose="02010600030101010101" charset="-122"/>
              <a:ea typeface="思源宋体-超粗体" panose="02010600030101010101" charset="-122"/>
            </a:endParaRPr>
          </a:p>
        </p:txBody>
      </p:sp>
    </p:spTree>
  </p:cSld>
  <p:clrMapOvr>
    <a:masterClrMapping/>
  </p:clrMapOvr>
  <p:transition advTm="34133"/>
  <p:timing>
    <p:tnLst>
      <p:par>
        <p:cTn id="1" dur="indefinite" restart="never" nodeType="tmRoot">
          <p:childTnLst>
            <p:video fullScrn="0">
              <p:cMediaNode>
                <p:cTn id="2" fill="hold" display="1">
                  <p:stCondLst>
                    <p:cond delay="indefinite"/>
                  </p:stCondLst>
                </p:cTn>
                <p:tgtEl>
                  <p:spTgt spid="14"/>
                </p:tgtEl>
              </p:cMediaNode>
            </p:video>
            <p:seq concurrent="1" nextAc="seek">
              <p:cTn id="3" restart="whenNotActive" fill="hold" evtFilter="cancelBubble" nodeType="interactiveSeq">
                <p:stCondLst>
                  <p:cond evt="onClick" delay="0">
                    <p:tgtEl>
                      <p:spTgt spid="14"/>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additive="base">
                                        <p:cTn id="7" dur="1" fill="hold"/>
                                        <p:tgtEl>
                                          <p:spTgt spid="14"/>
                                        </p:tgtEl>
                                      </p:cBhvr>
                                    </p:cmd>
                                  </p:childTnLst>
                                </p:cTn>
                              </p:par>
                            </p:childTnLst>
                          </p:cTn>
                        </p:par>
                      </p:childTnLst>
                    </p:cTn>
                  </p:par>
                </p:childTnLst>
              </p:cTn>
              <p:nextCondLst>
                <p:cond evt="onClick" delay="0">
                  <p:tgtEl>
                    <p:spTgt spid="14"/>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Freeform 11"/>
          <p:cNvSpPr/>
          <p:nvPr>
            <p:custDataLst>
              <p:tags r:id="rId1"/>
            </p:custDataLst>
          </p:nvPr>
        </p:nvSpPr>
        <p:spPr>
          <a:xfrm rot="7308462">
            <a:off x="6253565" y="2857359"/>
            <a:ext cx="6391927" cy="4642137"/>
          </a:xfrm>
          <a:custGeom>
            <a:avLst/>
            <a:gdLst/>
            <a:ahLst/>
            <a:cxnLst/>
            <a:rect l="l" t="t" r="r" b="b"/>
            <a:pathLst>
              <a:path w="6391927" h="4642137">
                <a:moveTo>
                  <a:pt x="0" y="0"/>
                </a:moveTo>
                <a:lnTo>
                  <a:pt x="6391927" y="0"/>
                </a:lnTo>
                <a:lnTo>
                  <a:pt x="6391927" y="4642137"/>
                </a:lnTo>
                <a:lnTo>
                  <a:pt x="0" y="4642137"/>
                </a:lnTo>
                <a:lnTo>
                  <a:pt x="0" y="0"/>
                </a:lnTo>
                <a:close/>
              </a:path>
            </a:pathLst>
          </a:custGeom>
          <a:blipFill>
            <a:blip r:embed="rId2">
              <a:duotone>
                <a:schemeClr val="accent2">
                  <a:shade val="45000"/>
                  <a:satMod val="135000"/>
                </a:schemeClr>
                <a:prstClr val="white"/>
              </a:duotone>
              <a:extLst>
                <a:ext uri="{BEBA8EAE-BF5A-486C-A8C5-ECC9F3942E4B}">
                  <a14:imgProps xmlns:a14="http://schemas.microsoft.com/office/drawing/2010/main">
                    <a14:imgLayer r:embed="rId3">
                      <a14:imgEffect>
                        <a14:colorTemperature colorTemp="6568"/>
                      </a14:imgEffect>
                      <a14:imgEffect>
                        <a14:saturation sat="400000"/>
                      </a14:imgEffect>
                    </a14:imgLayer>
                  </a14:imgProps>
                </a:ext>
              </a:extLst>
            </a:blip>
            <a:stretch>
              <a:fillRect/>
            </a:stretch>
          </a:blipFill>
        </p:spPr>
        <p:txBody>
          <a:bodyPr/>
          <a:p>
            <a:endParaRPr lang="zh-CN" altLang="en-US" dirty="0">
              <a:solidFill>
                <a:srgbClr val="789AD2"/>
              </a:solidFill>
            </a:endParaRPr>
          </a:p>
        </p:txBody>
      </p:sp>
      <p:sp>
        <p:nvSpPr>
          <p:cNvPr id="6" name="标题 5"/>
          <p:cNvSpPr>
            <a:spLocks noGrp="1"/>
          </p:cNvSpPr>
          <p:nvPr>
            <p:ph type="title"/>
          </p:nvPr>
        </p:nvSpPr>
        <p:spPr/>
        <p:txBody>
          <a:bodyPr/>
          <a:lstStyle/>
          <a:p>
            <a:r>
              <a:rPr lang="en-US" altLang="zh-CN">
                <a:sym typeface="Arial" panose="020B0604020202090204" pitchFamily="34" charset="0"/>
              </a:rPr>
              <a:t>4.2 </a:t>
            </a:r>
            <a:r>
              <a:rPr>
                <a:sym typeface="Arial" panose="020B0604020202090204" pitchFamily="34" charset="0"/>
              </a:rPr>
              <a:t>可行性</a:t>
            </a:r>
            <a:r>
              <a:rPr>
                <a:sym typeface="Arial" panose="020B0604020202090204" pitchFamily="34" charset="0"/>
              </a:rPr>
              <a:t>研究</a:t>
            </a:r>
            <a:endParaRPr>
              <a:sym typeface="Arial" panose="020B0604020202090204" pitchFamily="34" charset="0"/>
            </a:endParaRPr>
          </a:p>
        </p:txBody>
      </p:sp>
      <p:sp>
        <p:nvSpPr>
          <p:cNvPr id="4" name="文本占位符 3"/>
          <p:cNvSpPr>
            <a:spLocks noGrp="1"/>
          </p:cNvSpPr>
          <p:nvPr>
            <p:ph type="body" sz="quarter" idx="10"/>
            <p:custDataLst>
              <p:tags r:id="rId4"/>
            </p:custDataLst>
          </p:nvPr>
        </p:nvSpPr>
        <p:spPr>
          <a:xfrm>
            <a:off x="762000" y="1416685"/>
            <a:ext cx="9709785" cy="1139190"/>
          </a:xfrm>
        </p:spPr>
        <p:txBody>
          <a:bodyPr>
            <a:normAutofit/>
          </a:bodyPr>
          <a:p>
            <a:r>
              <a:rPr>
                <a:latin typeface="Times New Roman" panose="02020503050405090304"/>
                <a:ea typeface="宋体"/>
                <a:sym typeface="+mn-ea"/>
              </a:rPr>
              <a:t>本研究在技术、数据和时间等方面具有较高可行性。</a:t>
            </a:r>
            <a:endParaRPr lang="zh-CN" altLang="en-US">
              <a:latin typeface="Times New Roman" panose="02020503050405090304"/>
              <a:ea typeface="宋体"/>
            </a:endParaRPr>
          </a:p>
          <a:p>
            <a:endParaRPr lang="zh-CN" altLang="en-US" dirty="0">
              <a:sym typeface="Arial" panose="020B0604020202090204" pitchFamily="34" charset="0"/>
            </a:endParaRPr>
          </a:p>
        </p:txBody>
      </p:sp>
      <p:sp>
        <p:nvSpPr>
          <p:cNvPr id="12" name="Freeform 10"/>
          <p:cNvSpPr/>
          <p:nvPr>
            <p:custDataLst>
              <p:tags r:id="rId5"/>
            </p:custDataLst>
          </p:nvPr>
        </p:nvSpPr>
        <p:spPr>
          <a:xfrm>
            <a:off x="5981406" y="3314700"/>
            <a:ext cx="6391927" cy="4642137"/>
          </a:xfrm>
          <a:custGeom>
            <a:avLst/>
            <a:gdLst/>
            <a:ahLst/>
            <a:cxnLst/>
            <a:rect l="l" t="t" r="r" b="b"/>
            <a:pathLst>
              <a:path w="6391927" h="4642137">
                <a:moveTo>
                  <a:pt x="0" y="0"/>
                </a:moveTo>
                <a:lnTo>
                  <a:pt x="6391928" y="0"/>
                </a:lnTo>
                <a:lnTo>
                  <a:pt x="6391928" y="4642137"/>
                </a:lnTo>
                <a:lnTo>
                  <a:pt x="0" y="4642137"/>
                </a:lnTo>
                <a:lnTo>
                  <a:pt x="0" y="0"/>
                </a:lnTo>
                <a:close/>
              </a:path>
            </a:pathLst>
          </a:custGeom>
          <a:blipFill>
            <a:blip r:embed="rId6">
              <a:duotone>
                <a:schemeClr val="accent2">
                  <a:shade val="45000"/>
                  <a:satMod val="135000"/>
                </a:schemeClr>
                <a:prstClr val="white"/>
              </a:duotone>
            </a:blip>
            <a:stretch>
              <a:fillRect/>
            </a:stretch>
          </a:blipFill>
        </p:spPr>
        <p:txBody>
          <a:bodyPr/>
          <a:p>
            <a:endParaRPr lang="zh-CN" altLang="en-US"/>
          </a:p>
        </p:txBody>
      </p:sp>
      <p:sp>
        <p:nvSpPr>
          <p:cNvPr id="22" name="Freeform 22"/>
          <p:cNvSpPr/>
          <p:nvPr>
            <p:custDataLst>
              <p:tags r:id="rId7"/>
            </p:custDataLst>
          </p:nvPr>
        </p:nvSpPr>
        <p:spPr>
          <a:xfrm>
            <a:off x="1236666" y="2617110"/>
            <a:ext cx="534927" cy="518879"/>
          </a:xfrm>
          <a:custGeom>
            <a:avLst/>
            <a:gdLst/>
            <a:ahLst/>
            <a:cxnLst/>
            <a:rect l="l" t="t" r="r" b="b"/>
            <a:pathLst>
              <a:path w="534927" h="518879">
                <a:moveTo>
                  <a:pt x="0" y="0"/>
                </a:moveTo>
                <a:lnTo>
                  <a:pt x="534927" y="0"/>
                </a:lnTo>
                <a:lnTo>
                  <a:pt x="534927" y="518880"/>
                </a:lnTo>
                <a:lnTo>
                  <a:pt x="0" y="518880"/>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p>
            <a:endParaRPr lang="zh-CN" altLang="en-US"/>
          </a:p>
        </p:txBody>
      </p:sp>
      <p:sp>
        <p:nvSpPr>
          <p:cNvPr id="23" name="TextBox 23"/>
          <p:cNvSpPr txBox="1"/>
          <p:nvPr>
            <p:custDataLst>
              <p:tags r:id="rId10"/>
            </p:custDataLst>
          </p:nvPr>
        </p:nvSpPr>
        <p:spPr>
          <a:xfrm>
            <a:off x="1866265" y="2635250"/>
            <a:ext cx="2631440" cy="559435"/>
          </a:xfrm>
          <a:prstGeom prst="rect">
            <a:avLst/>
          </a:prstGeom>
        </p:spPr>
        <p:txBody>
          <a:bodyPr lIns="0" tIns="0" rIns="0" bIns="0" rtlCol="0" anchor="t">
            <a:noAutofit/>
          </a:bodyPr>
          <a:p>
            <a:pPr algn="ctr">
              <a:lnSpc>
                <a:spcPts val="3640"/>
              </a:lnSpc>
            </a:pPr>
            <a:r>
              <a:rPr lang="zh-CN" altLang="en-US" sz="2600" b="1">
                <a:latin typeface="Times New Roman" panose="02020503050405090304"/>
                <a:ea typeface="宋体"/>
                <a:sym typeface="+mn-ea"/>
              </a:rPr>
              <a:t>技术层面</a:t>
            </a:r>
            <a:endParaRPr lang="zh-CN" altLang="en-US" sz="2600" b="1" dirty="0">
              <a:solidFill>
                <a:srgbClr val="000000"/>
              </a:solidFill>
              <a:latin typeface="思源宋体-超粗体" panose="02010600030101010101" charset="-122"/>
              <a:ea typeface="思源宋体-超粗体" panose="02010600030101010101" charset="-122"/>
              <a:cs typeface="思源黑体 2 Bold"/>
              <a:sym typeface="思源黑体 2 Bold"/>
            </a:endParaRPr>
          </a:p>
        </p:txBody>
      </p:sp>
      <p:sp>
        <p:nvSpPr>
          <p:cNvPr id="24" name="TextBox 24"/>
          <p:cNvSpPr txBox="1"/>
          <p:nvPr>
            <p:custDataLst>
              <p:tags r:id="rId11"/>
            </p:custDataLst>
          </p:nvPr>
        </p:nvSpPr>
        <p:spPr>
          <a:xfrm>
            <a:off x="1029335" y="3346450"/>
            <a:ext cx="4872355" cy="2342515"/>
          </a:xfrm>
          <a:prstGeom prst="rect">
            <a:avLst/>
          </a:prstGeom>
        </p:spPr>
        <p:txBody>
          <a:bodyPr wrap="square" lIns="0" tIns="0" rIns="0" bIns="0" rtlCol="0" anchor="t">
            <a:noAutofit/>
          </a:bodyPr>
          <a:p>
            <a:pPr marL="215900" lvl="1" indent="0" algn="l">
              <a:lnSpc>
                <a:spcPts val="3000"/>
              </a:lnSpc>
              <a:buFont typeface="Arial" panose="020B0604020202090204"/>
              <a:buNone/>
            </a:pPr>
            <a:r>
              <a:rPr lang="en-US" altLang="zh-CN" sz="2000">
                <a:latin typeface="Times New Roman" panose="02020503050405090304"/>
                <a:ea typeface="Times New Roman" panose="02020503050405090304"/>
                <a:sym typeface="+mn-ea"/>
              </a:rPr>
              <a:t>PyroSim</a:t>
            </a:r>
            <a:r>
              <a:rPr lang="zh-CN" altLang="en-US" sz="2000">
                <a:latin typeface="Times New Roman" panose="02020503050405090304"/>
                <a:ea typeface="宋体"/>
                <a:sym typeface="+mn-ea"/>
              </a:rPr>
              <a:t>与</a:t>
            </a:r>
            <a:r>
              <a:rPr lang="en-US" altLang="zh-CN" sz="2000">
                <a:latin typeface="Times New Roman" panose="02020503050405090304"/>
                <a:ea typeface="Times New Roman" panose="02020503050405090304"/>
                <a:sym typeface="+mn-ea"/>
              </a:rPr>
              <a:t>AnyLogic</a:t>
            </a:r>
            <a:r>
              <a:rPr lang="zh-CN" altLang="en-US" sz="2000">
                <a:latin typeface="Times New Roman" panose="02020503050405090304"/>
                <a:ea typeface="宋体"/>
                <a:sym typeface="+mn-ea"/>
              </a:rPr>
              <a:t>均为成熟的仿真平台，能够分别模拟火灾场景与人群疏散行为，两者之间的数据接口可通过</a:t>
            </a:r>
            <a:r>
              <a:rPr lang="en-US" altLang="zh-CN" sz="2000">
                <a:latin typeface="Times New Roman" panose="02020503050405090304"/>
                <a:ea typeface="Times New Roman" panose="02020503050405090304"/>
                <a:sym typeface="+mn-ea"/>
              </a:rPr>
              <a:t>CSV</a:t>
            </a:r>
            <a:r>
              <a:rPr lang="zh-CN" altLang="en-US" sz="2000">
                <a:latin typeface="Times New Roman" panose="02020503050405090304"/>
                <a:ea typeface="宋体"/>
                <a:sym typeface="+mn-ea"/>
              </a:rPr>
              <a:t>等格式实现有效衔接；改进的动态</a:t>
            </a:r>
            <a:r>
              <a:rPr lang="en-US" altLang="zh-CN" sz="2000">
                <a:latin typeface="Times New Roman" panose="02020503050405090304"/>
                <a:ea typeface="Times New Roman" panose="02020503050405090304"/>
                <a:sym typeface="+mn-ea"/>
              </a:rPr>
              <a:t>A*</a:t>
            </a:r>
            <a:r>
              <a:rPr lang="zh-CN" altLang="en-US" sz="2000">
                <a:latin typeface="Times New Roman" panose="02020503050405090304"/>
                <a:ea typeface="宋体"/>
                <a:sym typeface="+mn-ea"/>
              </a:rPr>
              <a:t>算法仅在经典框架基础上引入风险因子与时间更新机制，算法复杂度可控，易于实现。</a:t>
            </a:r>
            <a:endParaRPr lang="en-US" sz="2000" dirty="0">
              <a:solidFill>
                <a:srgbClr val="000000"/>
              </a:solidFill>
              <a:latin typeface="思源宋体 2"/>
              <a:ea typeface="思源宋体 2"/>
              <a:cs typeface="思源宋体 2"/>
              <a:sym typeface="思源宋体 2"/>
            </a:endParaRPr>
          </a:p>
        </p:txBody>
      </p:sp>
      <p:sp>
        <p:nvSpPr>
          <p:cNvPr id="25" name="TextBox 25"/>
          <p:cNvSpPr txBox="1"/>
          <p:nvPr>
            <p:custDataLst>
              <p:tags r:id="rId12"/>
            </p:custDataLst>
          </p:nvPr>
        </p:nvSpPr>
        <p:spPr>
          <a:xfrm>
            <a:off x="1806575" y="6522085"/>
            <a:ext cx="3827145" cy="392430"/>
          </a:xfrm>
          <a:prstGeom prst="rect">
            <a:avLst/>
          </a:prstGeom>
        </p:spPr>
        <p:txBody>
          <a:bodyPr lIns="0" tIns="0" rIns="0" bIns="0" rtlCol="0" anchor="t">
            <a:noAutofit/>
          </a:bodyPr>
          <a:p>
            <a:pPr algn="ctr">
              <a:lnSpc>
                <a:spcPts val="3640"/>
              </a:lnSpc>
            </a:pPr>
            <a:r>
              <a:rPr lang="zh-CN" altLang="en-US" sz="2600" b="1">
                <a:latin typeface="Times New Roman" panose="02020503050405090304"/>
                <a:ea typeface="宋体"/>
                <a:sym typeface="+mn-ea"/>
              </a:rPr>
              <a:t>经济与时间方面</a:t>
            </a:r>
            <a:endParaRPr lang="zh-CN" altLang="en-US" sz="2600" b="1" dirty="0">
              <a:solidFill>
                <a:srgbClr val="000000"/>
              </a:solidFill>
              <a:latin typeface="Times New Roman" panose="02020503050405090304"/>
              <a:ea typeface="宋体"/>
              <a:cs typeface="思源黑体 2 Bold"/>
              <a:sym typeface="+mn-ea"/>
            </a:endParaRPr>
          </a:p>
        </p:txBody>
      </p:sp>
      <p:sp>
        <p:nvSpPr>
          <p:cNvPr id="15" name="TextBox 26"/>
          <p:cNvSpPr txBox="1"/>
          <p:nvPr>
            <p:custDataLst>
              <p:tags r:id="rId13"/>
            </p:custDataLst>
          </p:nvPr>
        </p:nvSpPr>
        <p:spPr>
          <a:xfrm>
            <a:off x="940435" y="7195185"/>
            <a:ext cx="4954905" cy="1153795"/>
          </a:xfrm>
          <a:prstGeom prst="rect">
            <a:avLst/>
          </a:prstGeom>
        </p:spPr>
        <p:txBody>
          <a:bodyPr wrap="square" lIns="0" tIns="0" rIns="0" bIns="0" rtlCol="0" anchor="t">
            <a:spAutoFit/>
          </a:bodyPr>
          <a:p>
            <a:pPr marL="215900" lvl="1" indent="0" algn="just">
              <a:lnSpc>
                <a:spcPts val="3000"/>
              </a:lnSpc>
              <a:buFont typeface="Arial" panose="020B0604020202090204"/>
              <a:buNone/>
            </a:pPr>
            <a:r>
              <a:rPr lang="zh-CN" altLang="en-US" sz="2000">
                <a:latin typeface="Times New Roman" panose="02020503050405090304"/>
                <a:ea typeface="宋体"/>
                <a:sym typeface="+mn-ea"/>
              </a:rPr>
              <a:t>本研究主要成本为软件许可与计算资源，在</a:t>
            </a:r>
            <a:r>
              <a:rPr lang="en-US" altLang="zh-CN" sz="2000">
                <a:latin typeface="Times New Roman" panose="02020503050405090304"/>
                <a:ea typeface="Times New Roman" panose="02020503050405090304"/>
                <a:sym typeface="+mn-ea"/>
              </a:rPr>
              <a:t>15</a:t>
            </a:r>
            <a:r>
              <a:rPr lang="zh-CN" altLang="en-US" sz="2000">
                <a:latin typeface="Times New Roman" panose="02020503050405090304"/>
                <a:ea typeface="宋体"/>
                <a:sym typeface="+mn-ea"/>
              </a:rPr>
              <a:t>周左右即可完成数据采集、模拟构建、算法实现与仿真验证等工作。</a:t>
            </a:r>
            <a:endParaRPr lang="en-US" sz="2000" dirty="0">
              <a:solidFill>
                <a:srgbClr val="000000"/>
              </a:solidFill>
              <a:latin typeface="思源宋体 2"/>
              <a:ea typeface="思源宋体 2"/>
              <a:cs typeface="思源宋体 2"/>
              <a:sym typeface="思源宋体 2"/>
            </a:endParaRPr>
          </a:p>
        </p:txBody>
      </p:sp>
      <p:sp>
        <p:nvSpPr>
          <p:cNvPr id="16" name="Freeform 27"/>
          <p:cNvSpPr/>
          <p:nvPr>
            <p:custDataLst>
              <p:tags r:id="rId14"/>
            </p:custDataLst>
          </p:nvPr>
        </p:nvSpPr>
        <p:spPr>
          <a:xfrm>
            <a:off x="1253200" y="6412194"/>
            <a:ext cx="518394" cy="494418"/>
          </a:xfrm>
          <a:custGeom>
            <a:avLst/>
            <a:gdLst/>
            <a:ahLst/>
            <a:cxnLst/>
            <a:rect l="l" t="t" r="r" b="b"/>
            <a:pathLst>
              <a:path w="518394" h="494418">
                <a:moveTo>
                  <a:pt x="0" y="0"/>
                </a:moveTo>
                <a:lnTo>
                  <a:pt x="518393" y="0"/>
                </a:lnTo>
                <a:lnTo>
                  <a:pt x="518393" y="494418"/>
                </a:lnTo>
                <a:lnTo>
                  <a:pt x="0" y="494418"/>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p>
            <a:endParaRPr lang="zh-CN" altLang="en-US"/>
          </a:p>
        </p:txBody>
      </p:sp>
      <p:sp>
        <p:nvSpPr>
          <p:cNvPr id="17" name="TextBox 28"/>
          <p:cNvSpPr txBox="1"/>
          <p:nvPr>
            <p:custDataLst>
              <p:tags r:id="rId17"/>
            </p:custDataLst>
          </p:nvPr>
        </p:nvSpPr>
        <p:spPr>
          <a:xfrm>
            <a:off x="13494385" y="2635250"/>
            <a:ext cx="3350260" cy="413385"/>
          </a:xfrm>
          <a:prstGeom prst="rect">
            <a:avLst/>
          </a:prstGeom>
        </p:spPr>
        <p:txBody>
          <a:bodyPr lIns="0" tIns="0" rIns="0" bIns="0" rtlCol="0" anchor="t">
            <a:noAutofit/>
          </a:bodyPr>
          <a:p>
            <a:pPr algn="ctr">
              <a:lnSpc>
                <a:spcPts val="3640"/>
              </a:lnSpc>
            </a:pPr>
            <a:r>
              <a:rPr lang="zh-CN" altLang="en-US" sz="2600" b="1">
                <a:latin typeface="Times New Roman" panose="02020503050405090304"/>
                <a:ea typeface="宋体"/>
                <a:sym typeface="+mn-ea"/>
              </a:rPr>
              <a:t>数据层面</a:t>
            </a:r>
            <a:endParaRPr lang="zh-CN" altLang="en-US" sz="2600" b="1">
              <a:latin typeface="Times New Roman" panose="02020503050405090304"/>
              <a:ea typeface="宋体"/>
              <a:sym typeface="+mn-ea"/>
            </a:endParaRPr>
          </a:p>
        </p:txBody>
      </p:sp>
      <p:sp>
        <p:nvSpPr>
          <p:cNvPr id="18" name="TextBox 29"/>
          <p:cNvSpPr txBox="1"/>
          <p:nvPr>
            <p:custDataLst>
              <p:tags r:id="rId18"/>
            </p:custDataLst>
          </p:nvPr>
        </p:nvSpPr>
        <p:spPr>
          <a:xfrm>
            <a:off x="12720955" y="3399790"/>
            <a:ext cx="4836795" cy="1107440"/>
          </a:xfrm>
          <a:prstGeom prst="rect">
            <a:avLst/>
          </a:prstGeom>
        </p:spPr>
        <p:txBody>
          <a:bodyPr wrap="square" lIns="0" tIns="0" rIns="0" bIns="0" rtlCol="0" anchor="t">
            <a:spAutoFit/>
          </a:bodyPr>
          <a:p>
            <a:pPr marL="0" indent="304800" algn="just" defTabSz="266700">
              <a:lnSpc>
                <a:spcPct val="120000"/>
              </a:lnSpc>
              <a:spcBef>
                <a:spcPct val="0"/>
              </a:spcBef>
              <a:spcAft>
                <a:spcPct val="0"/>
              </a:spcAft>
            </a:pPr>
            <a:r>
              <a:rPr lang="zh-CN" altLang="en-US" sz="2000">
                <a:latin typeface="Times New Roman" panose="02020503050405090304"/>
                <a:ea typeface="宋体"/>
                <a:sym typeface="+mn-ea"/>
              </a:rPr>
              <a:t>地</a:t>
            </a:r>
            <a:r>
              <a:rPr lang="zh-CN" altLang="en-US" sz="2000">
                <a:latin typeface="宋体"/>
                <a:ea typeface="宋体"/>
                <a:sym typeface="+mn-ea"/>
              </a:rPr>
              <a:t>点建筑图纸与通风信息通常可通过实地调研和网络公开信息获取。</a:t>
            </a:r>
            <a:r>
              <a:rPr lang="zh-CN" altLang="en-US" sz="2000">
                <a:latin typeface="Times New Roman" panose="02020503050405090304"/>
                <a:ea typeface="宋体"/>
                <a:sym typeface="+mn-ea"/>
              </a:rPr>
              <a:t>若存在不确定性，可通过参数敏感性分析降低影响。</a:t>
            </a:r>
            <a:endParaRPr lang="en-US" sz="2000" dirty="0">
              <a:solidFill>
                <a:srgbClr val="000000"/>
              </a:solidFill>
              <a:latin typeface="思源宋体 2"/>
              <a:ea typeface="思源宋体 2"/>
              <a:cs typeface="思源宋体 2"/>
              <a:sym typeface="思源宋体 2"/>
            </a:endParaRPr>
          </a:p>
        </p:txBody>
      </p:sp>
      <p:sp>
        <p:nvSpPr>
          <p:cNvPr id="19" name="Freeform 30"/>
          <p:cNvSpPr/>
          <p:nvPr>
            <p:custDataLst>
              <p:tags r:id="rId19"/>
            </p:custDataLst>
          </p:nvPr>
        </p:nvSpPr>
        <p:spPr>
          <a:xfrm>
            <a:off x="12891125" y="2617110"/>
            <a:ext cx="518394" cy="494418"/>
          </a:xfrm>
          <a:custGeom>
            <a:avLst/>
            <a:gdLst/>
            <a:ahLst/>
            <a:cxnLst/>
            <a:rect l="l" t="t" r="r" b="b"/>
            <a:pathLst>
              <a:path w="518394" h="494418">
                <a:moveTo>
                  <a:pt x="0" y="0"/>
                </a:moveTo>
                <a:lnTo>
                  <a:pt x="518394" y="0"/>
                </a:lnTo>
                <a:lnTo>
                  <a:pt x="518394" y="494419"/>
                </a:lnTo>
                <a:lnTo>
                  <a:pt x="0" y="494419"/>
                </a:lnTo>
                <a:lnTo>
                  <a:pt x="0" y="0"/>
                </a:lnTo>
                <a:close/>
              </a:path>
            </a:pathLst>
          </a:custGeom>
          <a:blipFill>
            <a:blip r:embed="rId15">
              <a:extLst>
                <a:ext uri="{96DAC541-7B7A-43D3-8B79-37D633B846F1}">
                  <asvg:svgBlip xmlns:asvg="http://schemas.microsoft.com/office/drawing/2016/SVG/main" r:embed="rId16"/>
                </a:ext>
              </a:extLst>
            </a:blip>
            <a:stretch>
              <a:fillRect/>
            </a:stretch>
          </a:blipFill>
        </p:spPr>
        <p:txBody>
          <a:bodyPr/>
          <a:p>
            <a:endParaRPr lang="zh-CN" altLang="en-US"/>
          </a:p>
        </p:txBody>
      </p:sp>
      <p:sp>
        <p:nvSpPr>
          <p:cNvPr id="20" name="Freeform 31"/>
          <p:cNvSpPr/>
          <p:nvPr>
            <p:custDataLst>
              <p:tags r:id="rId20"/>
            </p:custDataLst>
          </p:nvPr>
        </p:nvSpPr>
        <p:spPr>
          <a:xfrm>
            <a:off x="12874592" y="6399964"/>
            <a:ext cx="534927" cy="518879"/>
          </a:xfrm>
          <a:custGeom>
            <a:avLst/>
            <a:gdLst/>
            <a:ahLst/>
            <a:cxnLst/>
            <a:rect l="l" t="t" r="r" b="b"/>
            <a:pathLst>
              <a:path w="534927" h="518879">
                <a:moveTo>
                  <a:pt x="0" y="0"/>
                </a:moveTo>
                <a:lnTo>
                  <a:pt x="534927" y="0"/>
                </a:lnTo>
                <a:lnTo>
                  <a:pt x="534927" y="518879"/>
                </a:lnTo>
                <a:lnTo>
                  <a:pt x="0" y="51887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p>
            <a:endParaRPr lang="zh-CN" altLang="en-US"/>
          </a:p>
        </p:txBody>
      </p:sp>
      <p:sp>
        <p:nvSpPr>
          <p:cNvPr id="21" name="TextBox 32"/>
          <p:cNvSpPr txBox="1"/>
          <p:nvPr>
            <p:custDataLst>
              <p:tags r:id="rId21"/>
            </p:custDataLst>
          </p:nvPr>
        </p:nvSpPr>
        <p:spPr>
          <a:xfrm>
            <a:off x="13265150" y="6482080"/>
            <a:ext cx="4354195" cy="410210"/>
          </a:xfrm>
          <a:prstGeom prst="rect">
            <a:avLst/>
          </a:prstGeom>
        </p:spPr>
        <p:txBody>
          <a:bodyPr wrap="square" lIns="0" tIns="0" rIns="0" bIns="0" rtlCol="0" anchor="t">
            <a:noAutofit/>
          </a:bodyPr>
          <a:p>
            <a:pPr algn="ctr">
              <a:lnSpc>
                <a:spcPts val="3640"/>
              </a:lnSpc>
            </a:pPr>
            <a:r>
              <a:rPr lang="zh-CN" altLang="en-US" sz="2600" b="1">
                <a:latin typeface="Times New Roman" panose="02020503050405090304"/>
                <a:ea typeface="宋体"/>
                <a:sym typeface="+mn-ea"/>
              </a:rPr>
              <a:t>风险方面</a:t>
            </a:r>
            <a:endParaRPr lang="zh-CN" altLang="en-US" sz="2600" b="1" dirty="0">
              <a:solidFill>
                <a:srgbClr val="000000"/>
              </a:solidFill>
              <a:latin typeface="思源宋体-超粗体" panose="02010600030101010101" charset="-122"/>
              <a:ea typeface="思源宋体-超粗体" panose="02010600030101010101" charset="-122"/>
              <a:cs typeface="思源黑体 2 Bold"/>
              <a:sym typeface="思源黑体 2 Bold"/>
            </a:endParaRPr>
          </a:p>
        </p:txBody>
      </p:sp>
      <p:sp>
        <p:nvSpPr>
          <p:cNvPr id="38" name="TextBox 33"/>
          <p:cNvSpPr txBox="1"/>
          <p:nvPr>
            <p:custDataLst>
              <p:tags r:id="rId22"/>
            </p:custDataLst>
          </p:nvPr>
        </p:nvSpPr>
        <p:spPr>
          <a:xfrm>
            <a:off x="12661900" y="7195185"/>
            <a:ext cx="4807585" cy="1538605"/>
          </a:xfrm>
          <a:prstGeom prst="rect">
            <a:avLst/>
          </a:prstGeom>
        </p:spPr>
        <p:txBody>
          <a:bodyPr wrap="square" lIns="0" tIns="0" rIns="0" bIns="0" rtlCol="0" anchor="t">
            <a:spAutoFit/>
          </a:bodyPr>
          <a:p>
            <a:pPr marL="215900" lvl="1" indent="0" algn="just">
              <a:lnSpc>
                <a:spcPts val="3000"/>
              </a:lnSpc>
              <a:buFont typeface="Arial" panose="020B0604020202090204"/>
              <a:buNone/>
            </a:pPr>
            <a:r>
              <a:rPr lang="zh-CN" altLang="en-US" sz="2000">
                <a:latin typeface="Times New Roman" panose="02020503050405090304"/>
                <a:ea typeface="宋体"/>
                <a:sym typeface="+mn-ea"/>
              </a:rPr>
              <a:t>火灾模拟参数与人员行为建模可能与实际存在差异，但可通过多场景对比和文献校验予以弥补。</a:t>
            </a:r>
            <a:endParaRPr lang="zh-CN" altLang="en-US" sz="2000">
              <a:latin typeface="Times New Roman" panose="02020503050405090304"/>
              <a:ea typeface="宋体"/>
            </a:endParaRPr>
          </a:p>
          <a:p>
            <a:pPr marL="215900" lvl="1" indent="0" algn="just">
              <a:lnSpc>
                <a:spcPts val="3000"/>
              </a:lnSpc>
              <a:buFont typeface="Arial" panose="020B0604020202090204"/>
              <a:buNone/>
            </a:pPr>
            <a:endParaRPr lang="en-US" sz="2000" dirty="0">
              <a:solidFill>
                <a:srgbClr val="000000"/>
              </a:solidFill>
              <a:latin typeface="思源宋体 2"/>
              <a:ea typeface="思源宋体 2"/>
              <a:cs typeface="思源宋体 2"/>
              <a:sym typeface="思源宋体 2"/>
            </a:endParaRPr>
          </a:p>
        </p:txBody>
      </p:sp>
      <p:pic>
        <p:nvPicPr>
          <p:cNvPr id="48" name="图片 47"/>
          <p:cNvPicPr>
            <a:picLocks noChangeAspect="1"/>
          </p:cNvPicPr>
          <p:nvPr>
            <p:custDataLst>
              <p:tags r:id="rId23"/>
            </p:custDataLst>
          </p:nvPr>
        </p:nvPicPr>
        <p:blipFill>
          <a:blip r:embed="rId24" cstate="print">
            <a:extLst>
              <a:ext uri="{28A0092B-C50C-407E-A947-70E740481C1C}">
                <a14:useLocalDpi xmlns:a14="http://schemas.microsoft.com/office/drawing/2010/main" val="0"/>
              </a:ext>
            </a:extLst>
          </a:blip>
          <a:srcRect l="8181" r="50753"/>
          <a:stretch>
            <a:fillRect/>
          </a:stretch>
        </p:blipFill>
        <p:spPr>
          <a:xfrm>
            <a:off x="7590093" y="2476500"/>
            <a:ext cx="3656715" cy="5914058"/>
          </a:xfrm>
          <a:prstGeom prst="roundRect">
            <a:avLst>
              <a:gd name="adj" fmla="val 50000"/>
            </a:avLst>
          </a:prstGeom>
          <a:ln w="28575">
            <a:solidFill>
              <a:srgbClr val="861B11"/>
            </a:solidFill>
          </a:ln>
        </p:spPr>
      </p:pic>
    </p:spTree>
  </p:cSld>
  <p:clrMapOvr>
    <a:masterClrMapping/>
  </p:clrMapOvr>
  <p:transition advTm="6168"/>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文本框 22"/>
          <p:cNvSpPr txBox="1"/>
          <p:nvPr/>
        </p:nvSpPr>
        <p:spPr>
          <a:xfrm>
            <a:off x="2317736" y="2910812"/>
            <a:ext cx="3673568" cy="9220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5400" b="0" i="0" u="none" strike="noStrike" kern="1200" cap="none" spc="150" normalizeH="0" baseline="0" noProof="0" dirty="0">
                <a:ln>
                  <a:noFill/>
                </a:ln>
                <a:solidFill>
                  <a:srgbClr val="595959"/>
                </a:solidFill>
                <a:effectLst/>
                <a:uLnTx/>
                <a:uFillTx/>
                <a:latin typeface="Arial" panose="020B0604020202090204" pitchFamily="34" charset="0"/>
                <a:ea typeface="微软雅黑" charset="-122"/>
                <a:cs typeface="+mn-ea"/>
                <a:sym typeface="Arial" panose="020B0604020202090204" pitchFamily="34" charset="0"/>
              </a:rPr>
              <a:t>PART 05</a:t>
            </a:r>
            <a:endParaRPr kumimoji="0" lang="zh-CN" altLang="en-US" sz="5400" b="0" i="0" u="none" strike="noStrike" kern="1200" cap="none" spc="150" normalizeH="0" baseline="0" noProof="0" dirty="0">
              <a:ln>
                <a:noFill/>
              </a:ln>
              <a:solidFill>
                <a:srgbClr val="595959"/>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24" name="文本框 23"/>
          <p:cNvSpPr txBox="1"/>
          <p:nvPr/>
        </p:nvSpPr>
        <p:spPr>
          <a:xfrm>
            <a:off x="2272665" y="4442460"/>
            <a:ext cx="6985635" cy="1393825"/>
          </a:xfrm>
          <a:prstGeom prst="rect">
            <a:avLst/>
          </a:prstGeom>
          <a:noFill/>
        </p:spPr>
        <p:txBody>
          <a:bodyPr wrap="square" rtlCol="0">
            <a:no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8100" b="1" spc="30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rPr>
              <a:t>论文结构框架</a:t>
            </a:r>
            <a:endParaRPr lang="zh-CN" altLang="en-US" sz="8100" dirty="0">
              <a:sym typeface="Arial" panose="020B0604020202090204" pitchFamily="34" charset="0"/>
            </a:endParaRPr>
          </a:p>
          <a:p>
            <a:pPr marL="0" marR="0" lvl="0" indent="0" algn="dist" defTabSz="914400" rtl="0" eaLnBrk="1" fontAlgn="auto" latinLnBrk="0" hangingPunct="1">
              <a:lnSpc>
                <a:spcPct val="100000"/>
              </a:lnSpc>
              <a:spcBef>
                <a:spcPts val="0"/>
              </a:spcBef>
              <a:spcAft>
                <a:spcPts val="0"/>
              </a:spcAft>
              <a:buClrTx/>
              <a:buSzTx/>
              <a:buFontTx/>
              <a:buNone/>
              <a:defRPr/>
            </a:pPr>
            <a:endParaRPr lang="zh-CN" altLang="en-US" sz="8100" dirty="0">
              <a:sym typeface="Arial" panose="020B0604020202090204" pitchFamily="34" charset="0"/>
            </a:endParaRPr>
          </a:p>
          <a:p>
            <a:pPr marL="0" marR="0" lvl="0" indent="0" algn="dist" defTabSz="914400" rtl="0" eaLnBrk="1" fontAlgn="auto" latinLnBrk="0" hangingPunct="1">
              <a:lnSpc>
                <a:spcPct val="100000"/>
              </a:lnSpc>
              <a:spcBef>
                <a:spcPts val="0"/>
              </a:spcBef>
              <a:spcAft>
                <a:spcPts val="0"/>
              </a:spcAft>
              <a:buClrTx/>
              <a:buSzTx/>
              <a:buFontTx/>
              <a:buNone/>
              <a:defRPr/>
            </a:pPr>
            <a:endParaRPr kumimoji="0" lang="zh-CN" altLang="en-US" sz="8100" b="1" i="0" u="none" strike="noStrike" kern="1200" cap="none" spc="300" normalizeH="0" baseline="0" noProof="0" dirty="0">
              <a:ln>
                <a:noFill/>
              </a:ln>
              <a:solidFill>
                <a:srgbClr val="861B11"/>
              </a:solidFill>
              <a:effectLst/>
              <a:uLnTx/>
              <a:uFillTx/>
              <a:latin typeface="Arial" panose="020B0604020202090204" pitchFamily="34" charset="0"/>
              <a:ea typeface="微软雅黑" charset="-122"/>
              <a:cs typeface="+mn-ea"/>
              <a:sym typeface="Arial" panose="020B0604020202090204" pitchFamily="34" charset="0"/>
            </a:endParaRPr>
          </a:p>
        </p:txBody>
      </p:sp>
      <p:sp>
        <p:nvSpPr>
          <p:cNvPr id="70" name="矩形 69"/>
          <p:cNvSpPr/>
          <p:nvPr/>
        </p:nvSpPr>
        <p:spPr>
          <a:xfrm>
            <a:off x="2450009" y="4169864"/>
            <a:ext cx="997917" cy="68580"/>
          </a:xfrm>
          <a:prstGeom prst="rect">
            <a:avLst/>
          </a:prstGeom>
          <a:solidFill>
            <a:srgbClr val="861B11"/>
          </a:solidFill>
          <a:ln>
            <a:noFill/>
          </a:ln>
        </p:spPr>
        <p:txBody>
          <a:bodyPr vert="horz" wrap="square" lIns="137160" tIns="68580" rIns="137160" bIns="68580" numCol="1" anchor="t" anchorCtr="0" compatLnSpc="1"/>
          <a:lstStyle/>
          <a:p>
            <a:endParaRPr lang="zh-CN" altLang="en-US" sz="2700">
              <a:solidFill>
                <a:srgbClr val="FF0000"/>
              </a:solidFill>
              <a:latin typeface="Arial" panose="020B0604020202090204" pitchFamily="34" charset="0"/>
              <a:ea typeface="微软雅黑" charset="-122"/>
              <a:cs typeface="+mn-ea"/>
              <a:sym typeface="Arial" panose="020B0604020202090204" pitchFamily="34" charset="0"/>
            </a:endParaRPr>
          </a:p>
        </p:txBody>
      </p:sp>
      <p:sp>
        <p:nvSpPr>
          <p:cNvPr id="72" name="矩形 71"/>
          <p:cNvSpPr/>
          <p:nvPr/>
        </p:nvSpPr>
        <p:spPr>
          <a:xfrm>
            <a:off x="2272665" y="5866130"/>
            <a:ext cx="10861040" cy="737235"/>
          </a:xfrm>
          <a:prstGeom prst="rect">
            <a:avLst/>
          </a:prstGeom>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rPr>
              <a:t>Thesis </a:t>
            </a:r>
            <a:r>
              <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rPr>
              <a:t>structure framework</a:t>
            </a:r>
            <a:endParaRPr kumimoji="0" lang="en-US" altLang="zh-CN" sz="4200" b="0" i="0" u="none" strike="noStrike" kern="1200" cap="none" spc="0" normalizeH="0" baseline="0" noProof="0" dirty="0">
              <a:ln>
                <a:noFill/>
              </a:ln>
              <a:solidFill>
                <a:schemeClr val="bg1">
                  <a:lumMod val="50000"/>
                </a:schemeClr>
              </a:solidFill>
              <a:effectLst/>
              <a:uLnTx/>
              <a:uFillTx/>
              <a:latin typeface="Arial" panose="020B0604020202090204" pitchFamily="34" charset="0"/>
              <a:ea typeface="微软雅黑" charset="-122"/>
              <a:cs typeface="+mn-ea"/>
              <a:sym typeface="Arial" panose="020B0604020202090204" pitchFamily="34" charset="0"/>
            </a:endParaRPr>
          </a:p>
        </p:txBody>
      </p:sp>
      <p:pic>
        <p:nvPicPr>
          <p:cNvPr id="2" name="图片 1"/>
          <p:cNvPicPr>
            <a:picLocks noChangeAspect="1"/>
          </p:cNvPicPr>
          <p:nvPr>
            <p:custDataLst>
              <p:tags r:id="rId1"/>
            </p:custDataLst>
          </p:nvPr>
        </p:nvPicPr>
        <p:blipFill>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66000"/>
                    </a14:imgEffect>
                  </a14:imgLayer>
                </a14:imgProps>
              </a:ext>
              <a:ext uri="{28A0092B-C50C-407E-A947-70E740481C1C}">
                <a14:useLocalDpi xmlns:a14="http://schemas.microsoft.com/office/drawing/2010/main" val="0"/>
              </a:ext>
            </a:extLst>
          </a:blip>
          <a:stretch>
            <a:fillRect/>
          </a:stretch>
        </p:blipFill>
        <p:spPr>
          <a:xfrm>
            <a:off x="14984145" y="-495207"/>
            <a:ext cx="2618234" cy="2618816"/>
          </a:xfrm>
          <a:prstGeom prst="rect">
            <a:avLst/>
          </a:prstGeom>
        </p:spPr>
      </p:pic>
      <p:sp>
        <p:nvSpPr>
          <p:cNvPr id="4" name="Freeform 5"/>
          <p:cNvSpPr/>
          <p:nvPr>
            <p:custDataLst>
              <p:tags r:id="rId4"/>
            </p:custDataLst>
          </p:nvPr>
        </p:nvSpPr>
        <p:spPr>
          <a:xfrm rot="862994">
            <a:off x="-8112194" y="7634155"/>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5">
              <a:alphaModFix amt="19999"/>
              <a:duotone>
                <a:schemeClr val="accent2">
                  <a:shade val="45000"/>
                  <a:satMod val="135000"/>
                </a:schemeClr>
                <a:prstClr val="white"/>
              </a:duotone>
            </a:blip>
            <a:stretch>
              <a:fillRect/>
            </a:stretch>
          </a:blipFill>
          <a:ln cap="sq">
            <a:noFill/>
            <a:prstDash val="solid"/>
            <a:miter/>
          </a:ln>
        </p:spPr>
        <p:txBody>
          <a:bodyPr/>
          <a:p>
            <a:endParaRPr lang="zh-CN" altLang="en-US"/>
          </a:p>
        </p:txBody>
      </p:sp>
      <p:sp>
        <p:nvSpPr>
          <p:cNvPr id="5" name="Freeform 4"/>
          <p:cNvSpPr/>
          <p:nvPr>
            <p:custDataLst>
              <p:tags r:id="rId6"/>
            </p:custDataLst>
          </p:nvPr>
        </p:nvSpPr>
        <p:spPr>
          <a:xfrm rot="-1204851" flipV="1">
            <a:off x="5745427" y="8194128"/>
            <a:ext cx="13996660" cy="4723021"/>
          </a:xfrm>
          <a:custGeom>
            <a:avLst/>
            <a:gdLst/>
            <a:ahLst/>
            <a:cxnLst/>
            <a:rect l="l" t="t" r="r" b="b"/>
            <a:pathLst>
              <a:path w="13996660" h="4723021">
                <a:moveTo>
                  <a:pt x="0" y="4723021"/>
                </a:moveTo>
                <a:lnTo>
                  <a:pt x="13996660" y="4723021"/>
                </a:lnTo>
                <a:lnTo>
                  <a:pt x="13996660" y="0"/>
                </a:lnTo>
                <a:lnTo>
                  <a:pt x="0" y="0"/>
                </a:lnTo>
                <a:lnTo>
                  <a:pt x="0" y="4723021"/>
                </a:lnTo>
                <a:close/>
              </a:path>
            </a:pathLst>
          </a:custGeom>
          <a:blipFill>
            <a:blip r:embed="rId5">
              <a:alphaModFix amt="18000"/>
              <a:duotone>
                <a:schemeClr val="accent2">
                  <a:shade val="45000"/>
                  <a:satMod val="135000"/>
                </a:schemeClr>
                <a:prstClr val="white"/>
              </a:duotone>
            </a:blip>
            <a:stretch>
              <a:fillRect r="-24401"/>
            </a:stretch>
          </a:blipFill>
          <a:ln cap="sq">
            <a:noFill/>
            <a:prstDash val="solid"/>
            <a:miter/>
          </a:ln>
        </p:spPr>
        <p:txBody>
          <a:bodyPr/>
          <a:p>
            <a:endParaRPr lang="zh-CN" altLang="en-US"/>
          </a:p>
        </p:txBody>
      </p:sp>
    </p:spTree>
  </p:cSld>
  <p:clrMapOvr>
    <a:masterClrMapping/>
  </p:clrMapOvr>
  <p:transition advTm="841"/>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title"/>
          </p:nvPr>
        </p:nvSpPr>
        <p:spPr/>
        <p:txBody>
          <a:bodyPr/>
          <a:lstStyle/>
          <a:p>
            <a:r>
              <a:rPr>
                <a:sym typeface="Arial" panose="020B0604020202090204" pitchFamily="34" charset="0"/>
              </a:rPr>
              <a:t>三级</a:t>
            </a:r>
            <a:r>
              <a:rPr>
                <a:sym typeface="Arial" panose="020B0604020202090204" pitchFamily="34" charset="0"/>
              </a:rPr>
              <a:t>大纲</a:t>
            </a:r>
            <a:endParaRPr>
              <a:sym typeface="Arial" panose="020B0604020202090204" pitchFamily="34" charset="0"/>
            </a:endParaRPr>
          </a:p>
        </p:txBody>
      </p:sp>
      <p:sp>
        <p:nvSpPr>
          <p:cNvPr id="3" name="文本框 2"/>
          <p:cNvSpPr txBox="1"/>
          <p:nvPr/>
        </p:nvSpPr>
        <p:spPr>
          <a:xfrm>
            <a:off x="793115" y="1333500"/>
            <a:ext cx="5080000" cy="7919720"/>
          </a:xfrm>
          <a:prstGeom prst="rect">
            <a:avLst/>
          </a:prstGeom>
        </p:spPr>
        <p:txBody>
          <a:bodyPr>
            <a:spAutoFit/>
          </a:bodyPr>
          <a:p>
            <a:pPr marL="0" indent="0" algn="just" defTabSz="266700">
              <a:lnSpc>
                <a:spcPct val="120000"/>
              </a:lnSpc>
              <a:spcBef>
                <a:spcPct val="0"/>
              </a:spcBef>
              <a:spcAft>
                <a:spcPct val="0"/>
              </a:spcAft>
            </a:pPr>
            <a:r>
              <a:rPr lang="en-US" altLang="zh-CN" sz="2400" b="1">
                <a:latin typeface="Times New Roman" panose="02020503050405090304"/>
                <a:ea typeface="Times New Roman" panose="02020503050405090304"/>
              </a:rPr>
              <a:t>1</a:t>
            </a:r>
            <a:r>
              <a:rPr lang="zh-CN" altLang="en-US" sz="2400" b="1">
                <a:latin typeface="宋体"/>
                <a:ea typeface="宋体"/>
              </a:rPr>
              <a:t>引言</a:t>
            </a:r>
            <a:endParaRPr lang="zh-CN" altLang="en-US" sz="2400" b="1">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rPr>
              <a:t>1.1</a:t>
            </a:r>
            <a:r>
              <a:rPr lang="zh-CN" altLang="en-US" sz="2400">
                <a:latin typeface="宋体"/>
                <a:ea typeface="宋体"/>
              </a:rPr>
              <a:t>研究背景及意义</a:t>
            </a:r>
            <a:endParaRPr lang="zh-CN" altLang="en-US" sz="24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rPr>
              <a:t>1.2</a:t>
            </a:r>
            <a:r>
              <a:rPr lang="zh-CN" altLang="en-US" sz="2400">
                <a:latin typeface="宋体"/>
                <a:ea typeface="宋体"/>
              </a:rPr>
              <a:t>国内外研究现状</a:t>
            </a:r>
            <a:endParaRPr lang="zh-CN" altLang="en-US" sz="24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rPr>
              <a:t>1.2.1</a:t>
            </a:r>
            <a:r>
              <a:rPr lang="zh-CN" altLang="en-US" sz="2000">
                <a:latin typeface="宋体"/>
                <a:ea typeface="宋体"/>
              </a:rPr>
              <a:t>火灾模拟研究现状</a:t>
            </a:r>
            <a:endParaRPr lang="zh-CN" altLang="en-US" sz="20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rPr>
              <a:t>1.2.2</a:t>
            </a:r>
            <a:r>
              <a:rPr lang="zh-CN" altLang="en-US" sz="2000">
                <a:latin typeface="宋体"/>
                <a:ea typeface="宋体"/>
              </a:rPr>
              <a:t>地铁疏散研究现状</a:t>
            </a:r>
            <a:endParaRPr lang="zh-CN" altLang="en-US" sz="20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rPr>
              <a:t>1.2.3</a:t>
            </a:r>
            <a:r>
              <a:rPr lang="zh-CN" altLang="en-US" sz="2000">
                <a:latin typeface="宋体"/>
                <a:ea typeface="宋体"/>
              </a:rPr>
              <a:t>路径规划算法的研究</a:t>
            </a:r>
            <a:endParaRPr lang="zh-CN" altLang="en-US" sz="20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rPr>
              <a:t>1.2.4</a:t>
            </a:r>
            <a:r>
              <a:rPr lang="zh-CN" altLang="en-US" sz="2000">
                <a:latin typeface="宋体"/>
                <a:ea typeface="宋体"/>
              </a:rPr>
              <a:t>文献评述</a:t>
            </a:r>
            <a:endParaRPr lang="zh-CN" altLang="en-US" sz="20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rPr>
              <a:t>1.3</a:t>
            </a:r>
            <a:r>
              <a:rPr lang="zh-CN" altLang="en-US" sz="2400">
                <a:latin typeface="宋体"/>
                <a:ea typeface="宋体"/>
              </a:rPr>
              <a:t>论文主要研究内容</a:t>
            </a:r>
            <a:endParaRPr lang="zh-CN" altLang="en-US" sz="24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rPr>
              <a:t>1.4</a:t>
            </a:r>
            <a:r>
              <a:rPr lang="zh-CN" altLang="en-US" sz="2400">
                <a:latin typeface="宋体"/>
                <a:ea typeface="宋体"/>
              </a:rPr>
              <a:t>技术路线</a:t>
            </a:r>
            <a:endParaRPr lang="zh-CN" altLang="en-US" sz="2400">
              <a:latin typeface="宋体"/>
              <a:ea typeface="宋体"/>
            </a:endParaRPr>
          </a:p>
          <a:p>
            <a:pPr marL="0" indent="0" algn="just" defTabSz="266700">
              <a:lnSpc>
                <a:spcPct val="120000"/>
              </a:lnSpc>
              <a:spcBef>
                <a:spcPct val="0"/>
              </a:spcBef>
              <a:spcAft>
                <a:spcPct val="0"/>
              </a:spcAft>
            </a:pPr>
            <a:r>
              <a:rPr lang="en-US" altLang="zh-CN" sz="2400" b="1">
                <a:latin typeface="Times New Roman" panose="02020503050405090304"/>
                <a:ea typeface="Times New Roman" panose="02020503050405090304"/>
              </a:rPr>
              <a:t>2</a:t>
            </a:r>
            <a:r>
              <a:rPr lang="zh-CN" altLang="en-US" sz="2400" b="1">
                <a:latin typeface="宋体"/>
                <a:ea typeface="宋体"/>
              </a:rPr>
              <a:t>地铁站火灾安全疏散路径优化理论</a:t>
            </a:r>
            <a:endParaRPr lang="zh-CN" altLang="en-US" sz="2400" b="1">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rPr>
              <a:t>2.1</a:t>
            </a:r>
            <a:r>
              <a:rPr lang="zh-CN" altLang="en-US" sz="2400">
                <a:latin typeface="宋体"/>
                <a:ea typeface="宋体"/>
              </a:rPr>
              <a:t>地铁火灾概述</a:t>
            </a:r>
            <a:endParaRPr lang="zh-CN" altLang="en-US" sz="24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rPr>
              <a:t>2.1.1</a:t>
            </a:r>
            <a:r>
              <a:rPr lang="zh-CN" altLang="en-US" sz="2000">
                <a:latin typeface="宋体"/>
                <a:ea typeface="宋体"/>
              </a:rPr>
              <a:t>地铁空间构造</a:t>
            </a:r>
            <a:endParaRPr lang="zh-CN" altLang="en-US" sz="20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rPr>
              <a:t>2.1.2</a:t>
            </a:r>
            <a:r>
              <a:rPr lang="zh-CN" altLang="en-US" sz="2000">
                <a:latin typeface="宋体"/>
                <a:ea typeface="宋体"/>
              </a:rPr>
              <a:t>火灾伤害主要因素</a:t>
            </a:r>
            <a:endParaRPr lang="zh-CN" altLang="en-US" sz="20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rPr>
              <a:t>2.2</a:t>
            </a:r>
            <a:r>
              <a:rPr lang="zh-CN" altLang="en-US" sz="2400">
                <a:latin typeface="宋体"/>
                <a:ea typeface="宋体"/>
              </a:rPr>
              <a:t>地铁火灾安全疏散理论</a:t>
            </a:r>
            <a:endParaRPr lang="zh-CN" altLang="en-US" sz="24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rPr>
              <a:t>2.2.1</a:t>
            </a:r>
            <a:r>
              <a:rPr lang="zh-CN" altLang="en-US" sz="2000">
                <a:latin typeface="宋体"/>
                <a:ea typeface="宋体"/>
              </a:rPr>
              <a:t>安全疏散基本理论及时间理论</a:t>
            </a:r>
            <a:endParaRPr lang="zh-CN" altLang="en-US" sz="20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rPr>
              <a:t>2.2.2</a:t>
            </a:r>
            <a:r>
              <a:rPr lang="zh-CN" altLang="en-US" sz="2000">
                <a:latin typeface="宋体"/>
                <a:ea typeface="宋体"/>
              </a:rPr>
              <a:t>影响人员疏散的关键因素</a:t>
            </a:r>
            <a:endParaRPr lang="zh-CN" altLang="en-US" sz="20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rPr>
              <a:t>2.3</a:t>
            </a:r>
            <a:r>
              <a:rPr lang="zh-CN" altLang="en-US" sz="2400">
                <a:latin typeface="宋体"/>
                <a:ea typeface="宋体"/>
              </a:rPr>
              <a:t>路径寻优算法</a:t>
            </a:r>
            <a:endParaRPr lang="zh-CN" altLang="en-US" sz="24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rPr>
              <a:t>2.4</a:t>
            </a:r>
            <a:r>
              <a:rPr lang="zh-CN" altLang="en-US" sz="2400">
                <a:latin typeface="宋体"/>
                <a:ea typeface="宋体"/>
              </a:rPr>
              <a:t>本章小结</a:t>
            </a:r>
            <a:endParaRPr lang="zh-CN" altLang="en-US" sz="2400">
              <a:latin typeface="宋体"/>
              <a:ea typeface="宋体"/>
            </a:endParaRPr>
          </a:p>
          <a:p>
            <a:pPr marL="0" indent="0" algn="just" defTabSz="266700">
              <a:lnSpc>
                <a:spcPct val="120000"/>
              </a:lnSpc>
              <a:spcBef>
                <a:spcPct val="0"/>
              </a:spcBef>
              <a:spcAft>
                <a:spcPct val="0"/>
              </a:spcAft>
            </a:pPr>
            <a:endParaRPr lang="zh-CN" altLang="en-US" sz="2400">
              <a:latin typeface="宋体"/>
              <a:ea typeface="宋体"/>
            </a:endParaRPr>
          </a:p>
        </p:txBody>
      </p:sp>
      <p:sp>
        <p:nvSpPr>
          <p:cNvPr id="5" name="文本框 4"/>
          <p:cNvSpPr txBox="1"/>
          <p:nvPr/>
        </p:nvSpPr>
        <p:spPr>
          <a:xfrm>
            <a:off x="6400800" y="1301115"/>
            <a:ext cx="5823585" cy="8289290"/>
          </a:xfrm>
          <a:prstGeom prst="rect">
            <a:avLst/>
          </a:prstGeom>
          <a:noFill/>
        </p:spPr>
        <p:txBody>
          <a:bodyPr wrap="square" rtlCol="0" anchor="t">
            <a:spAutoFit/>
          </a:bodyPr>
          <a:p>
            <a:pPr marL="0" indent="0" algn="just" defTabSz="266700">
              <a:lnSpc>
                <a:spcPct val="120000"/>
              </a:lnSpc>
              <a:spcBef>
                <a:spcPct val="0"/>
              </a:spcBef>
              <a:spcAft>
                <a:spcPct val="0"/>
              </a:spcAft>
            </a:pPr>
            <a:r>
              <a:rPr lang="en-US" altLang="zh-CN" sz="2400" b="1">
                <a:latin typeface="Times New Roman" panose="02020503050405090304"/>
                <a:ea typeface="Times New Roman" panose="02020503050405090304"/>
                <a:sym typeface="+mn-ea"/>
              </a:rPr>
              <a:t>3</a:t>
            </a:r>
            <a:r>
              <a:rPr lang="zh-CN" altLang="en-US" sz="2400" b="1">
                <a:latin typeface="宋体"/>
                <a:ea typeface="宋体"/>
                <a:sym typeface="+mn-ea"/>
              </a:rPr>
              <a:t>地铁站的</a:t>
            </a:r>
            <a:r>
              <a:rPr lang="en-US" altLang="zh-CN" sz="2400" b="1">
                <a:latin typeface="Times New Roman" panose="02020503050405090304"/>
                <a:ea typeface="Times New Roman" panose="02020503050405090304"/>
                <a:sym typeface="+mn-ea"/>
              </a:rPr>
              <a:t>Pyrosim</a:t>
            </a:r>
            <a:r>
              <a:rPr lang="zh-CN" altLang="en-US" sz="2400" b="1">
                <a:latin typeface="宋体"/>
                <a:ea typeface="宋体"/>
                <a:sym typeface="+mn-ea"/>
              </a:rPr>
              <a:t>火灾模拟</a:t>
            </a:r>
            <a:endParaRPr lang="zh-CN" altLang="en-US" sz="2400" b="1">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3.1</a:t>
            </a:r>
            <a:r>
              <a:rPr lang="zh-CN" altLang="en-US" sz="2400">
                <a:latin typeface="宋体"/>
                <a:ea typeface="宋体"/>
                <a:sym typeface="+mn-ea"/>
              </a:rPr>
              <a:t>地铁站建模及参数设置</a:t>
            </a:r>
            <a:endParaRPr lang="zh-CN" altLang="en-US" sz="24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3.2</a:t>
            </a:r>
            <a:r>
              <a:rPr lang="zh-CN" altLang="en-US" sz="2400">
                <a:latin typeface="宋体"/>
                <a:ea typeface="宋体"/>
                <a:sym typeface="+mn-ea"/>
              </a:rPr>
              <a:t>地铁站建模及参数设置</a:t>
            </a:r>
            <a:endParaRPr lang="zh-CN" altLang="en-US" sz="24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3.3Pyrosim</a:t>
            </a:r>
            <a:r>
              <a:rPr lang="zh-CN" altLang="en-US" sz="2400">
                <a:latin typeface="宋体"/>
                <a:ea typeface="宋体"/>
                <a:sym typeface="+mn-ea"/>
              </a:rPr>
              <a:t>仿真结果及分析</a:t>
            </a:r>
            <a:endParaRPr lang="zh-CN" altLang="en-US" sz="24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sym typeface="+mn-ea"/>
              </a:rPr>
              <a:t>3.3.1</a:t>
            </a:r>
            <a:r>
              <a:rPr lang="zh-CN" altLang="en-US" sz="2000">
                <a:latin typeface="宋体"/>
                <a:ea typeface="宋体"/>
                <a:sym typeface="+mn-ea"/>
              </a:rPr>
              <a:t>火灾烟气仿真</a:t>
            </a:r>
            <a:endParaRPr lang="zh-CN" altLang="en-US" sz="20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sym typeface="+mn-ea"/>
              </a:rPr>
              <a:t>3.3.2</a:t>
            </a:r>
            <a:r>
              <a:rPr lang="zh-CN" altLang="en-US" sz="2000">
                <a:latin typeface="宋体"/>
                <a:ea typeface="宋体"/>
                <a:sym typeface="+mn-ea"/>
              </a:rPr>
              <a:t>火灾能见度仿真</a:t>
            </a:r>
            <a:endParaRPr lang="zh-CN" altLang="en-US" sz="20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sym typeface="+mn-ea"/>
              </a:rPr>
              <a:t>3.3.3</a:t>
            </a:r>
            <a:r>
              <a:rPr lang="zh-CN" altLang="en-US" sz="2000">
                <a:latin typeface="宋体"/>
                <a:ea typeface="宋体"/>
                <a:sym typeface="+mn-ea"/>
              </a:rPr>
              <a:t>火灾温度仿真</a:t>
            </a:r>
            <a:endParaRPr lang="zh-CN" altLang="en-US" sz="20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sym typeface="+mn-ea"/>
              </a:rPr>
              <a:t>3.3.4</a:t>
            </a:r>
            <a:r>
              <a:rPr lang="zh-CN" altLang="en-US" sz="2000">
                <a:latin typeface="宋体"/>
                <a:ea typeface="宋体"/>
                <a:sym typeface="+mn-ea"/>
              </a:rPr>
              <a:t>火灾一氧化碳浓度仿真</a:t>
            </a:r>
            <a:endParaRPr lang="zh-CN" altLang="en-US" sz="20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3.4</a:t>
            </a:r>
            <a:r>
              <a:rPr lang="zh-CN" altLang="en-US" sz="2400">
                <a:latin typeface="宋体"/>
                <a:ea typeface="宋体"/>
                <a:sym typeface="+mn-ea"/>
              </a:rPr>
              <a:t>本章小结</a:t>
            </a:r>
            <a:endParaRPr lang="zh-CN" altLang="en-US" sz="2400">
              <a:latin typeface="宋体"/>
              <a:ea typeface="宋体"/>
            </a:endParaRPr>
          </a:p>
          <a:p>
            <a:pPr marL="0" indent="0" algn="just" defTabSz="266700">
              <a:lnSpc>
                <a:spcPct val="120000"/>
              </a:lnSpc>
              <a:spcBef>
                <a:spcPct val="0"/>
              </a:spcBef>
              <a:spcAft>
                <a:spcPct val="0"/>
              </a:spcAft>
            </a:pPr>
            <a:r>
              <a:rPr lang="en-US" altLang="zh-CN" sz="2400" b="1">
                <a:latin typeface="Times New Roman" panose="02020503050405090304"/>
                <a:ea typeface="Times New Roman" panose="02020503050405090304"/>
                <a:sym typeface="+mn-ea"/>
              </a:rPr>
              <a:t>4</a:t>
            </a:r>
            <a:r>
              <a:rPr lang="zh-CN" altLang="en-US" sz="2400" b="1">
                <a:latin typeface="宋体"/>
                <a:ea typeface="宋体"/>
                <a:sym typeface="+mn-ea"/>
              </a:rPr>
              <a:t>基于改进</a:t>
            </a:r>
            <a:r>
              <a:rPr lang="en-US" altLang="zh-CN" sz="2400" b="1">
                <a:latin typeface="Times New Roman" panose="02020503050405090304"/>
                <a:ea typeface="Times New Roman" panose="02020503050405090304"/>
                <a:sym typeface="+mn-ea"/>
              </a:rPr>
              <a:t>A-star</a:t>
            </a:r>
            <a:r>
              <a:rPr lang="zh-CN" altLang="en-US" sz="2400" b="1">
                <a:latin typeface="宋体"/>
                <a:ea typeface="宋体"/>
                <a:sym typeface="+mn-ea"/>
              </a:rPr>
              <a:t>算法的火灾疏散路径优化</a:t>
            </a:r>
            <a:endParaRPr lang="zh-CN" altLang="en-US" sz="2400" b="1">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4.1</a:t>
            </a:r>
            <a:r>
              <a:rPr lang="zh-CN" altLang="en-US" sz="2400">
                <a:latin typeface="宋体"/>
                <a:ea typeface="宋体"/>
                <a:sym typeface="+mn-ea"/>
              </a:rPr>
              <a:t>地铁站火灾风险建模</a:t>
            </a:r>
            <a:endParaRPr lang="zh-CN" altLang="en-US" sz="24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4.2A-star</a:t>
            </a:r>
            <a:r>
              <a:rPr lang="zh-CN" altLang="en-US" sz="2400">
                <a:latin typeface="宋体"/>
                <a:ea typeface="宋体"/>
                <a:sym typeface="+mn-ea"/>
              </a:rPr>
              <a:t>算法的改进</a:t>
            </a:r>
            <a:endParaRPr lang="zh-CN" altLang="en-US" sz="24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sym typeface="+mn-ea"/>
              </a:rPr>
              <a:t>4.2.1</a:t>
            </a:r>
            <a:r>
              <a:rPr lang="zh-CN" altLang="en-US" sz="2000">
                <a:latin typeface="宋体"/>
                <a:ea typeface="宋体"/>
                <a:sym typeface="+mn-ea"/>
              </a:rPr>
              <a:t>传统</a:t>
            </a:r>
            <a:r>
              <a:rPr lang="en-US" altLang="zh-CN" sz="2000">
                <a:latin typeface="Times New Roman" panose="02020503050405090304"/>
                <a:ea typeface="Times New Roman" panose="02020503050405090304"/>
                <a:sym typeface="+mn-ea"/>
              </a:rPr>
              <a:t>A-star</a:t>
            </a:r>
            <a:r>
              <a:rPr lang="zh-CN" altLang="en-US" sz="2000">
                <a:latin typeface="宋体"/>
                <a:ea typeface="宋体"/>
                <a:sym typeface="+mn-ea"/>
              </a:rPr>
              <a:t>算法简介</a:t>
            </a:r>
            <a:endParaRPr lang="zh-CN" altLang="en-US" sz="20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sym typeface="+mn-ea"/>
              </a:rPr>
              <a:t>4.2.2</a:t>
            </a:r>
            <a:r>
              <a:rPr lang="zh-CN" altLang="en-US" sz="2000">
                <a:latin typeface="宋体"/>
                <a:ea typeface="宋体"/>
                <a:sym typeface="+mn-ea"/>
              </a:rPr>
              <a:t>考虑火灾风险的</a:t>
            </a:r>
            <a:r>
              <a:rPr lang="en-US" altLang="zh-CN" sz="2000">
                <a:latin typeface="Times New Roman" panose="02020503050405090304"/>
                <a:ea typeface="Times New Roman" panose="02020503050405090304"/>
                <a:sym typeface="+mn-ea"/>
              </a:rPr>
              <a:t>A-star</a:t>
            </a:r>
            <a:r>
              <a:rPr lang="zh-CN" altLang="en-US" sz="2000">
                <a:latin typeface="宋体"/>
                <a:ea typeface="宋体"/>
                <a:sym typeface="+mn-ea"/>
              </a:rPr>
              <a:t>算法</a:t>
            </a:r>
            <a:endParaRPr lang="zh-CN" altLang="en-US" sz="20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sym typeface="+mn-ea"/>
              </a:rPr>
              <a:t>4.2.3</a:t>
            </a:r>
            <a:r>
              <a:rPr lang="zh-CN" altLang="en-US" sz="2000">
                <a:latin typeface="宋体"/>
                <a:ea typeface="宋体"/>
                <a:sym typeface="+mn-ea"/>
              </a:rPr>
              <a:t>考虑火灾风险的动态规划</a:t>
            </a:r>
            <a:r>
              <a:rPr lang="en-US" altLang="zh-CN" sz="2000">
                <a:latin typeface="Times New Roman" panose="02020503050405090304"/>
                <a:ea typeface="Times New Roman" panose="02020503050405090304"/>
                <a:sym typeface="+mn-ea"/>
              </a:rPr>
              <a:t>A-star</a:t>
            </a:r>
            <a:r>
              <a:rPr lang="zh-CN" altLang="en-US" sz="2000">
                <a:latin typeface="宋体"/>
                <a:ea typeface="宋体"/>
                <a:sym typeface="+mn-ea"/>
              </a:rPr>
              <a:t>算法</a:t>
            </a:r>
            <a:endParaRPr lang="zh-CN" altLang="en-US" sz="20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4.3</a:t>
            </a:r>
            <a:r>
              <a:rPr lang="zh-CN" altLang="en-US" sz="2400">
                <a:latin typeface="宋体"/>
                <a:ea typeface="宋体"/>
                <a:sym typeface="+mn-ea"/>
              </a:rPr>
              <a:t>基于</a:t>
            </a:r>
            <a:r>
              <a:rPr lang="en-US" altLang="zh-CN" sz="2400">
                <a:latin typeface="Times New Roman" panose="02020503050405090304"/>
                <a:ea typeface="Times New Roman" panose="02020503050405090304"/>
                <a:sym typeface="+mn-ea"/>
              </a:rPr>
              <a:t>MATLAB</a:t>
            </a:r>
            <a:r>
              <a:rPr lang="zh-CN" altLang="en-US" sz="2400">
                <a:latin typeface="宋体"/>
                <a:ea typeface="宋体"/>
                <a:sym typeface="+mn-ea"/>
              </a:rPr>
              <a:t>的改进</a:t>
            </a:r>
            <a:r>
              <a:rPr lang="en-US" altLang="zh-CN" sz="2400">
                <a:latin typeface="Times New Roman" panose="02020503050405090304"/>
                <a:ea typeface="Times New Roman" panose="02020503050405090304"/>
                <a:sym typeface="+mn-ea"/>
              </a:rPr>
              <a:t>A-star</a:t>
            </a:r>
            <a:r>
              <a:rPr lang="zh-CN" altLang="en-US" sz="2400">
                <a:latin typeface="宋体"/>
                <a:ea typeface="宋体"/>
                <a:sym typeface="+mn-ea"/>
              </a:rPr>
              <a:t>算法实现</a:t>
            </a:r>
            <a:endParaRPr lang="zh-CN" altLang="en-US" sz="24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4.4</a:t>
            </a:r>
            <a:r>
              <a:rPr lang="zh-CN" altLang="en-US" sz="2400">
                <a:latin typeface="宋体"/>
                <a:ea typeface="宋体"/>
                <a:sym typeface="+mn-ea"/>
              </a:rPr>
              <a:t>改进</a:t>
            </a:r>
            <a:r>
              <a:rPr lang="en-US" altLang="zh-CN" sz="2400">
                <a:latin typeface="Times New Roman" panose="02020503050405090304"/>
                <a:ea typeface="Times New Roman" panose="02020503050405090304"/>
                <a:sym typeface="+mn-ea"/>
              </a:rPr>
              <a:t>A-star</a:t>
            </a:r>
            <a:r>
              <a:rPr lang="zh-CN" altLang="en-US" sz="2400">
                <a:latin typeface="宋体"/>
                <a:ea typeface="宋体"/>
                <a:sym typeface="+mn-ea"/>
              </a:rPr>
              <a:t>算法的实例应用</a:t>
            </a:r>
            <a:endParaRPr lang="zh-CN" altLang="en-US" sz="24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sym typeface="+mn-ea"/>
              </a:rPr>
              <a:t>4.4.1</a:t>
            </a:r>
            <a:r>
              <a:rPr lang="zh-CN" altLang="en-US" sz="2000">
                <a:latin typeface="宋体"/>
                <a:ea typeface="宋体"/>
                <a:sym typeface="+mn-ea"/>
              </a:rPr>
              <a:t>地铁站疏散网络模型的建立</a:t>
            </a:r>
            <a:endParaRPr lang="zh-CN" altLang="en-US" sz="20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sym typeface="+mn-ea"/>
              </a:rPr>
              <a:t>4.4.2</a:t>
            </a:r>
            <a:r>
              <a:rPr lang="zh-CN" altLang="en-US" sz="2000">
                <a:latin typeface="宋体"/>
                <a:ea typeface="宋体"/>
                <a:sym typeface="+mn-ea"/>
              </a:rPr>
              <a:t>不同火灾情景下的最优路径</a:t>
            </a:r>
            <a:endParaRPr lang="zh-CN" altLang="en-US" sz="20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4.5</a:t>
            </a:r>
            <a:r>
              <a:rPr lang="zh-CN" altLang="en-US" sz="2400">
                <a:latin typeface="宋体"/>
                <a:ea typeface="宋体"/>
                <a:sym typeface="+mn-ea"/>
              </a:rPr>
              <a:t>本章小结</a:t>
            </a:r>
            <a:endParaRPr lang="zh-CN" altLang="en-US" sz="2400">
              <a:latin typeface="宋体"/>
              <a:ea typeface="宋体"/>
              <a:sym typeface="+mn-ea"/>
            </a:endParaRPr>
          </a:p>
        </p:txBody>
      </p:sp>
      <p:sp>
        <p:nvSpPr>
          <p:cNvPr id="7" name="文本框 6"/>
          <p:cNvSpPr txBox="1"/>
          <p:nvPr/>
        </p:nvSpPr>
        <p:spPr>
          <a:xfrm>
            <a:off x="12649200" y="1257300"/>
            <a:ext cx="5256530" cy="4744085"/>
          </a:xfrm>
          <a:prstGeom prst="rect">
            <a:avLst/>
          </a:prstGeom>
          <a:noFill/>
        </p:spPr>
        <p:txBody>
          <a:bodyPr wrap="square" rtlCol="0" anchor="t">
            <a:spAutoFit/>
          </a:bodyPr>
          <a:p>
            <a:pPr marL="0" indent="0" algn="just" defTabSz="266700">
              <a:lnSpc>
                <a:spcPct val="120000"/>
              </a:lnSpc>
              <a:spcBef>
                <a:spcPct val="0"/>
              </a:spcBef>
              <a:spcAft>
                <a:spcPct val="0"/>
              </a:spcAft>
            </a:pPr>
            <a:r>
              <a:rPr lang="en-US" altLang="zh-CN" sz="2400" b="1">
                <a:latin typeface="Times New Roman" panose="02020503050405090304"/>
                <a:ea typeface="Times New Roman" panose="02020503050405090304"/>
                <a:sym typeface="+mn-ea"/>
              </a:rPr>
              <a:t>5</a:t>
            </a:r>
            <a:r>
              <a:rPr lang="zh-CN" altLang="en-US" sz="2400" b="1">
                <a:latin typeface="宋体"/>
                <a:ea typeface="宋体"/>
                <a:sym typeface="+mn-ea"/>
              </a:rPr>
              <a:t>火灾情景下的</a:t>
            </a:r>
            <a:r>
              <a:rPr lang="en-US" altLang="zh-CN" sz="2400" b="1">
                <a:latin typeface="Times New Roman" panose="02020503050405090304"/>
                <a:ea typeface="Times New Roman" panose="02020503050405090304"/>
                <a:sym typeface="+mn-ea"/>
              </a:rPr>
              <a:t>Anylogic</a:t>
            </a:r>
            <a:r>
              <a:rPr lang="zh-CN" altLang="en-US" sz="2400" b="1">
                <a:latin typeface="宋体"/>
                <a:ea typeface="宋体"/>
                <a:sym typeface="+mn-ea"/>
              </a:rPr>
              <a:t>人员疏散仿真</a:t>
            </a:r>
            <a:endParaRPr lang="zh-CN" altLang="en-US" sz="2400" b="1">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5.1</a:t>
            </a:r>
            <a:r>
              <a:rPr lang="zh-CN" altLang="en-US" sz="2400">
                <a:latin typeface="宋体"/>
                <a:ea typeface="宋体"/>
                <a:sym typeface="+mn-ea"/>
              </a:rPr>
              <a:t>构建西直门地铁站疏散模型</a:t>
            </a:r>
            <a:endParaRPr lang="zh-CN" altLang="en-US" sz="24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sym typeface="+mn-ea"/>
              </a:rPr>
              <a:t>5.1.1</a:t>
            </a:r>
            <a:r>
              <a:rPr lang="zh-CN" altLang="en-US" sz="2000">
                <a:latin typeface="宋体"/>
                <a:ea typeface="宋体"/>
                <a:sym typeface="+mn-ea"/>
              </a:rPr>
              <a:t>基础模型及流程图构建</a:t>
            </a:r>
            <a:endParaRPr lang="zh-CN" altLang="en-US" sz="2000">
              <a:latin typeface="宋体"/>
              <a:ea typeface="宋体"/>
            </a:endParaRPr>
          </a:p>
          <a:p>
            <a:pPr marL="0" indent="0" algn="just" defTabSz="266700">
              <a:lnSpc>
                <a:spcPct val="120000"/>
              </a:lnSpc>
              <a:spcBef>
                <a:spcPct val="0"/>
              </a:spcBef>
              <a:spcAft>
                <a:spcPct val="0"/>
              </a:spcAft>
            </a:pPr>
            <a:r>
              <a:rPr lang="en-US" altLang="zh-CN" sz="2000">
                <a:latin typeface="Times New Roman" panose="02020503050405090304"/>
                <a:ea typeface="Times New Roman" panose="02020503050405090304"/>
                <a:sym typeface="+mn-ea"/>
              </a:rPr>
              <a:t>5.1.2</a:t>
            </a:r>
            <a:r>
              <a:rPr lang="zh-CN" altLang="en-US" sz="2000">
                <a:latin typeface="宋体"/>
                <a:ea typeface="宋体"/>
                <a:sym typeface="+mn-ea"/>
              </a:rPr>
              <a:t>仿真参数设置</a:t>
            </a:r>
            <a:endParaRPr lang="zh-CN" altLang="en-US" sz="20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5.2</a:t>
            </a:r>
            <a:r>
              <a:rPr lang="zh-CN" altLang="en-US" sz="2400">
                <a:latin typeface="宋体"/>
                <a:ea typeface="宋体"/>
                <a:sym typeface="+mn-ea"/>
              </a:rPr>
              <a:t>疏散场景设置</a:t>
            </a:r>
            <a:endParaRPr lang="zh-CN" altLang="en-US" sz="24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5.3</a:t>
            </a:r>
            <a:r>
              <a:rPr lang="zh-CN" altLang="en-US" sz="2400">
                <a:latin typeface="宋体"/>
                <a:ea typeface="宋体"/>
                <a:sym typeface="+mn-ea"/>
              </a:rPr>
              <a:t>疏散仿真结果分析</a:t>
            </a:r>
            <a:endParaRPr lang="zh-CN" altLang="en-US" sz="24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5.4</a:t>
            </a:r>
            <a:r>
              <a:rPr lang="zh-CN" altLang="en-US" sz="2400">
                <a:latin typeface="宋体"/>
                <a:ea typeface="宋体"/>
                <a:sym typeface="+mn-ea"/>
              </a:rPr>
              <a:t>疏散过程存在的问题及改进方法</a:t>
            </a:r>
            <a:endParaRPr lang="zh-CN" altLang="en-US" sz="2400">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5.5</a:t>
            </a:r>
            <a:r>
              <a:rPr lang="zh-CN" altLang="en-US" sz="2400">
                <a:latin typeface="宋体"/>
                <a:ea typeface="宋体"/>
                <a:sym typeface="+mn-ea"/>
              </a:rPr>
              <a:t>本章小结</a:t>
            </a:r>
            <a:endParaRPr lang="zh-CN" altLang="en-US" sz="2400">
              <a:latin typeface="宋体"/>
              <a:ea typeface="宋体"/>
            </a:endParaRPr>
          </a:p>
          <a:p>
            <a:pPr marL="0" indent="0" algn="just" defTabSz="266700">
              <a:lnSpc>
                <a:spcPct val="120000"/>
              </a:lnSpc>
              <a:spcBef>
                <a:spcPct val="0"/>
              </a:spcBef>
              <a:spcAft>
                <a:spcPct val="0"/>
              </a:spcAft>
            </a:pPr>
            <a:r>
              <a:rPr lang="en-US" altLang="zh-CN" sz="2400" b="1">
                <a:latin typeface="Times New Roman" panose="02020503050405090304"/>
                <a:ea typeface="Times New Roman" panose="02020503050405090304"/>
                <a:sym typeface="+mn-ea"/>
              </a:rPr>
              <a:t>6</a:t>
            </a:r>
            <a:r>
              <a:rPr lang="zh-CN" altLang="en-US" sz="2400" b="1">
                <a:latin typeface="宋体"/>
                <a:ea typeface="宋体"/>
                <a:sym typeface="+mn-ea"/>
              </a:rPr>
              <a:t>结论和展望</a:t>
            </a:r>
            <a:endParaRPr lang="zh-CN" altLang="en-US" sz="2400" b="1">
              <a:latin typeface="宋体"/>
              <a:ea typeface="宋体"/>
            </a:endParaRPr>
          </a:p>
          <a:p>
            <a:pPr marL="0" indent="0" algn="just" defTabSz="266700">
              <a:lnSpc>
                <a:spcPct val="120000"/>
              </a:lnSpc>
              <a:spcBef>
                <a:spcPct val="0"/>
              </a:spcBef>
              <a:spcAft>
                <a:spcPct val="0"/>
              </a:spcAft>
            </a:pPr>
            <a:r>
              <a:rPr lang="en-US" altLang="zh-CN" sz="2400">
                <a:latin typeface="Times New Roman" panose="02020503050405090304"/>
                <a:ea typeface="Times New Roman" panose="02020503050405090304"/>
                <a:sym typeface="+mn-ea"/>
              </a:rPr>
              <a:t>6.1</a:t>
            </a:r>
            <a:r>
              <a:rPr lang="zh-CN" altLang="en-US" sz="2400">
                <a:latin typeface="宋体"/>
                <a:ea typeface="宋体"/>
                <a:sym typeface="+mn-ea"/>
              </a:rPr>
              <a:t>结论</a:t>
            </a:r>
            <a:endParaRPr lang="zh-CN" altLang="en-US" sz="2400">
              <a:latin typeface="宋体"/>
              <a:ea typeface="宋体"/>
            </a:endParaRPr>
          </a:p>
          <a:p>
            <a:pPr marL="0" indent="0" algn="just" defTabSz="266700">
              <a:spcBef>
                <a:spcPct val="0"/>
              </a:spcBef>
              <a:spcAft>
                <a:spcPct val="0"/>
              </a:spcAft>
            </a:pPr>
            <a:r>
              <a:rPr lang="en-US" altLang="zh-CN" sz="2400">
                <a:latin typeface="Times New Roman" panose="02020503050405090304"/>
                <a:ea typeface="Times New Roman" panose="02020503050405090304"/>
                <a:sym typeface="+mn-ea"/>
              </a:rPr>
              <a:t>6.2</a:t>
            </a:r>
            <a:r>
              <a:rPr lang="zh-CN" altLang="en-US" sz="2400">
                <a:latin typeface="宋体"/>
                <a:ea typeface="宋体"/>
                <a:sym typeface="+mn-ea"/>
              </a:rPr>
              <a:t>展望</a:t>
            </a:r>
            <a:endParaRPr lang="zh-CN" altLang="en-US" sz="2400">
              <a:latin typeface="宋体"/>
              <a:ea typeface="宋体"/>
              <a:sym typeface="+mn-ea"/>
            </a:endParaRPr>
          </a:p>
        </p:txBody>
      </p:sp>
      <p:cxnSp>
        <p:nvCxnSpPr>
          <p:cNvPr id="8" name="直接连接符 7"/>
          <p:cNvCxnSpPr/>
          <p:nvPr>
            <p:custDataLst>
              <p:tags r:id="rId1"/>
            </p:custDataLst>
          </p:nvPr>
        </p:nvCxnSpPr>
        <p:spPr>
          <a:xfrm>
            <a:off x="6096209" y="1333791"/>
            <a:ext cx="0" cy="8610600"/>
          </a:xfrm>
          <a:prstGeom prst="line">
            <a:avLst/>
          </a:prstGeom>
          <a:ln>
            <a:solidFill>
              <a:srgbClr val="9A0001"/>
            </a:solidFill>
            <a:prstDash val="lgDash"/>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custDataLst>
              <p:tags r:id="rId2"/>
            </p:custDataLst>
          </p:nvPr>
        </p:nvCxnSpPr>
        <p:spPr>
          <a:xfrm>
            <a:off x="12401124" y="1181391"/>
            <a:ext cx="0" cy="8610600"/>
          </a:xfrm>
          <a:prstGeom prst="line">
            <a:avLst/>
          </a:prstGeom>
          <a:ln>
            <a:solidFill>
              <a:srgbClr val="9A0001"/>
            </a:solidFill>
            <a:prstDash val="lg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advTm="3232"/>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Freeform 5"/>
          <p:cNvSpPr/>
          <p:nvPr/>
        </p:nvSpPr>
        <p:spPr>
          <a:xfrm rot="862994">
            <a:off x="-8112194" y="7634155"/>
            <a:ext cx="17412058" cy="4723021"/>
          </a:xfrm>
          <a:custGeom>
            <a:avLst/>
            <a:gdLst/>
            <a:ahLst/>
            <a:cxnLst/>
            <a:rect l="l" t="t" r="r" b="b"/>
            <a:pathLst>
              <a:path w="17412058" h="4723021">
                <a:moveTo>
                  <a:pt x="0" y="0"/>
                </a:moveTo>
                <a:lnTo>
                  <a:pt x="17412059" y="0"/>
                </a:lnTo>
                <a:lnTo>
                  <a:pt x="17412059" y="4723021"/>
                </a:lnTo>
                <a:lnTo>
                  <a:pt x="0" y="4723021"/>
                </a:lnTo>
                <a:lnTo>
                  <a:pt x="0" y="0"/>
                </a:lnTo>
                <a:close/>
              </a:path>
            </a:pathLst>
          </a:custGeom>
          <a:blipFill>
            <a:blip r:embed="rId1">
              <a:alphaModFix amt="19999"/>
              <a:duotone>
                <a:schemeClr val="accent2">
                  <a:shade val="45000"/>
                  <a:satMod val="135000"/>
                </a:schemeClr>
                <a:prstClr val="white"/>
              </a:duotone>
            </a:blip>
            <a:stretch>
              <a:fillRect/>
            </a:stretch>
          </a:blipFill>
          <a:ln cap="sq">
            <a:noFill/>
            <a:prstDash val="solid"/>
            <a:miter/>
          </a:ln>
        </p:spPr>
        <p:txBody>
          <a:bodyPr/>
          <a:lstStyle/>
          <a:p>
            <a:endParaRPr lang="zh-CN" altLang="en-US" dirty="0"/>
          </a:p>
        </p:txBody>
      </p:sp>
      <p:sp>
        <p:nvSpPr>
          <p:cNvPr id="56" name="Freeform 4"/>
          <p:cNvSpPr/>
          <p:nvPr/>
        </p:nvSpPr>
        <p:spPr>
          <a:xfrm rot="-1204851" flipV="1">
            <a:off x="5745427" y="8194128"/>
            <a:ext cx="13996660" cy="4723021"/>
          </a:xfrm>
          <a:custGeom>
            <a:avLst/>
            <a:gdLst/>
            <a:ahLst/>
            <a:cxnLst/>
            <a:rect l="l" t="t" r="r" b="b"/>
            <a:pathLst>
              <a:path w="13996660" h="4723021">
                <a:moveTo>
                  <a:pt x="0" y="4723021"/>
                </a:moveTo>
                <a:lnTo>
                  <a:pt x="13996660" y="4723021"/>
                </a:lnTo>
                <a:lnTo>
                  <a:pt x="13996660" y="0"/>
                </a:lnTo>
                <a:lnTo>
                  <a:pt x="0" y="0"/>
                </a:lnTo>
                <a:lnTo>
                  <a:pt x="0" y="4723021"/>
                </a:lnTo>
                <a:close/>
              </a:path>
            </a:pathLst>
          </a:custGeom>
          <a:blipFill>
            <a:blip r:embed="rId1">
              <a:alphaModFix amt="18000"/>
              <a:duotone>
                <a:schemeClr val="accent2">
                  <a:shade val="45000"/>
                  <a:satMod val="135000"/>
                </a:schemeClr>
                <a:prstClr val="white"/>
              </a:duotone>
            </a:blip>
            <a:stretch>
              <a:fillRect r="-24401"/>
            </a:stretch>
          </a:blipFill>
          <a:ln cap="sq">
            <a:noFill/>
            <a:prstDash val="solid"/>
            <a:miter/>
          </a:ln>
        </p:spPr>
        <p:txBody>
          <a:bodyPr/>
          <a:lstStyle/>
          <a:p>
            <a:endParaRPr lang="zh-CN" altLang="en-US"/>
          </a:p>
        </p:txBody>
      </p:sp>
      <p:sp>
        <p:nvSpPr>
          <p:cNvPr id="55" name="Freeform 3"/>
          <p:cNvSpPr/>
          <p:nvPr/>
        </p:nvSpPr>
        <p:spPr>
          <a:xfrm>
            <a:off x="-1" y="1658663"/>
            <a:ext cx="18273037" cy="5633329"/>
          </a:xfrm>
          <a:custGeom>
            <a:avLst/>
            <a:gdLst/>
            <a:ahLst/>
            <a:cxnLst/>
            <a:rect l="l" t="t" r="r" b="b"/>
            <a:pathLst>
              <a:path w="22727910" h="1730375">
                <a:moveTo>
                  <a:pt x="0" y="0"/>
                </a:moveTo>
                <a:lnTo>
                  <a:pt x="22727910" y="0"/>
                </a:lnTo>
                <a:lnTo>
                  <a:pt x="22727910" y="1730375"/>
                </a:lnTo>
                <a:lnTo>
                  <a:pt x="0" y="1730375"/>
                </a:lnTo>
                <a:close/>
              </a:path>
            </a:pathLst>
          </a:custGeom>
          <a:solidFill>
            <a:srgbClr val="861B11"/>
          </a:solidFill>
          <a:ln>
            <a:solidFill>
              <a:srgbClr val="861B11"/>
            </a:solidFill>
          </a:ln>
        </p:spPr>
        <p:txBody>
          <a:bodyPr/>
          <a:lstStyle/>
          <a:p>
            <a:endParaRPr lang="zh-CN" altLang="en-US" dirty="0">
              <a:solidFill>
                <a:srgbClr val="013690"/>
              </a:solidFill>
            </a:endParaRPr>
          </a:p>
        </p:txBody>
      </p:sp>
      <p:sp>
        <p:nvSpPr>
          <p:cNvPr id="7" name="Freeform 3"/>
          <p:cNvSpPr/>
          <p:nvPr/>
        </p:nvSpPr>
        <p:spPr>
          <a:xfrm>
            <a:off x="14963" y="1643771"/>
            <a:ext cx="18273037" cy="5633329"/>
          </a:xfrm>
          <a:custGeom>
            <a:avLst/>
            <a:gdLst/>
            <a:ahLst/>
            <a:cxnLst/>
            <a:rect l="l" t="t" r="r" b="b"/>
            <a:pathLst>
              <a:path w="22727910" h="1730375">
                <a:moveTo>
                  <a:pt x="0" y="0"/>
                </a:moveTo>
                <a:lnTo>
                  <a:pt x="22727910" y="0"/>
                </a:lnTo>
                <a:lnTo>
                  <a:pt x="22727910" y="1730375"/>
                </a:lnTo>
                <a:lnTo>
                  <a:pt x="0" y="1730375"/>
                </a:lnTo>
                <a:close/>
              </a:path>
            </a:pathLst>
          </a:custGeom>
          <a:blipFill>
            <a:blip r:embed="rId2">
              <a:alphaModFix amt="16000"/>
            </a:blip>
            <a:tile tx="0" ty="0" sx="100000" sy="100000" flip="none" algn="tl"/>
          </a:blipFill>
          <a:ln>
            <a:noFill/>
          </a:ln>
        </p:spPr>
        <p:txBody>
          <a:bodyPr/>
          <a:lstStyle/>
          <a:p>
            <a:endParaRPr lang="zh-CN" altLang="en-US" dirty="0">
              <a:solidFill>
                <a:srgbClr val="013690"/>
              </a:solidFill>
            </a:endParaRPr>
          </a:p>
        </p:txBody>
      </p:sp>
      <p:sp>
        <p:nvSpPr>
          <p:cNvPr id="16" name="Freeform 16"/>
          <p:cNvSpPr/>
          <p:nvPr/>
        </p:nvSpPr>
        <p:spPr>
          <a:xfrm>
            <a:off x="584541" y="2990947"/>
            <a:ext cx="208565" cy="3113542"/>
          </a:xfrm>
          <a:custGeom>
            <a:avLst/>
            <a:gdLst/>
            <a:ahLst/>
            <a:cxnLst/>
            <a:rect l="l" t="t" r="r" b="b"/>
            <a:pathLst>
              <a:path w="54931" h="820027">
                <a:moveTo>
                  <a:pt x="27465" y="0"/>
                </a:moveTo>
                <a:lnTo>
                  <a:pt x="27465" y="0"/>
                </a:lnTo>
                <a:cubicBezTo>
                  <a:pt x="34750" y="0"/>
                  <a:pt x="41736" y="2894"/>
                  <a:pt x="46886" y="8044"/>
                </a:cubicBezTo>
                <a:cubicBezTo>
                  <a:pt x="52037" y="13195"/>
                  <a:pt x="54931" y="20181"/>
                  <a:pt x="54931" y="27465"/>
                </a:cubicBezTo>
                <a:lnTo>
                  <a:pt x="54931" y="792562"/>
                </a:lnTo>
                <a:cubicBezTo>
                  <a:pt x="54931" y="799846"/>
                  <a:pt x="52037" y="806832"/>
                  <a:pt x="46886" y="811983"/>
                </a:cubicBezTo>
                <a:cubicBezTo>
                  <a:pt x="41736" y="817134"/>
                  <a:pt x="34750" y="820027"/>
                  <a:pt x="27465" y="820027"/>
                </a:cubicBezTo>
                <a:lnTo>
                  <a:pt x="27465" y="820027"/>
                </a:lnTo>
                <a:cubicBezTo>
                  <a:pt x="20181" y="820027"/>
                  <a:pt x="13195" y="817134"/>
                  <a:pt x="8044" y="811983"/>
                </a:cubicBezTo>
                <a:cubicBezTo>
                  <a:pt x="2894" y="806832"/>
                  <a:pt x="0" y="799846"/>
                  <a:pt x="0" y="792562"/>
                </a:cubicBezTo>
                <a:lnTo>
                  <a:pt x="0" y="27465"/>
                </a:lnTo>
                <a:cubicBezTo>
                  <a:pt x="0" y="20181"/>
                  <a:pt x="2894" y="13195"/>
                  <a:pt x="8044" y="8044"/>
                </a:cubicBezTo>
                <a:cubicBezTo>
                  <a:pt x="13195" y="2894"/>
                  <a:pt x="20181" y="0"/>
                  <a:pt x="27465" y="0"/>
                </a:cubicBezTo>
                <a:close/>
              </a:path>
            </a:pathLst>
          </a:custGeom>
          <a:solidFill>
            <a:schemeClr val="bg1"/>
          </a:solidFill>
        </p:spPr>
        <p:txBody>
          <a:bodyPr/>
          <a:lstStyle/>
          <a:p>
            <a:endParaRPr lang="zh-CN" altLang="en-US" dirty="0"/>
          </a:p>
        </p:txBody>
      </p:sp>
      <p:sp>
        <p:nvSpPr>
          <p:cNvPr id="17" name="TextBox 17"/>
          <p:cNvSpPr txBox="1"/>
          <p:nvPr/>
        </p:nvSpPr>
        <p:spPr>
          <a:xfrm>
            <a:off x="584541" y="2810121"/>
            <a:ext cx="208565" cy="3294368"/>
          </a:xfrm>
          <a:prstGeom prst="rect">
            <a:avLst/>
          </a:prstGeom>
        </p:spPr>
        <p:txBody>
          <a:bodyPr lIns="50800" tIns="50800" rIns="50800" bIns="50800" rtlCol="0" anchor="ctr"/>
          <a:lstStyle/>
          <a:p>
            <a:pPr algn="ctr">
              <a:lnSpc>
                <a:spcPts val="2660"/>
              </a:lnSpc>
            </a:pPr>
            <a:endParaRPr dirty="0"/>
          </a:p>
        </p:txBody>
      </p:sp>
      <p:sp>
        <p:nvSpPr>
          <p:cNvPr id="19" name="TextBox 19"/>
          <p:cNvSpPr txBox="1"/>
          <p:nvPr/>
        </p:nvSpPr>
        <p:spPr>
          <a:xfrm>
            <a:off x="1269380" y="2122350"/>
            <a:ext cx="5221328" cy="1528560"/>
          </a:xfrm>
          <a:prstGeom prst="rect">
            <a:avLst/>
          </a:prstGeom>
        </p:spPr>
        <p:txBody>
          <a:bodyPr wrap="square" lIns="0" tIns="0" rIns="0" bIns="0" rtlCol="0" anchor="t">
            <a:spAutoFit/>
          </a:bodyPr>
          <a:lstStyle/>
          <a:p>
            <a:pPr algn="l">
              <a:lnSpc>
                <a:spcPts val="13600"/>
              </a:lnSpc>
            </a:pPr>
            <a:r>
              <a:rPr lang="en-US" sz="7200" spc="297" dirty="0">
                <a:solidFill>
                  <a:schemeClr val="bg1"/>
                </a:solidFill>
                <a:latin typeface="思源宋体-超粗体" panose="02010600030101010101" charset="-122"/>
                <a:ea typeface="思源宋体-超粗体" panose="02010600030101010101" charset="-122"/>
                <a:cs typeface="字由点字倔强黑"/>
                <a:sym typeface="字由点字倔强黑"/>
              </a:rPr>
              <a:t>THANKS</a:t>
            </a:r>
            <a:endParaRPr lang="en-US" sz="7200" spc="297" dirty="0">
              <a:solidFill>
                <a:schemeClr val="bg1"/>
              </a:solidFill>
              <a:latin typeface="思源宋体-超粗体" panose="02010600030101010101" charset="-122"/>
              <a:ea typeface="思源宋体-超粗体" panose="02010600030101010101" charset="-122"/>
              <a:cs typeface="字由点字倔强黑"/>
              <a:sym typeface="字由点字倔强黑"/>
            </a:endParaRPr>
          </a:p>
        </p:txBody>
      </p:sp>
      <p:sp>
        <p:nvSpPr>
          <p:cNvPr id="20" name="TextBox 20"/>
          <p:cNvSpPr txBox="1"/>
          <p:nvPr/>
        </p:nvSpPr>
        <p:spPr>
          <a:xfrm>
            <a:off x="1184029" y="3797332"/>
            <a:ext cx="8352036" cy="1875770"/>
          </a:xfrm>
          <a:prstGeom prst="rect">
            <a:avLst/>
          </a:prstGeom>
        </p:spPr>
        <p:txBody>
          <a:bodyPr lIns="0" tIns="0" rIns="0" bIns="0" rtlCol="0" anchor="t">
            <a:spAutoFit/>
          </a:bodyPr>
          <a:lstStyle/>
          <a:p>
            <a:pPr algn="l">
              <a:lnSpc>
                <a:spcPts val="16000"/>
              </a:lnSpc>
            </a:pPr>
            <a:r>
              <a:rPr lang="zh-CN" altLang="en-US" sz="11000" spc="349" dirty="0">
                <a:solidFill>
                  <a:schemeClr val="bg1"/>
                </a:solidFill>
                <a:latin typeface="思源宋体-超粗体" panose="02010600030101010101" charset="-122"/>
                <a:ea typeface="思源宋体-超粗体" panose="02010600030101010101" charset="-122"/>
                <a:cs typeface="字由点字倔强黑"/>
                <a:sym typeface="字由点字倔强黑"/>
              </a:rPr>
              <a:t>感谢观看</a:t>
            </a:r>
            <a:endParaRPr lang="en-US" sz="11000" spc="349" dirty="0">
              <a:solidFill>
                <a:schemeClr val="bg1"/>
              </a:solidFill>
              <a:latin typeface="思源宋体-超粗体" panose="02010600030101010101" charset="-122"/>
              <a:ea typeface="思源宋体-超粗体" panose="02010600030101010101" charset="-122"/>
              <a:cs typeface="字由点字倔强黑"/>
              <a:sym typeface="字由点字倔强黑"/>
            </a:endParaRPr>
          </a:p>
        </p:txBody>
      </p:sp>
      <p:sp>
        <p:nvSpPr>
          <p:cNvPr id="29" name="Freeform 6"/>
          <p:cNvSpPr/>
          <p:nvPr/>
        </p:nvSpPr>
        <p:spPr>
          <a:xfrm rot="10060989">
            <a:off x="-3513698" y="-3516301"/>
            <a:ext cx="17412058" cy="4723021"/>
          </a:xfrm>
          <a:custGeom>
            <a:avLst/>
            <a:gdLst/>
            <a:ahLst/>
            <a:cxnLst/>
            <a:rect l="l" t="t" r="r" b="b"/>
            <a:pathLst>
              <a:path w="17412058" h="4723021">
                <a:moveTo>
                  <a:pt x="0" y="0"/>
                </a:moveTo>
                <a:lnTo>
                  <a:pt x="17412059" y="0"/>
                </a:lnTo>
                <a:lnTo>
                  <a:pt x="17412059" y="4723020"/>
                </a:lnTo>
                <a:lnTo>
                  <a:pt x="0" y="4723020"/>
                </a:lnTo>
                <a:lnTo>
                  <a:pt x="0" y="0"/>
                </a:lnTo>
                <a:close/>
              </a:path>
            </a:pathLst>
          </a:custGeom>
          <a:blipFill>
            <a:blip r:embed="rId1">
              <a:alphaModFix amt="21999"/>
              <a:duotone>
                <a:schemeClr val="accent2">
                  <a:shade val="45000"/>
                  <a:satMod val="135000"/>
                </a:schemeClr>
                <a:prstClr val="white"/>
              </a:duotone>
            </a:blip>
            <a:stretch>
              <a:fillRect/>
            </a:stretch>
          </a:blipFill>
          <a:ln cap="sq">
            <a:noFill/>
            <a:prstDash val="solid"/>
            <a:miter/>
          </a:ln>
        </p:spPr>
        <p:txBody>
          <a:bodyPr/>
          <a:lstStyle/>
          <a:p>
            <a:endParaRPr lang="zh-CN" altLang="en-US" dirty="0"/>
          </a:p>
        </p:txBody>
      </p:sp>
      <p:sp>
        <p:nvSpPr>
          <p:cNvPr id="35" name="AutoShape 14"/>
          <p:cNvSpPr/>
          <p:nvPr/>
        </p:nvSpPr>
        <p:spPr>
          <a:xfrm>
            <a:off x="5334000" y="9355382"/>
            <a:ext cx="9525" cy="719943"/>
          </a:xfrm>
          <a:prstGeom prst="line">
            <a:avLst/>
          </a:prstGeom>
          <a:ln w="9525" cap="rnd">
            <a:solidFill>
              <a:srgbClr val="0B0B0B"/>
            </a:solidFill>
            <a:prstDash val="solid"/>
            <a:headEnd type="none" w="sm" len="sm"/>
            <a:tailEnd type="none" w="sm" len="sm"/>
          </a:ln>
        </p:spPr>
        <p:txBody>
          <a:bodyPr/>
          <a:lstStyle/>
          <a:p>
            <a:endParaRPr lang="zh-CN" altLang="en-US"/>
          </a:p>
        </p:txBody>
      </p:sp>
      <p:pic>
        <p:nvPicPr>
          <p:cNvPr id="5" name="图片 4"/>
          <p:cNvPicPr>
            <a:picLocks noChangeAspect="1"/>
          </p:cNvPicPr>
          <p:nvPr/>
        </p:nvPicPr>
        <p:blipFill>
          <a:blip r:embed="rId3" cstate="print">
            <a:duotone>
              <a:schemeClr val="accent2">
                <a:shade val="45000"/>
                <a:satMod val="135000"/>
              </a:schemeClr>
              <a:prstClr val="white"/>
            </a:duotone>
            <a:extLst>
              <a:ext uri="{BEBA8EAE-BF5A-486C-A8C5-ECC9F3942E4B}">
                <a14:imgProps xmlns:a14="http://schemas.microsoft.com/office/drawing/2010/main">
                  <a14:imgLayer r:embed="rId4">
                    <a14:imgEffect>
                      <a14:saturation sat="66000"/>
                    </a14:imgEffect>
                  </a14:imgLayer>
                </a14:imgProps>
              </a:ext>
              <a:ext uri="{28A0092B-C50C-407E-A947-70E740481C1C}">
                <a14:useLocalDpi xmlns:a14="http://schemas.microsoft.com/office/drawing/2010/main" val="0"/>
              </a:ext>
            </a:extLst>
          </a:blip>
          <a:stretch>
            <a:fillRect/>
          </a:stretch>
        </p:blipFill>
        <p:spPr>
          <a:xfrm>
            <a:off x="15144165" y="-388527"/>
            <a:ext cx="2618234" cy="2618816"/>
          </a:xfrm>
          <a:prstGeom prst="rect">
            <a:avLst/>
          </a:prstGeom>
        </p:spPr>
      </p:pic>
      <p:sp>
        <p:nvSpPr>
          <p:cNvPr id="9" name="Freeform 16"/>
          <p:cNvSpPr/>
          <p:nvPr/>
        </p:nvSpPr>
        <p:spPr>
          <a:xfrm>
            <a:off x="584541" y="2990947"/>
            <a:ext cx="208565" cy="3113542"/>
          </a:xfrm>
          <a:custGeom>
            <a:avLst/>
            <a:gdLst/>
            <a:ahLst/>
            <a:cxnLst/>
            <a:rect l="l" t="t" r="r" b="b"/>
            <a:pathLst>
              <a:path w="54931" h="820027">
                <a:moveTo>
                  <a:pt x="27465" y="0"/>
                </a:moveTo>
                <a:lnTo>
                  <a:pt x="27465" y="0"/>
                </a:lnTo>
                <a:cubicBezTo>
                  <a:pt x="34750" y="0"/>
                  <a:pt x="41736" y="2894"/>
                  <a:pt x="46886" y="8044"/>
                </a:cubicBezTo>
                <a:cubicBezTo>
                  <a:pt x="52037" y="13195"/>
                  <a:pt x="54931" y="20181"/>
                  <a:pt x="54931" y="27465"/>
                </a:cubicBezTo>
                <a:lnTo>
                  <a:pt x="54931" y="792562"/>
                </a:lnTo>
                <a:cubicBezTo>
                  <a:pt x="54931" y="799846"/>
                  <a:pt x="52037" y="806832"/>
                  <a:pt x="46886" y="811983"/>
                </a:cubicBezTo>
                <a:cubicBezTo>
                  <a:pt x="41736" y="817134"/>
                  <a:pt x="34750" y="820027"/>
                  <a:pt x="27465" y="820027"/>
                </a:cubicBezTo>
                <a:lnTo>
                  <a:pt x="27465" y="820027"/>
                </a:lnTo>
                <a:cubicBezTo>
                  <a:pt x="20181" y="820027"/>
                  <a:pt x="13195" y="817134"/>
                  <a:pt x="8044" y="811983"/>
                </a:cubicBezTo>
                <a:cubicBezTo>
                  <a:pt x="2894" y="806832"/>
                  <a:pt x="0" y="799846"/>
                  <a:pt x="0" y="792562"/>
                </a:cubicBezTo>
                <a:lnTo>
                  <a:pt x="0" y="27465"/>
                </a:lnTo>
                <a:cubicBezTo>
                  <a:pt x="0" y="20181"/>
                  <a:pt x="2894" y="13195"/>
                  <a:pt x="8044" y="8044"/>
                </a:cubicBezTo>
                <a:cubicBezTo>
                  <a:pt x="13195" y="2894"/>
                  <a:pt x="20181" y="0"/>
                  <a:pt x="27465" y="0"/>
                </a:cubicBezTo>
                <a:close/>
              </a:path>
            </a:pathLst>
          </a:custGeom>
          <a:solidFill>
            <a:schemeClr val="bg1"/>
          </a:solidFill>
        </p:spPr>
        <p:txBody>
          <a:bodyPr/>
          <a:lstStyle/>
          <a:p>
            <a:endParaRPr lang="zh-CN" altLang="en-US" dirty="0"/>
          </a:p>
        </p:txBody>
      </p:sp>
      <p:sp>
        <p:nvSpPr>
          <p:cNvPr id="2" name="TextBox 22"/>
          <p:cNvSpPr txBox="1"/>
          <p:nvPr>
            <p:custDataLst>
              <p:tags r:id="rId5"/>
            </p:custDataLst>
          </p:nvPr>
        </p:nvSpPr>
        <p:spPr>
          <a:xfrm>
            <a:off x="3434283" y="8133038"/>
            <a:ext cx="1364751" cy="512445"/>
          </a:xfrm>
          <a:prstGeom prst="rect">
            <a:avLst/>
          </a:prstGeom>
        </p:spPr>
        <p:txBody>
          <a:bodyPr lIns="0" tIns="0" rIns="0" bIns="0" rtlCol="0" anchor="t">
            <a:spAutoFit/>
          </a:bodyPr>
          <a:p>
            <a:pPr marL="0" lvl="0" indent="0" algn="l">
              <a:lnSpc>
                <a:spcPts val="4000"/>
              </a:lnSpc>
              <a:spcBef>
                <a:spcPct val="0"/>
              </a:spcBef>
            </a:pPr>
            <a:r>
              <a:rPr lang="zh-CN" altLang="en-US" sz="2500" dirty="0">
                <a:solidFill>
                  <a:srgbClr val="861B11"/>
                </a:solidFill>
                <a:latin typeface="思源宋体 2 Bold" panose="02010600030101010101" charset="-122"/>
                <a:ea typeface="思源宋体 2 Bold" panose="02010600030101010101" charset="-122"/>
                <a:cs typeface="思源黑体 1"/>
                <a:sym typeface="思源黑体 1"/>
              </a:rPr>
              <a:t>黄文</a:t>
            </a:r>
            <a:r>
              <a:rPr lang="zh-CN" altLang="en-US" sz="2500" dirty="0">
                <a:solidFill>
                  <a:srgbClr val="861B11"/>
                </a:solidFill>
                <a:latin typeface="思源宋体 2 Bold" panose="02010600030101010101" charset="-122"/>
                <a:ea typeface="思源宋体 2 Bold" panose="02010600030101010101" charset="-122"/>
                <a:cs typeface="思源黑体 1"/>
                <a:sym typeface="思源黑体 1"/>
              </a:rPr>
              <a:t>佳</a:t>
            </a:r>
            <a:endParaRPr lang="zh-CN" altLang="en-US" sz="2500" dirty="0">
              <a:solidFill>
                <a:srgbClr val="861B11"/>
              </a:solidFill>
              <a:latin typeface="思源宋体 2 Bold" panose="02010600030101010101" charset="-122"/>
              <a:ea typeface="思源宋体 2 Bold" panose="02010600030101010101" charset="-122"/>
              <a:cs typeface="思源黑体 1"/>
              <a:sym typeface="思源黑体 1"/>
            </a:endParaRPr>
          </a:p>
        </p:txBody>
      </p:sp>
      <p:sp>
        <p:nvSpPr>
          <p:cNvPr id="3" name="Freeform 14"/>
          <p:cNvSpPr/>
          <p:nvPr>
            <p:custDataLst>
              <p:tags r:id="rId6"/>
            </p:custDataLst>
          </p:nvPr>
        </p:nvSpPr>
        <p:spPr>
          <a:xfrm>
            <a:off x="5768042" y="8133038"/>
            <a:ext cx="495300" cy="495300"/>
          </a:xfrm>
          <a:custGeom>
            <a:avLst/>
            <a:gdLst/>
            <a:ahLst/>
            <a:cxnLst/>
            <a:rect l="l" t="t" r="r" b="b"/>
            <a:pathLst>
              <a:path w="495300" h="495300">
                <a:moveTo>
                  <a:pt x="0" y="0"/>
                </a:moveTo>
                <a:lnTo>
                  <a:pt x="495300" y="0"/>
                </a:lnTo>
                <a:lnTo>
                  <a:pt x="495300" y="495300"/>
                </a:lnTo>
                <a:lnTo>
                  <a:pt x="0" y="495300"/>
                </a:lnTo>
                <a:lnTo>
                  <a:pt x="0" y="0"/>
                </a:lnTo>
                <a:close/>
              </a:path>
            </a:pathLst>
          </a:custGeom>
          <a:blipFill>
            <a:blip r:embed="rId7"/>
            <a:stretch>
              <a:fillRect/>
            </a:stretch>
          </a:blipFill>
        </p:spPr>
        <p:txBody>
          <a:bodyPr/>
          <a:p>
            <a:endParaRPr lang="zh-CN" altLang="en-US"/>
          </a:p>
        </p:txBody>
      </p:sp>
      <p:sp>
        <p:nvSpPr>
          <p:cNvPr id="4" name="Freeform 13"/>
          <p:cNvSpPr/>
          <p:nvPr>
            <p:custDataLst>
              <p:tags r:id="rId8"/>
            </p:custDataLst>
          </p:nvPr>
        </p:nvSpPr>
        <p:spPr>
          <a:xfrm>
            <a:off x="1293983" y="8133038"/>
            <a:ext cx="495300" cy="495300"/>
          </a:xfrm>
          <a:custGeom>
            <a:avLst/>
            <a:gdLst/>
            <a:ahLst/>
            <a:cxnLst/>
            <a:rect l="l" t="t" r="r" b="b"/>
            <a:pathLst>
              <a:path w="495300" h="495300">
                <a:moveTo>
                  <a:pt x="0" y="0"/>
                </a:moveTo>
                <a:lnTo>
                  <a:pt x="495300" y="0"/>
                </a:lnTo>
                <a:lnTo>
                  <a:pt x="495300" y="495300"/>
                </a:lnTo>
                <a:lnTo>
                  <a:pt x="0" y="495300"/>
                </a:lnTo>
                <a:lnTo>
                  <a:pt x="0" y="0"/>
                </a:lnTo>
                <a:close/>
              </a:path>
            </a:pathLst>
          </a:custGeom>
          <a:blipFill>
            <a:blip r:embed="rId9"/>
            <a:stretch>
              <a:fillRect/>
            </a:stretch>
          </a:blipFill>
        </p:spPr>
        <p:txBody>
          <a:bodyPr/>
          <a:p>
            <a:endParaRPr lang="zh-CN" altLang="en-US"/>
          </a:p>
        </p:txBody>
      </p:sp>
      <p:sp>
        <p:nvSpPr>
          <p:cNvPr id="6" name="TextBox 21"/>
          <p:cNvSpPr txBox="1"/>
          <p:nvPr>
            <p:custDataLst>
              <p:tags r:id="rId10"/>
            </p:custDataLst>
          </p:nvPr>
        </p:nvSpPr>
        <p:spPr>
          <a:xfrm>
            <a:off x="2069531" y="8133038"/>
            <a:ext cx="1364751" cy="512445"/>
          </a:xfrm>
          <a:prstGeom prst="rect">
            <a:avLst/>
          </a:prstGeom>
        </p:spPr>
        <p:txBody>
          <a:bodyPr lIns="0" tIns="0" rIns="0" bIns="0" rtlCol="0" anchor="t">
            <a:spAutoFit/>
          </a:bodyPr>
          <a:p>
            <a:pPr marL="0" lvl="0" indent="0" algn="l">
              <a:lnSpc>
                <a:spcPts val="4000"/>
              </a:lnSpc>
              <a:spcBef>
                <a:spcPct val="0"/>
              </a:spcBef>
            </a:pPr>
            <a:r>
              <a:rPr lang="en-US" sz="2500" u="none" strike="noStrike" dirty="0">
                <a:solidFill>
                  <a:srgbClr val="861B11"/>
                </a:solidFill>
                <a:latin typeface="思源宋体 2 Bold" panose="02010600030101010101" charset="-122"/>
                <a:ea typeface="思源宋体 2 Bold" panose="02010600030101010101" charset="-122"/>
                <a:cs typeface="思源黑体 1"/>
                <a:sym typeface="思源黑体 1"/>
              </a:rPr>
              <a:t>汇报人：</a:t>
            </a:r>
            <a:endParaRPr lang="en-US" sz="2500" u="none" strike="noStrike" dirty="0">
              <a:solidFill>
                <a:srgbClr val="861B11"/>
              </a:solidFill>
              <a:latin typeface="思源宋体 2 Bold" panose="02010600030101010101" charset="-122"/>
              <a:ea typeface="思源宋体 2 Bold" panose="02010600030101010101" charset="-122"/>
              <a:cs typeface="思源黑体 1"/>
              <a:sym typeface="思源黑体 1"/>
            </a:endParaRPr>
          </a:p>
        </p:txBody>
      </p:sp>
      <p:sp>
        <p:nvSpPr>
          <p:cNvPr id="8" name="TextBox 24"/>
          <p:cNvSpPr txBox="1"/>
          <p:nvPr>
            <p:custDataLst>
              <p:tags r:id="rId11"/>
            </p:custDataLst>
          </p:nvPr>
        </p:nvSpPr>
        <p:spPr>
          <a:xfrm>
            <a:off x="6539567" y="8133038"/>
            <a:ext cx="1364751" cy="512445"/>
          </a:xfrm>
          <a:prstGeom prst="rect">
            <a:avLst/>
          </a:prstGeom>
        </p:spPr>
        <p:txBody>
          <a:bodyPr lIns="0" tIns="0" rIns="0" bIns="0" rtlCol="0" anchor="t">
            <a:spAutoFit/>
          </a:bodyPr>
          <a:p>
            <a:pPr marL="0" lvl="0" indent="0" algn="l">
              <a:lnSpc>
                <a:spcPts val="4000"/>
              </a:lnSpc>
              <a:spcBef>
                <a:spcPct val="0"/>
              </a:spcBef>
            </a:pPr>
            <a:r>
              <a:rPr lang="en-US" sz="2500" dirty="0">
                <a:solidFill>
                  <a:srgbClr val="861B11"/>
                </a:solidFill>
                <a:latin typeface="思源宋体 2 Bold" panose="02010600030101010101" charset="-122"/>
                <a:ea typeface="思源宋体 2 Bold" panose="02010600030101010101" charset="-122"/>
                <a:cs typeface="思源黑体 1"/>
                <a:sym typeface="思源黑体 1"/>
              </a:rPr>
              <a:t>时    间</a:t>
            </a:r>
            <a:r>
              <a:rPr lang="en-US" sz="2500" u="none" strike="noStrike" dirty="0">
                <a:solidFill>
                  <a:srgbClr val="861B11"/>
                </a:solidFill>
                <a:latin typeface="思源宋体 2 Bold" panose="02010600030101010101" charset="-122"/>
                <a:ea typeface="思源宋体 2 Bold" panose="02010600030101010101" charset="-122"/>
                <a:cs typeface="思源黑体 1"/>
                <a:sym typeface="思源黑体 1"/>
              </a:rPr>
              <a:t>：</a:t>
            </a:r>
            <a:endParaRPr lang="en-US" sz="2500" u="none" strike="noStrike" dirty="0">
              <a:solidFill>
                <a:srgbClr val="861B11"/>
              </a:solidFill>
              <a:latin typeface="思源宋体 2 Bold" panose="02010600030101010101" charset="-122"/>
              <a:ea typeface="思源宋体 2 Bold" panose="02010600030101010101" charset="-122"/>
              <a:cs typeface="思源黑体 1"/>
              <a:sym typeface="思源黑体 1"/>
            </a:endParaRPr>
          </a:p>
        </p:txBody>
      </p:sp>
      <p:sp>
        <p:nvSpPr>
          <p:cNvPr id="10" name="TextBox 25"/>
          <p:cNvSpPr txBox="1"/>
          <p:nvPr>
            <p:custDataLst>
              <p:tags r:id="rId12"/>
            </p:custDataLst>
          </p:nvPr>
        </p:nvSpPr>
        <p:spPr>
          <a:xfrm>
            <a:off x="7904480" y="8133080"/>
            <a:ext cx="1933575" cy="512445"/>
          </a:xfrm>
          <a:prstGeom prst="rect">
            <a:avLst/>
          </a:prstGeom>
        </p:spPr>
        <p:txBody>
          <a:bodyPr wrap="square" lIns="0" tIns="0" rIns="0" bIns="0" rtlCol="0" anchor="t">
            <a:spAutoFit/>
          </a:bodyPr>
          <a:p>
            <a:pPr marL="0" lvl="0" indent="0" algn="l">
              <a:lnSpc>
                <a:spcPts val="4000"/>
              </a:lnSpc>
              <a:spcBef>
                <a:spcPct val="0"/>
              </a:spcBef>
            </a:pPr>
            <a:r>
              <a:rPr lang="en-US" sz="2500" dirty="0">
                <a:solidFill>
                  <a:srgbClr val="861B11"/>
                </a:solidFill>
                <a:latin typeface="思源宋体 2 Bold" panose="02010600030101010101" charset="-122"/>
                <a:ea typeface="思源宋体 2 Bold" panose="02010600030101010101" charset="-122"/>
                <a:cs typeface="思源黑体 1"/>
                <a:sym typeface="思源黑体 1"/>
              </a:rPr>
              <a:t>2025.09.21</a:t>
            </a:r>
            <a:endParaRPr lang="en-US" sz="2500" dirty="0">
              <a:solidFill>
                <a:srgbClr val="861B11"/>
              </a:solidFill>
              <a:latin typeface="思源宋体 2 Bold" panose="02010600030101010101" charset="-122"/>
              <a:ea typeface="思源宋体 2 Bold" panose="02010600030101010101" charset="-122"/>
              <a:cs typeface="思源黑体 1"/>
              <a:sym typeface="思源黑体 1"/>
            </a:endParaRPr>
          </a:p>
        </p:txBody>
      </p:sp>
      <p:sp>
        <p:nvSpPr>
          <p:cNvPr id="11" name="TextBox 23"/>
          <p:cNvSpPr txBox="1"/>
          <p:nvPr>
            <p:custDataLst>
              <p:tags r:id="rId13"/>
            </p:custDataLst>
          </p:nvPr>
        </p:nvSpPr>
        <p:spPr>
          <a:xfrm>
            <a:off x="1294130" y="9408795"/>
            <a:ext cx="3720465" cy="512445"/>
          </a:xfrm>
          <a:prstGeom prst="rect">
            <a:avLst/>
          </a:prstGeom>
        </p:spPr>
        <p:txBody>
          <a:bodyPr wrap="square" lIns="0" tIns="0" rIns="0" bIns="0" rtlCol="0" anchor="t">
            <a:noAutofit/>
          </a:bodyPr>
          <a:p>
            <a:pPr algn="just">
              <a:lnSpc>
                <a:spcPts val="4200"/>
              </a:lnSpc>
              <a:spcBef>
                <a:spcPct val="0"/>
              </a:spcBef>
            </a:pPr>
            <a:r>
              <a:rPr lang="zh-CN" altLang="en-US" sz="2500" spc="300" dirty="0">
                <a:solidFill>
                  <a:srgbClr val="861B11"/>
                </a:solidFill>
                <a:latin typeface="思源宋体-超粗体" panose="02010600030101010101" charset="-122"/>
                <a:ea typeface="思源宋体-超粗体" panose="02010600030101010101" charset="-122"/>
                <a:cs typeface="ABeeZee Bold"/>
                <a:sym typeface="ABeeZee Bold"/>
              </a:rPr>
              <a:t>经济管理学院</a:t>
            </a:r>
            <a:endParaRPr lang="zh-CN" altLang="en-US" sz="2500" spc="300" dirty="0">
              <a:solidFill>
                <a:srgbClr val="861B11"/>
              </a:solidFill>
              <a:latin typeface="思源宋体-超粗体" panose="02010600030101010101" charset="-122"/>
              <a:ea typeface="思源宋体-超粗体" panose="02010600030101010101" charset="-122"/>
              <a:cs typeface="ABeeZee Bold"/>
              <a:sym typeface="ABeeZee Bold"/>
            </a:endParaRPr>
          </a:p>
        </p:txBody>
      </p:sp>
      <p:sp>
        <p:nvSpPr>
          <p:cNvPr id="15" name="TextBox 23"/>
          <p:cNvSpPr txBox="1"/>
          <p:nvPr>
            <p:custDataLst>
              <p:tags r:id="rId14"/>
            </p:custDataLst>
          </p:nvPr>
        </p:nvSpPr>
        <p:spPr>
          <a:xfrm>
            <a:off x="5781675" y="9408795"/>
            <a:ext cx="6983095" cy="720725"/>
          </a:xfrm>
          <a:prstGeom prst="rect">
            <a:avLst/>
          </a:prstGeom>
        </p:spPr>
        <p:txBody>
          <a:bodyPr wrap="square" lIns="0" tIns="0" rIns="0" bIns="0" rtlCol="0" anchor="t">
            <a:noAutofit/>
          </a:bodyPr>
          <a:p>
            <a:pPr algn="just">
              <a:lnSpc>
                <a:spcPts val="4200"/>
              </a:lnSpc>
              <a:spcBef>
                <a:spcPct val="0"/>
              </a:spcBef>
            </a:pPr>
            <a:r>
              <a:rPr lang="zh-CN" altLang="en-US" sz="2500" spc="300" dirty="0">
                <a:solidFill>
                  <a:srgbClr val="861B11"/>
                </a:solidFill>
                <a:latin typeface="思源宋体-超粗体" panose="02010600030101010101" charset="-122"/>
                <a:ea typeface="思源宋体-超粗体" panose="02010600030101010101" charset="-122"/>
                <a:cs typeface="ABeeZee Bold"/>
                <a:sym typeface="ABeeZee Bold"/>
              </a:rPr>
              <a:t>工程管理专业</a:t>
            </a:r>
            <a:r>
              <a:rPr lang="en-US" altLang="zh-CN" sz="2500" spc="300" dirty="0">
                <a:solidFill>
                  <a:srgbClr val="861B11"/>
                </a:solidFill>
                <a:latin typeface="思源宋体-超粗体" panose="02010600030101010101" charset="-122"/>
                <a:ea typeface="思源宋体-超粗体" panose="02010600030101010101" charset="-122"/>
                <a:cs typeface="ABeeZee Bold"/>
                <a:sym typeface="ABeeZee Bold"/>
              </a:rPr>
              <a:t>（MEM）</a:t>
            </a:r>
            <a:endParaRPr lang="en-US" altLang="zh-CN" sz="2500" spc="300" dirty="0">
              <a:solidFill>
                <a:srgbClr val="861B11"/>
              </a:solidFill>
              <a:latin typeface="思源宋体-超粗体" panose="02010600030101010101" charset="-122"/>
              <a:ea typeface="思源宋体-超粗体" panose="02010600030101010101" charset="-122"/>
              <a:cs typeface="ABeeZee Bold"/>
              <a:sym typeface="ABeeZee Bold"/>
            </a:endParaRPr>
          </a:p>
          <a:p>
            <a:pPr algn="just">
              <a:lnSpc>
                <a:spcPts val="4200"/>
              </a:lnSpc>
              <a:spcBef>
                <a:spcPct val="0"/>
              </a:spcBef>
            </a:pPr>
            <a:endParaRPr lang="en-US" sz="2500" spc="300" dirty="0">
              <a:solidFill>
                <a:srgbClr val="861B11"/>
              </a:solidFill>
              <a:latin typeface="思源宋体-超粗体" panose="02010600030101010101" charset="-122"/>
              <a:ea typeface="思源宋体-超粗体" panose="02010600030101010101" charset="-122"/>
              <a:cs typeface="ABeeZee Bold"/>
              <a:sym typeface="ABeeZee Bold"/>
            </a:endParaRPr>
          </a:p>
        </p:txBody>
      </p:sp>
    </p:spTree>
  </p:cSld>
  <p:clrMapOvr>
    <a:masterClrMapping/>
  </p:clrMapOvr>
  <p:transition advTm="5072">
    <p:fade/>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TABLE_ENDDRAG_ORIGIN_RECT" val="637*324"/>
  <p:tag name="TABLE_ENDDRAG_RECT" val="695*34*637*324"/>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MEDIACOVER_FLAG" val="1"/>
  <p:tag name="KSO_WM_UNIT_MEDIACOVER_BTN_STATE" val="1"/>
  <p:tag name="KSO_WM_UNIT_MEDIACOVER_BTNRECT" val="0*0*0*0"/>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MEDIACOVER_FLAG" val="1"/>
  <p:tag name="KSO_WM_UNIT_MEDIACOVER_BTN_STATE" val="1"/>
  <p:tag name="KSO_WM_UNIT_MEDIACOVER_BTNRECT" val="0*0*0*0"/>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4592</Words>
  <Application>WPS 文字</Application>
  <PresentationFormat>自定义</PresentationFormat>
  <Paragraphs>395</Paragraphs>
  <Slides>21</Slides>
  <Notes>0</Notes>
  <HiddenSlides>0</HiddenSlides>
  <MMClips>0</MMClips>
  <ScaleCrop>false</ScaleCrop>
  <HeadingPairs>
    <vt:vector size="6" baseType="variant">
      <vt:variant>
        <vt:lpstr>已用的字体</vt:lpstr>
      </vt:variant>
      <vt:variant>
        <vt:i4>30</vt:i4>
      </vt:variant>
      <vt:variant>
        <vt:lpstr>主题</vt:lpstr>
      </vt:variant>
      <vt:variant>
        <vt:i4>1</vt:i4>
      </vt:variant>
      <vt:variant>
        <vt:lpstr>幻灯片标题</vt:lpstr>
      </vt:variant>
      <vt:variant>
        <vt:i4>21</vt:i4>
      </vt:variant>
    </vt:vector>
  </HeadingPairs>
  <TitlesOfParts>
    <vt:vector size="52" baseType="lpstr">
      <vt:lpstr>Arial</vt:lpstr>
      <vt:lpstr>宋体</vt:lpstr>
      <vt:lpstr>Wingdings</vt:lpstr>
      <vt:lpstr>Arial</vt:lpstr>
      <vt:lpstr>微软雅黑</vt:lpstr>
      <vt:lpstr>汉仪旗黑</vt:lpstr>
      <vt:lpstr>思源宋体 2 Bold</vt:lpstr>
      <vt:lpstr>汉仪书宋二KW</vt:lpstr>
      <vt:lpstr>思源黑体 1</vt:lpstr>
      <vt:lpstr>思源宋体-超粗体</vt:lpstr>
      <vt:lpstr>字由点字倔强黑</vt:lpstr>
      <vt:lpstr>ABeeZee Bold</vt:lpstr>
      <vt:lpstr>Times New Roman Regular</vt:lpstr>
      <vt:lpstr>宋体</vt:lpstr>
      <vt:lpstr>宋体</vt:lpstr>
      <vt:lpstr>Times New Roman</vt:lpstr>
      <vt:lpstr>思源黑体 2 Bold</vt:lpstr>
      <vt:lpstr>思源宋体 2</vt:lpstr>
      <vt:lpstr>思源黑体 2</vt:lpstr>
      <vt:lpstr>Helvetica</vt:lpstr>
      <vt:lpstr>Open Sans</vt:lpstr>
      <vt:lpstr>苹方-简</vt:lpstr>
      <vt:lpstr>Open Sans</vt:lpstr>
      <vt:lpstr>微软雅黑</vt:lpstr>
      <vt:lpstr>Calibri</vt:lpstr>
      <vt:lpstr>Helvetica Neue</vt:lpstr>
      <vt:lpstr>Arial Unicode MS</vt:lpstr>
      <vt:lpstr>汉仪中黑KW</vt:lpstr>
      <vt:lpstr>Thonburi</vt:lpstr>
      <vt:lpstr>思源宋体 2</vt:lpstr>
      <vt:lpstr>Office Theme</vt:lpstr>
      <vt:lpstr>PowerPoint 演示文稿</vt:lpstr>
      <vt:lpstr>PowerPoint 演示文稿</vt:lpstr>
      <vt:lpstr>PowerPoint 演示文稿</vt:lpstr>
      <vt:lpstr>1.1 研究背景</vt:lpstr>
      <vt:lpstr>1.1 研究背景</vt:lpstr>
      <vt:lpstr>1.2 研究意义</vt:lpstr>
      <vt:lpstr>1.2 研究现状</vt:lpstr>
      <vt:lpstr>PowerPoint 演示文稿</vt:lpstr>
      <vt:lpstr>2.1 研究目标</vt:lpstr>
      <vt:lpstr>2.2 研究内容</vt:lpstr>
      <vt:lpstr>2.3 研究的创新点</vt:lpstr>
      <vt:lpstr>PowerPoint 演示文稿</vt:lpstr>
      <vt:lpstr>3.1 研究方法</vt:lpstr>
      <vt:lpstr>3.2 技术路线</vt:lpstr>
      <vt:lpstr>PowerPoint 演示文稿</vt:lpstr>
      <vt:lpstr>4.1 试验方案</vt:lpstr>
      <vt:lpstr>4.1 试验方案</vt:lpstr>
      <vt:lpstr>4.2 可行性研究</vt:lpstr>
      <vt:lpstr>PowerPoint 演示文稿</vt:lpstr>
      <vt:lpstr>三级大纲</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权欣</dc:creator>
  <cp:lastModifiedBy>文佳</cp:lastModifiedBy>
  <cp:revision>101</cp:revision>
  <dcterms:created xsi:type="dcterms:W3CDTF">2025-09-20T15:02:37Z</dcterms:created>
  <dcterms:modified xsi:type="dcterms:W3CDTF">2025-09-20T15:02:37Z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84842910F48DF4200E70CD6843B1EA38_42</vt:lpwstr>
  </property>
  <property fmtid="{D5CDD505-2E9C-101B-9397-08002B2CF9AE}" pid="3" name="KSOProductBuildVer">
    <vt:lpwstr>2052-6.11.0.8885</vt:lpwstr>
  </property>
</Properties>
</file>